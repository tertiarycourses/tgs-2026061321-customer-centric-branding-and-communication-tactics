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1460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4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212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4964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548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6132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6424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6716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07008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0292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100584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150876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201168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51460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01752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352044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402336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452628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02920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53212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03504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562A"/>
                </a:solidFill>
                <a:latin typeface="Arial"/>
              </a:rPr>
              <a:t>LO2 · LU2 · T2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21792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161C"/>
                </a:solidFill>
                <a:latin typeface="Arial"/>
              </a:rPr>
              <a:t>The Advocacy Loop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1600200"/>
            <a:ext cx="10908792" cy="4160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6233D"/>
            </a:solidFill>
          </a:ln>
          <a:effectLst>
            <a:outerShdw blurRad="90000" dist="28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Triangle 43"/>
          <p:cNvSpPr/>
          <p:nvPr/>
        </p:nvSpPr>
        <p:spPr>
          <a:xfrm rot="5400000">
            <a:off x="11164824" y="1600200"/>
            <a:ext cx="384048" cy="384048"/>
          </a:xfrm>
          <a:prstGeom prst="rtTriangle">
            <a:avLst/>
          </a:prstGeom>
          <a:solidFill>
            <a:srgbClr val="E85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1eed6c4af3bd5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341" y="1828800"/>
            <a:ext cx="6760269" cy="370332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640080" y="5897880"/>
            <a:ext cx="10908792" cy="685800"/>
          </a:xfrm>
          <a:prstGeom prst="rect">
            <a:avLst/>
          </a:prstGeom>
          <a:solidFill>
            <a:srgbClr val="16233D"/>
          </a:solidFill>
          <a:ln>
            <a:noFill/>
          </a:ln>
          <a:effectLst>
            <a:outerShdw blurRad="90000" dist="28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Triangle 46"/>
          <p:cNvSpPr/>
          <p:nvPr/>
        </p:nvSpPr>
        <p:spPr>
          <a:xfrm rot="5400000">
            <a:off x="640080" y="5897880"/>
            <a:ext cx="274320" cy="274320"/>
          </a:xfrm>
          <a:prstGeom prst="rtTriangle">
            <a:avLst/>
          </a:prstGeom>
          <a:solidFill>
            <a:srgbClr val="1AA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Triangle 47"/>
          <p:cNvSpPr/>
          <p:nvPr/>
        </p:nvSpPr>
        <p:spPr>
          <a:xfrm rot="5400000">
            <a:off x="11274552" y="5897880"/>
            <a:ext cx="274320" cy="274320"/>
          </a:xfrm>
          <a:prstGeom prst="rtTriangle">
            <a:avLst/>
          </a:prstGeom>
          <a:solidFill>
            <a:srgbClr val="E85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89788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Every satisfied customer becomes the next customer's discovery channel — advocacy is a loop, not a one-time win.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65683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8270"/>
                </a:solidFill>
                <a:latin typeface="Arial"/>
              </a:rPr>
              <a:t>Source: customer advocacy loop, adapted from WebFX / Digital Silk 2024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6656832"/>
            <a:ext cx="30449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8270"/>
                </a:solidFill>
                <a:latin typeface="Arial"/>
              </a:rPr>
              <a:t>TGS-2026061321 · © 2026 Tertiary Infotech Academy Pte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1460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4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212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4964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548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6132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6424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6716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070080" y="0"/>
            <a:ext cx="9000" cy="6858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0292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100584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150876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201168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51460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01752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352044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402336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452628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02920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53212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03504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90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562A"/>
                </a:solidFill>
                <a:latin typeface="Arial"/>
              </a:rPr>
              <a:t>LO1 · LU1 · T3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21792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161C"/>
                </a:solidFill>
                <a:latin typeface="Arial"/>
              </a:rPr>
              <a:t>Visual Identity Fundamentals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1600200"/>
            <a:ext cx="10908792" cy="4160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6233D"/>
            </a:solidFill>
          </a:ln>
          <a:effectLst>
            <a:outerShdw blurRad="90000" dist="28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Triangle 43"/>
          <p:cNvSpPr/>
          <p:nvPr/>
        </p:nvSpPr>
        <p:spPr>
          <a:xfrm rot="5400000">
            <a:off x="11164824" y="1600200"/>
            <a:ext cx="384048" cy="384048"/>
          </a:xfrm>
          <a:prstGeom prst="rtTriangle">
            <a:avLst/>
          </a:prstGeom>
          <a:solidFill>
            <a:srgbClr val="E85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a50d7e5cf6aac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8237"/>
            <a:ext cx="10451592" cy="3324446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640080" y="5897880"/>
            <a:ext cx="10908792" cy="685800"/>
          </a:xfrm>
          <a:prstGeom prst="rect">
            <a:avLst/>
          </a:prstGeom>
          <a:solidFill>
            <a:srgbClr val="16233D"/>
          </a:solidFill>
          <a:ln>
            <a:noFill/>
          </a:ln>
          <a:effectLst>
            <a:outerShdw blurRad="90000" dist="28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Triangle 46"/>
          <p:cNvSpPr/>
          <p:nvPr/>
        </p:nvSpPr>
        <p:spPr>
          <a:xfrm rot="5400000">
            <a:off x="640080" y="5897880"/>
            <a:ext cx="274320" cy="274320"/>
          </a:xfrm>
          <a:prstGeom prst="rtTriangle">
            <a:avLst/>
          </a:prstGeom>
          <a:solidFill>
            <a:srgbClr val="1AA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Triangle 47"/>
          <p:cNvSpPr/>
          <p:nvPr/>
        </p:nvSpPr>
        <p:spPr>
          <a:xfrm rot="5400000">
            <a:off x="11274552" y="5897880"/>
            <a:ext cx="274320" cy="274320"/>
          </a:xfrm>
          <a:prstGeom prst="rtTriangle">
            <a:avLst/>
          </a:prstGeom>
          <a:solidFill>
            <a:srgbClr val="E85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89788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A brand isn't a logo — it's every one of these fundamentals working together, consistently.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65683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8270"/>
                </a:solidFill>
                <a:latin typeface="Arial"/>
              </a:rPr>
              <a:t>Source: brand strategy &amp; identity practice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6656832"/>
            <a:ext cx="30449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8A8270"/>
                </a:solidFill>
                <a:latin typeface="Arial"/>
              </a:rPr>
              <a:t>TGS-2026061321 · © 2026 Tertiary Infotech Academy Pte Ltd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