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Rectangle 5"/>
          <p:cNvSpPr/>
          <p:nvPr/>
        </p:nvSpPr>
        <p:spPr>
          <a:xfrm>
            <a:off x="9784080" y="658368"/>
            <a:ext cx="16916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784080" y="822960"/>
            <a:ext cx="1691640" cy="365760"/>
          </a:xfrm>
          <a:prstGeom prst="rect">
            <a:avLst/>
          </a:prstGeom>
          <a:noFill/>
        </p:spPr>
        <p:txBody>
          <a:bodyPr wrap="square" anchor="t">
            <a:spAutoFit/>
          </a:bodyPr>
          <a:lstStyle/>
          <a:p>
            <a:pPr algn="ctr">
              <a:spcAft>
                <a:spcPts val="400"/>
              </a:spcAft>
            </a:pPr>
            <a:r>
              <a:rPr sz="2200" b="1">
                <a:solidFill>
                  <a:srgbClr val="FFFFFF"/>
                </a:solidFill>
                <a:latin typeface="Arial"/>
              </a:rPr>
              <a:t>WSQ</a:t>
            </a:r>
          </a:p>
        </p:txBody>
      </p:sp>
      <p:sp>
        <p:nvSpPr>
          <p:cNvPr id="8" name="TextBox 7"/>
          <p:cNvSpPr txBox="1"/>
          <p:nvPr/>
        </p:nvSpPr>
        <p:spPr>
          <a:xfrm>
            <a:off x="9784080" y="1188720"/>
            <a:ext cx="1691640" cy="320040"/>
          </a:xfrm>
          <a:prstGeom prst="rect">
            <a:avLst/>
          </a:prstGeom>
          <a:noFill/>
        </p:spPr>
        <p:txBody>
          <a:bodyPr wrap="square" anchor="t">
            <a:spAutoFit/>
          </a:bodyPr>
          <a:lstStyle/>
          <a:p>
            <a:pPr algn="ctr">
              <a:spcAft>
                <a:spcPts val="400"/>
              </a:spcAft>
            </a:pPr>
            <a:r>
              <a:rPr sz="900" b="1">
                <a:solidFill>
                  <a:srgbClr val="FFFFFF"/>
                </a:solidFill>
                <a:latin typeface="Arial"/>
              </a:rPr>
              <a:t>COURSE</a:t>
            </a:r>
          </a:p>
        </p:txBody>
      </p:sp>
      <p:sp>
        <p:nvSpPr>
          <p:cNvPr id="9" name="TextBox 8"/>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  ·  WSQ</a:t>
            </a:r>
          </a:p>
        </p:txBody>
      </p:sp>
      <p:sp>
        <p:nvSpPr>
          <p:cNvPr id="10" name="TextBox 9"/>
          <p:cNvSpPr txBox="1"/>
          <p:nvPr/>
        </p:nvSpPr>
        <p:spPr>
          <a:xfrm>
            <a:off x="822960" y="2606040"/>
            <a:ext cx="10972800" cy="1737360"/>
          </a:xfrm>
          <a:prstGeom prst="rect">
            <a:avLst/>
          </a:prstGeom>
          <a:noFill/>
        </p:spPr>
        <p:txBody>
          <a:bodyPr wrap="square" anchor="t">
            <a:spAutoFit/>
          </a:bodyPr>
          <a:lstStyle/>
          <a:p>
            <a:pPr algn="l">
              <a:spcAft>
                <a:spcPts val="400"/>
              </a:spcAft>
            </a:pPr>
            <a:r>
              <a:rPr sz="3800" b="1">
                <a:solidFill>
                  <a:srgbClr val="161B26"/>
                </a:solidFill>
                <a:latin typeface="Arial"/>
              </a:rPr>
              <a:t>Customer-Centric Branding and Communication Tactics</a:t>
            </a:r>
          </a:p>
        </p:txBody>
      </p:sp>
      <p:sp>
        <p:nvSpPr>
          <p:cNvPr id="11" name="Rectangle 10"/>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WSQ Course Code: TGS-2026061321</a:t>
            </a:r>
          </a:p>
          <a:p>
            <a:pPr algn="l">
              <a:spcAft>
                <a:spcPts val="600"/>
              </a:spcAft>
            </a:pPr>
            <a:r>
              <a:rPr sz="1400" b="0">
                <a:solidFill>
                  <a:srgbClr val="5B6372"/>
                </a:solidFill>
                <a:latin typeface="Arial"/>
              </a:rPr>
              <a:t>Conducted by Tertiary Infotech Academy Pte Ltd  ·  UEN 201200696W</a:t>
            </a:r>
          </a:p>
        </p:txBody>
      </p:sp>
      <p:sp>
        <p:nvSpPr>
          <p:cNvPr id="13" name="TextBox 12"/>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v8  ·  11 August 2026</a:t>
            </a:r>
          </a:p>
        </p:txBody>
      </p:sp>
      <p:sp>
        <p:nvSpPr>
          <p:cNvPr id="14" name="TextBox 13"/>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SSG DIGITAL ATTENDANCE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9427464" cy="768096"/>
          </a:xfrm>
          <a:prstGeom prst="rect">
            <a:avLst/>
          </a:prstGeom>
          <a:noFill/>
        </p:spPr>
        <p:txBody>
          <a:bodyPr wrap="square" anchor="ctr">
            <a:spAutoFit/>
          </a:bodyPr>
          <a:lstStyle/>
          <a:p>
            <a:pPr algn="l">
              <a:spcAft>
                <a:spcPts val="400"/>
              </a:spcAft>
            </a:pPr>
            <a:r>
              <a:rPr sz="1500" b="0">
                <a:solidFill>
                  <a:srgbClr val="161B26"/>
                </a:solidFill>
                <a:latin typeface="Arial"/>
              </a:rPr>
              <a:t>It is mandatory to take the AM, PM and Assessment digital attendance for WSQ-funded courses.</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26664"/>
            <a:ext cx="9427464" cy="768096"/>
          </a:xfrm>
          <a:prstGeom prst="rect">
            <a:avLst/>
          </a:prstGeom>
          <a:noFill/>
        </p:spPr>
        <p:txBody>
          <a:bodyPr wrap="square" anchor="ctr">
            <a:spAutoFit/>
          </a:bodyPr>
          <a:lstStyle/>
          <a:p>
            <a:pPr algn="l">
              <a:spcAft>
                <a:spcPts val="400"/>
              </a:spcAft>
            </a:pPr>
            <a:r>
              <a:rPr sz="1500" b="0">
                <a:solidFill>
                  <a:srgbClr val="161B26"/>
                </a:solidFill>
                <a:latin typeface="Arial"/>
              </a:rPr>
              <a:t>The trainer/administrator displays the digital attendance QR code from the SSG portal.</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9427464" cy="768096"/>
          </a:xfrm>
          <a:prstGeom prst="rect">
            <a:avLst/>
          </a:prstGeom>
          <a:noFill/>
        </p:spPr>
        <p:txBody>
          <a:bodyPr wrap="square" anchor="ctr">
            <a:spAutoFit/>
          </a:bodyPr>
          <a:lstStyle/>
          <a:p>
            <a:pPr algn="l">
              <a:spcAft>
                <a:spcPts val="400"/>
              </a:spcAft>
            </a:pPr>
            <a:r>
              <a:rPr sz="1500" b="0">
                <a:solidFill>
                  <a:srgbClr val="161B26"/>
                </a:solidFill>
                <a:latin typeface="Arial"/>
              </a:rPr>
              <a:t>Scan the QR code with your mobile phone camera and submit your attendance.</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30952"/>
            <a:ext cx="9427464" cy="768096"/>
          </a:xfrm>
          <a:prstGeom prst="rect">
            <a:avLst/>
          </a:prstGeom>
          <a:noFill/>
        </p:spPr>
        <p:txBody>
          <a:bodyPr wrap="square" anchor="ctr">
            <a:spAutoFit/>
          </a:bodyPr>
          <a:lstStyle/>
          <a:p>
            <a:pPr algn="l">
              <a:spcAft>
                <a:spcPts val="400"/>
              </a:spcAft>
            </a:pPr>
            <a:r>
              <a:rPr sz="1500" b="0">
                <a:solidFill>
                  <a:srgbClr val="161B26"/>
                </a:solidFill>
                <a:latin typeface="Arial"/>
              </a:rPr>
              <a:t>A minimum of 75% attendance is required to be eligible for assessment and funding.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CERTIFICATION / CREDENTIALS</a:t>
            </a:r>
          </a:p>
          <a:p>
            <a:pPr algn="l">
              <a:spcAft>
                <a:spcPts val="300"/>
              </a:spcAft>
            </a:pPr>
            <a:r>
              <a:rPr sz="1400" b="0">
                <a:solidFill>
                  <a:srgbClr val="161B26"/>
                </a:solidFill>
                <a:latin typeface="Arial"/>
              </a:rPr>
              <a:t>20+ years of training and industry experience.</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WSQ courses on customer-centric branding, marketing communications and business skills.</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Let's Know Each Other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9427464" cy="1152144"/>
          </a:xfrm>
          <a:prstGeom prst="rect">
            <a:avLst/>
          </a:prstGeom>
          <a:noFill/>
        </p:spPr>
        <p:txBody>
          <a:bodyPr wrap="square" anchor="ctr">
            <a:spAutoFit/>
          </a:bodyPr>
          <a:lstStyle/>
          <a:p>
            <a:pPr algn="l">
              <a:spcAft>
                <a:spcPts val="400"/>
              </a:spcAft>
            </a:pPr>
            <a:r>
              <a:rPr sz="1500" b="0">
                <a:solidFill>
                  <a:srgbClr val="161B26"/>
                </a:solidFill>
                <a:latin typeface="Arial"/>
              </a:rPr>
              <a:t>Your name and organisation / role.</a:t>
            </a:r>
          </a:p>
        </p:txBody>
      </p:sp>
      <p:sp>
        <p:nvSpPr>
          <p:cNvPr id="12" name="Rectangle 11"/>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410712"/>
            <a:ext cx="9427464" cy="1152144"/>
          </a:xfrm>
          <a:prstGeom prst="rect">
            <a:avLst/>
          </a:prstGeom>
          <a:noFill/>
        </p:spPr>
        <p:txBody>
          <a:bodyPr wrap="square" anchor="ctr">
            <a:spAutoFit/>
          </a:bodyPr>
          <a:lstStyle/>
          <a:p>
            <a:pPr algn="l">
              <a:spcAft>
                <a:spcPts val="400"/>
              </a:spcAft>
            </a:pPr>
            <a:r>
              <a:rPr sz="1500" b="0">
                <a:solidFill>
                  <a:srgbClr val="161B26"/>
                </a:solidFill>
                <a:latin typeface="Arial"/>
              </a:rPr>
              <a:t>Your experience with branding, marketing or communications (if any).</a:t>
            </a:r>
          </a:p>
        </p:txBody>
      </p:sp>
      <p:sp>
        <p:nvSpPr>
          <p:cNvPr id="17" name="Rectangle 16"/>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946904"/>
            <a:ext cx="9427464" cy="1152144"/>
          </a:xfrm>
          <a:prstGeom prst="rect">
            <a:avLst/>
          </a:prstGeom>
          <a:noFill/>
        </p:spPr>
        <p:txBody>
          <a:bodyPr wrap="square" anchor="ctr">
            <a:spAutoFit/>
          </a:bodyPr>
          <a:lstStyle/>
          <a:p>
            <a:pPr algn="l">
              <a:spcAft>
                <a:spcPts val="400"/>
              </a:spcAft>
            </a:pPr>
            <a:r>
              <a:rPr sz="1500" b="0">
                <a:solidFill>
                  <a:srgbClr val="161B26"/>
                </a:solidFill>
                <a:latin typeface="Arial"/>
              </a:rPr>
              <a:t>A brand you personally admire — and why it works on you.</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Actively participate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Respect each other's views: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75% attendance is required for funding eligibility.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ACCREDITATION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Skills Framework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TSC Title</a:t>
            </a:r>
          </a:p>
          <a:p>
            <a:pPr algn="l">
              <a:spcAft>
                <a:spcPts val="300"/>
              </a:spcAft>
            </a:pPr>
            <a:r>
              <a:rPr sz="1300" b="0">
                <a:solidFill>
                  <a:srgbClr val="5B6372"/>
                </a:solidFill>
                <a:latin typeface="Arial"/>
              </a:rPr>
              <a:t>Brand Management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TSC Code</a:t>
            </a:r>
          </a:p>
          <a:p>
            <a:pPr algn="l">
              <a:spcAft>
                <a:spcPts val="300"/>
              </a:spcAft>
            </a:pPr>
            <a:r>
              <a:rPr sz="1300" b="0">
                <a:solidFill>
                  <a:srgbClr val="5B6372"/>
                </a:solidFill>
                <a:latin typeface="Arial"/>
              </a:rPr>
              <a:t>ICT-SNM-3002-1.1</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Proficiency Level</a:t>
            </a:r>
          </a:p>
          <a:p>
            <a:pPr algn="l">
              <a:spcAft>
                <a:spcPts val="300"/>
              </a:spcAft>
            </a:pPr>
            <a:r>
              <a:rPr sz="1300" b="0">
                <a:solidFill>
                  <a:srgbClr val="5B6372"/>
                </a:solidFill>
                <a:latin typeface="Arial"/>
              </a:rPr>
              <a:t>Level 3</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Structure</a:t>
            </a:r>
          </a:p>
          <a:p>
            <a:pPr algn="l">
              <a:spcAft>
                <a:spcPts val="300"/>
              </a:spcAft>
            </a:pPr>
            <a:r>
              <a:rPr sz="1300" b="0">
                <a:solidFill>
                  <a:srgbClr val="5B6372"/>
                </a:solidFill>
                <a:latin typeface="Arial"/>
              </a:rPr>
              <a:t>4 Learning Units (LU1–LU4), each mapped to a Learning Outcome.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4 LEARNING UNITS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Course Outline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LU1 — Stakeholders and Organisation</a:t>
            </a:r>
          </a:p>
          <a:p>
            <a:pPr algn="l">
              <a:spcAft>
                <a:spcPts val="300"/>
              </a:spcAft>
            </a:pPr>
            <a:r>
              <a:rPr sz="1200" b="0">
                <a:solidFill>
                  <a:srgbClr val="5B6372"/>
                </a:solidFill>
                <a:latin typeface="Arial"/>
              </a:rPr>
              <a:t>Internal &amp; External Stakeholders · Audience Types · Brand Design · Reputation Assessment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LU2 — Customer Influence</a:t>
            </a:r>
          </a:p>
          <a:p>
            <a:pPr algn="l">
              <a:spcAft>
                <a:spcPts val="300"/>
              </a:spcAft>
            </a:pPr>
            <a:r>
              <a:rPr sz="1200" b="0">
                <a:solidFill>
                  <a:srgbClr val="5B6372"/>
                </a:solidFill>
                <a:latin typeface="Arial"/>
              </a:rPr>
              <a:t>Customer Perceptions · Brand Reputation · Campaign Reception · Active Listening</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LU3 — Branding in Marketing</a:t>
            </a:r>
          </a:p>
          <a:p>
            <a:pPr algn="l">
              <a:spcAft>
                <a:spcPts val="300"/>
              </a:spcAft>
            </a:pPr>
            <a:r>
              <a:rPr sz="1200" b="0">
                <a:solidFill>
                  <a:srgbClr val="5B6372"/>
                </a:solidFill>
                <a:latin typeface="Arial"/>
              </a:rPr>
              <a:t>Branding Basics · Role in Marketing · Awareness Campaigns · PR Execution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LU4 — Branding Effectiveness</a:t>
            </a:r>
          </a:p>
          <a:p>
            <a:pPr algn="l">
              <a:spcAft>
                <a:spcPts val="300"/>
              </a:spcAft>
            </a:pPr>
            <a:r>
              <a:rPr sz="1200" b="0">
                <a:solidFill>
                  <a:srgbClr val="5B6372"/>
                </a:solidFill>
                <a:latin typeface="Arial"/>
              </a:rPr>
              <a:t>Reputation Metrics · Success Indicators · PR Tactics · KPI Monitoring · Continuous Improvement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Lesson Plan — 2 Days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 1</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2 &amp; Assessment</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Day 1 — Stakeholders, Customer Influence &amp; Branding in Marketing (starts)</a:t>
            </a:r>
          </a:p>
          <a:p>
            <a:pPr>
              <a:spcAft>
                <a:spcPts val="1000"/>
              </a:spcAft>
            </a:pPr>
            <a:r>
              <a:rPr sz="1400" b="0">
                <a:solidFill>
                  <a:srgbClr val="5B6372"/>
                </a:solidFill>
                <a:latin typeface="Arial"/>
              </a:rPr>
              <a:t>–  LU1: Stakeholders and Organisation (Activities 1–4)</a:t>
            </a:r>
          </a:p>
          <a:p>
            <a:pPr>
              <a:spcAft>
                <a:spcPts val="1000"/>
              </a:spcAft>
            </a:pPr>
            <a:r>
              <a:rPr sz="1400" b="0">
                <a:solidFill>
                  <a:srgbClr val="5B6372"/>
                </a:solidFill>
                <a:latin typeface="Arial"/>
              </a:rPr>
              <a:t>–  LU2: Customer Influence (Activities 5–8)</a:t>
            </a:r>
          </a:p>
          <a:p>
            <a:pPr>
              <a:spcAft>
                <a:spcPts val="1000"/>
              </a:spcAft>
            </a:pPr>
            <a:r>
              <a:rPr sz="1400" b="0">
                <a:solidFill>
                  <a:srgbClr val="5B6372"/>
                </a:solidFill>
                <a:latin typeface="Arial"/>
              </a:rPr>
              <a:t>–  LU3: Branding in Marketing — begins (Activities 9–12)</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Day 2 — Branding in Marketing (cont'd), Branding Effectiveness &amp; Assessment</a:t>
            </a:r>
          </a:p>
          <a:p>
            <a:pPr>
              <a:spcAft>
                <a:spcPts val="1000"/>
              </a:spcAft>
            </a:pPr>
            <a:r>
              <a:rPr sz="1400" b="0">
                <a:solidFill>
                  <a:srgbClr val="5B6372"/>
                </a:solidFill>
                <a:latin typeface="Arial"/>
              </a:rPr>
              <a:t>–  LU3: Branding in Marketing — continued</a:t>
            </a:r>
          </a:p>
          <a:p>
            <a:pPr>
              <a:spcAft>
                <a:spcPts val="1000"/>
              </a:spcAft>
            </a:pPr>
            <a:r>
              <a:rPr sz="1400" b="0">
                <a:solidFill>
                  <a:srgbClr val="5B6372"/>
                </a:solidFill>
                <a:latin typeface="Arial"/>
              </a:rPr>
              <a:t>–  LU4: Branding Effectiveness (Activities 13–17)</a:t>
            </a:r>
          </a:p>
          <a:p>
            <a:pPr>
              <a:spcAft>
                <a:spcPts val="1000"/>
              </a:spcAft>
            </a:pPr>
            <a:r>
              <a:rPr sz="1400" b="0">
                <a:solidFill>
                  <a:srgbClr val="5B6372"/>
                </a:solidFill>
                <a:latin typeface="Arial"/>
              </a:rPr>
              <a:t>–  Assessment: WA (1h) + Case Study (1h), 4:00–6:00pm</a:t>
            </a:r>
          </a:p>
          <a:p>
            <a:pPr>
              <a:spcAft>
                <a:spcPts val="1000"/>
              </a:spcAft>
            </a:pPr>
            <a:r>
              <a:rPr sz="1600" b="0">
                <a:solidFill>
                  <a:srgbClr val="161B26"/>
                </a:solidFill>
                <a:latin typeface="Arial"/>
              </a:rPr>
              <a:t>•  Daily timing</a:t>
            </a:r>
          </a:p>
          <a:p>
            <a:pPr>
              <a:spcAft>
                <a:spcPts val="1000"/>
              </a:spcAft>
            </a:pPr>
            <a:r>
              <a:rPr sz="1400" b="0">
                <a:solidFill>
                  <a:srgbClr val="5B6372"/>
                </a:solidFill>
                <a:latin typeface="Arial"/>
              </a:rPr>
              <a:t>–  Day 1: 9:30am–6:30pm, 1-hour lunch. Day 2: 9:30am–6:00pm, 45-min lunch (to fit the assessment).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Learning Outcomes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Stakeholders &amp; Organisation</a:t>
            </a:r>
          </a:p>
          <a:p>
            <a:pPr algn="l">
              <a:spcAft>
                <a:spcPts val="300"/>
              </a:spcAft>
            </a:pPr>
            <a:r>
              <a:rPr sz="1300" b="0">
                <a:solidFill>
                  <a:srgbClr val="5B6372"/>
                </a:solidFill>
                <a:latin typeface="Arial"/>
              </a:rPr>
              <a:t>Identify stakeholders/audiences and draft branding designs &amp; reputation assessments.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Customer Influence</a:t>
            </a:r>
          </a:p>
          <a:p>
            <a:pPr algn="l">
              <a:spcAft>
                <a:spcPts val="300"/>
              </a:spcAft>
            </a:pPr>
            <a:r>
              <a:rPr sz="1300" b="0">
                <a:solidFill>
                  <a:srgbClr val="5B6372"/>
                </a:solidFill>
                <a:latin typeface="Arial"/>
              </a:rPr>
              <a:t>Capture and analyse customer insight through active listening.</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Branding in Marketing</a:t>
            </a:r>
          </a:p>
          <a:p>
            <a:pPr algn="l">
              <a:spcAft>
                <a:spcPts val="300"/>
              </a:spcAft>
            </a:pPr>
            <a:r>
              <a:rPr sz="1300" b="0">
                <a:solidFill>
                  <a:srgbClr val="5B6372"/>
                </a:solidFill>
                <a:latin typeface="Arial"/>
              </a:rPr>
              <a:t>Execute branding campaigns, events and PR activities that build awareness.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Branding Effectiveness</a:t>
            </a:r>
          </a:p>
          <a:p>
            <a:pPr algn="l">
              <a:spcAft>
                <a:spcPts val="300"/>
              </a:spcAft>
            </a:pPr>
            <a:r>
              <a:rPr sz="1300" b="0">
                <a:solidFill>
                  <a:srgbClr val="5B6372"/>
                </a:solidFill>
                <a:latin typeface="Arial"/>
              </a:rPr>
              <a:t>Evaluate reputation and PR performance against KPIs and recommend improvements.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Briefing for Assessment</a:t>
            </a:r>
          </a:p>
        </p:txBody>
      </p:sp>
      <p:sp>
        <p:nvSpPr>
          <p:cNvPr id="5" name="Rectangle 4"/>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7830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177393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177393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9427464" cy="384048"/>
          </a:xfrm>
          <a:prstGeom prst="rect">
            <a:avLst/>
          </a:prstGeom>
          <a:noFill/>
        </p:spPr>
        <p:txBody>
          <a:bodyPr wrap="square" anchor="ctr">
            <a:spAutoFit/>
          </a:bodyPr>
          <a:lstStyle/>
          <a:p>
            <a:pPr algn="l">
              <a:spcAft>
                <a:spcPts val="400"/>
              </a:spcAft>
            </a:pPr>
            <a:r>
              <a:rPr sz="1500" b="0">
                <a:solidFill>
                  <a:srgbClr val="161B26"/>
                </a:solidFill>
                <a:latin typeface="Arial"/>
              </a:rPr>
              <a:t>Place phones and other materials under the table or on the floor.</a:t>
            </a:r>
          </a:p>
        </p:txBody>
      </p:sp>
      <p:sp>
        <p:nvSpPr>
          <p:cNvPr id="11" name="Rectangle 10"/>
          <p:cNvSpPr/>
          <p:nvPr/>
        </p:nvSpPr>
        <p:spPr>
          <a:xfrm>
            <a:off x="777240" y="2551176"/>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551176"/>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33272"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1764792" y="2642616"/>
            <a:ext cx="9427464" cy="384048"/>
          </a:xfrm>
          <a:prstGeom prst="rect">
            <a:avLst/>
          </a:prstGeom>
          <a:noFill/>
        </p:spPr>
        <p:txBody>
          <a:bodyPr wrap="square" anchor="ctr">
            <a:spAutoFit/>
          </a:bodyPr>
          <a:lstStyle/>
          <a:p>
            <a:pPr algn="l">
              <a:spcAft>
                <a:spcPts val="400"/>
              </a:spcAft>
            </a:pPr>
            <a:r>
              <a:rPr sz="1500" b="0">
                <a:solidFill>
                  <a:srgbClr val="161B26"/>
                </a:solidFill>
                <a:latin typeface="Arial"/>
              </a:rPr>
              <a:t>No photos or recording of assessment scripts.</a:t>
            </a:r>
          </a:p>
        </p:txBody>
      </p:sp>
      <p:sp>
        <p:nvSpPr>
          <p:cNvPr id="16" name="Rectangle 15"/>
          <p:cNvSpPr/>
          <p:nvPr/>
        </p:nvSpPr>
        <p:spPr>
          <a:xfrm>
            <a:off x="777240" y="3319272"/>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9272"/>
            <a:ext cx="91440" cy="5303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31012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31012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410712"/>
            <a:ext cx="9427464" cy="384048"/>
          </a:xfrm>
          <a:prstGeom prst="rect">
            <a:avLst/>
          </a:prstGeom>
          <a:noFill/>
        </p:spPr>
        <p:txBody>
          <a:bodyPr wrap="square" anchor="ctr">
            <a:spAutoFit/>
          </a:bodyPr>
          <a:lstStyle/>
          <a:p>
            <a:pPr algn="l">
              <a:spcAft>
                <a:spcPts val="400"/>
              </a:spcAft>
            </a:pPr>
            <a:r>
              <a:rPr sz="1500" b="0">
                <a:solidFill>
                  <a:srgbClr val="161B26"/>
                </a:solidFill>
                <a:latin typeface="Arial"/>
              </a:rPr>
              <a:t>No discussion during the assessment.</a:t>
            </a:r>
          </a:p>
        </p:txBody>
      </p:sp>
      <p:sp>
        <p:nvSpPr>
          <p:cNvPr id="21" name="Rectangle 20"/>
          <p:cNvSpPr/>
          <p:nvPr/>
        </p:nvSpPr>
        <p:spPr>
          <a:xfrm>
            <a:off x="777240" y="4087368"/>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4087368"/>
            <a:ext cx="91440" cy="5303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33272" y="407822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33272" y="407822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1764792" y="4178808"/>
            <a:ext cx="9427464" cy="384048"/>
          </a:xfrm>
          <a:prstGeom prst="rect">
            <a:avLst/>
          </a:prstGeom>
          <a:noFill/>
        </p:spPr>
        <p:txBody>
          <a:bodyPr wrap="square" anchor="ctr">
            <a:spAutoFit/>
          </a:bodyPr>
          <a:lstStyle/>
          <a:p>
            <a:pPr algn="l">
              <a:spcAft>
                <a:spcPts val="400"/>
              </a:spcAft>
            </a:pPr>
            <a:r>
              <a:rPr sz="1500" b="0">
                <a:solidFill>
                  <a:srgbClr val="161B26"/>
                </a:solidFill>
                <a:latin typeface="Arial"/>
              </a:rPr>
              <a:t>Use a black/blue pen for hard-copy assessments.</a:t>
            </a:r>
          </a:p>
        </p:txBody>
      </p:sp>
      <p:sp>
        <p:nvSpPr>
          <p:cNvPr id="26" name="Rectangle 25"/>
          <p:cNvSpPr/>
          <p:nvPr/>
        </p:nvSpPr>
        <p:spPr>
          <a:xfrm>
            <a:off x="777240" y="4855464"/>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55464"/>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4946904"/>
            <a:ext cx="9427464" cy="384048"/>
          </a:xfrm>
          <a:prstGeom prst="rect">
            <a:avLst/>
          </a:prstGeom>
          <a:noFill/>
        </p:spPr>
        <p:txBody>
          <a:bodyPr wrap="square" anchor="ctr">
            <a:spAutoFit/>
          </a:bodyPr>
          <a:lstStyle/>
          <a:p>
            <a:pPr algn="l">
              <a:spcAft>
                <a:spcPts val="400"/>
              </a:spcAft>
            </a:pPr>
            <a:r>
              <a:rPr sz="1500" b="0">
                <a:solidFill>
                  <a:srgbClr val="161B26"/>
                </a:solidFill>
                <a:latin typeface="Arial"/>
              </a:rPr>
              <a:t>No liquid paper / correction tape.</a:t>
            </a:r>
          </a:p>
        </p:txBody>
      </p:sp>
      <p:sp>
        <p:nvSpPr>
          <p:cNvPr id="31" name="Rectangle 30"/>
          <p:cNvSpPr/>
          <p:nvPr/>
        </p:nvSpPr>
        <p:spPr>
          <a:xfrm>
            <a:off x="777240" y="562356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623560"/>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33272" y="561441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33272" y="561441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5" name="TextBox 34"/>
          <p:cNvSpPr txBox="1"/>
          <p:nvPr/>
        </p:nvSpPr>
        <p:spPr>
          <a:xfrm>
            <a:off x="1764792" y="5715000"/>
            <a:ext cx="9427464" cy="384048"/>
          </a:xfrm>
          <a:prstGeom prst="rect">
            <a:avLst/>
          </a:prstGeom>
          <a:noFill/>
        </p:spPr>
        <p:txBody>
          <a:bodyPr wrap="square" anchor="ctr">
            <a:spAutoFit/>
          </a:bodyPr>
          <a:lstStyle/>
          <a:p>
            <a:pPr algn="l">
              <a:spcAft>
                <a:spcPts val="400"/>
              </a:spcAft>
            </a:pPr>
            <a:r>
              <a:rPr sz="1500" b="0">
                <a:solidFill>
                  <a:srgbClr val="161B26"/>
                </a:solidFill>
                <a:latin typeface="Arial"/>
              </a:rPr>
              <a:t>Scripts are collected when time is up.</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9427464" cy="537667"/>
          </a:xfrm>
          <a:prstGeom prst="rect">
            <a:avLst/>
          </a:prstGeom>
          <a:noFill/>
        </p:spPr>
        <p:txBody>
          <a:bodyPr wrap="square" anchor="ctr">
            <a:spAutoFit/>
          </a:bodyPr>
          <a:lstStyle/>
          <a:p>
            <a:pPr algn="l">
              <a:spcAft>
                <a:spcPts val="400"/>
              </a:spcAft>
            </a:pPr>
            <a:r>
              <a:rPr sz="1300" b="0">
                <a:solidFill>
                  <a:srgbClr val="161B26"/>
                </a:solidFill>
                <a:latin typeface="Arial"/>
              </a:rPr>
              <a:t>Written Assessment (WA) — Short-Answer Questions (SAQ), 1 hour, open book.</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796235"/>
            <a:ext cx="9427464" cy="537667"/>
          </a:xfrm>
          <a:prstGeom prst="rect">
            <a:avLst/>
          </a:prstGeom>
          <a:noFill/>
        </p:spPr>
        <p:txBody>
          <a:bodyPr wrap="square" anchor="ctr">
            <a:spAutoFit/>
          </a:bodyPr>
          <a:lstStyle/>
          <a:p>
            <a:pPr algn="l">
              <a:spcAft>
                <a:spcPts val="400"/>
              </a:spcAft>
            </a:pPr>
            <a:r>
              <a:rPr sz="1300" b="0">
                <a:solidFill>
                  <a:srgbClr val="161B26"/>
                </a:solidFill>
                <a:latin typeface="Arial"/>
              </a:rPr>
              <a:t>Case Study (CS) — one continuous branding scenario with open-ended tasks, 1 hour, open book.</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17950"/>
            <a:ext cx="9427464" cy="537667"/>
          </a:xfrm>
          <a:prstGeom prst="rect">
            <a:avLst/>
          </a:prstGeom>
          <a:noFill/>
        </p:spPr>
        <p:txBody>
          <a:bodyPr wrap="square" anchor="ctr">
            <a:spAutoFit/>
          </a:bodyPr>
          <a:lstStyle/>
          <a:p>
            <a:pPr algn="l">
              <a:spcAft>
                <a:spcPts val="400"/>
              </a:spcAft>
            </a:pPr>
            <a:r>
              <a:rPr sz="1300" b="0">
                <a:solidFill>
                  <a:srgbClr val="161B26"/>
                </a:solidFill>
                <a:latin typeface="Arial"/>
              </a:rPr>
              <a:t>Format: Open Book — slides, Learner Guide and approved materials only.</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39665"/>
            <a:ext cx="9427464" cy="537667"/>
          </a:xfrm>
          <a:prstGeom prst="rect">
            <a:avLst/>
          </a:prstGeom>
          <a:noFill/>
        </p:spPr>
        <p:txBody>
          <a:bodyPr wrap="square" anchor="ctr">
            <a:spAutoFit/>
          </a:bodyPr>
          <a:lstStyle/>
          <a:p>
            <a:pPr algn="l">
              <a:spcAft>
                <a:spcPts val="400"/>
              </a:spcAft>
            </a:pPr>
            <a:r>
              <a:rPr sz="1300" b="0">
                <a:solidFill>
                  <a:srgbClr val="161B26"/>
                </a:solidFill>
                <a:latin typeface="Arial"/>
              </a:rPr>
              <a:t>A minimum of 75% attendance (per SSG Digital Attendance record) is required to be eligible for assessment and funding. Learners must be assessed as Competent and complete the TRAQOM survey.</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61380"/>
            <a:ext cx="9427464" cy="537667"/>
          </a:xfrm>
          <a:prstGeom prst="rect">
            <a:avLst/>
          </a:prstGeom>
          <a:noFill/>
        </p:spPr>
        <p:txBody>
          <a:bodyPr wrap="square" anchor="ctr">
            <a:spAutoFit/>
          </a:bodyPr>
          <a:lstStyle/>
          <a:p>
            <a:pPr algn="l">
              <a:spcAft>
                <a:spcPts val="400"/>
              </a:spcAft>
            </a:pPr>
            <a:r>
              <a:rPr sz="1300" b="0">
                <a:solidFill>
                  <a:srgbClr val="161B26"/>
                </a:solidFill>
                <a:latin typeface="Arial"/>
              </a:rPr>
              <a:t>An appeal process is available if required.</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1775"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177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23544"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TRAQOM survey — scan the QR code on the LMS</a:t>
            </a:r>
          </a:p>
        </p:txBody>
      </p:sp>
      <p:sp>
        <p:nvSpPr>
          <p:cNvPr id="12" name="TextBox 11"/>
          <p:cNvSpPr txBox="1"/>
          <p:nvPr/>
        </p:nvSpPr>
        <p:spPr>
          <a:xfrm>
            <a:off x="2666390" y="3497580"/>
            <a:ext cx="310896"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58998"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83533"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8353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105302"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Assessment digital attendance — scan the SSG QR</a:t>
            </a:r>
          </a:p>
        </p:txBody>
      </p:sp>
      <p:sp>
        <p:nvSpPr>
          <p:cNvPr id="18" name="TextBox 17"/>
          <p:cNvSpPr txBox="1"/>
          <p:nvPr/>
        </p:nvSpPr>
        <p:spPr>
          <a:xfrm>
            <a:off x="4848148" y="3497580"/>
            <a:ext cx="310896"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40756"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65291"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652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3" name="TextBox 22"/>
          <p:cNvSpPr txBox="1"/>
          <p:nvPr/>
        </p:nvSpPr>
        <p:spPr>
          <a:xfrm>
            <a:off x="5287060"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Sit WA (SAQ) then the Case Study — open book</a:t>
            </a:r>
          </a:p>
        </p:txBody>
      </p:sp>
      <p:sp>
        <p:nvSpPr>
          <p:cNvPr id="24" name="TextBox 23"/>
          <p:cNvSpPr txBox="1"/>
          <p:nvPr/>
        </p:nvSpPr>
        <p:spPr>
          <a:xfrm>
            <a:off x="7029906" y="3497580"/>
            <a:ext cx="310896"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22514"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22514"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47049"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704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29" name="TextBox 28"/>
          <p:cNvSpPr txBox="1"/>
          <p:nvPr/>
        </p:nvSpPr>
        <p:spPr>
          <a:xfrm>
            <a:off x="7468818"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Submit your answers on the LMS</a:t>
            </a:r>
          </a:p>
        </p:txBody>
      </p:sp>
      <p:sp>
        <p:nvSpPr>
          <p:cNvPr id="30" name="TextBox 29"/>
          <p:cNvSpPr txBox="1"/>
          <p:nvPr/>
        </p:nvSpPr>
        <p:spPr>
          <a:xfrm>
            <a:off x="9211664" y="3497580"/>
            <a:ext cx="310896"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04272"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04272"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128807"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128807"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5" name="TextBox 34"/>
          <p:cNvSpPr txBox="1"/>
          <p:nvPr/>
        </p:nvSpPr>
        <p:spPr>
          <a:xfrm>
            <a:off x="9650576"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Sign the Assessment Summary Record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Courseware &amp; Assessment on the LMS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Everything for the open-book assessment — slides, Learner Guide and submissions — lives on the LMS.</a:t>
            </a:r>
          </a:p>
        </p:txBody>
      </p:sp>
      <p:sp>
        <p:nvSpPr>
          <p:cNvPr id="8" name="Rectangle 7"/>
          <p:cNvSpPr/>
          <p:nvPr/>
        </p:nvSpPr>
        <p:spPr>
          <a:xfrm>
            <a:off x="777240" y="2148840"/>
            <a:ext cx="3749039" cy="3566160"/>
          </a:xfrm>
          <a:prstGeom prst="rect">
            <a:avLst/>
          </a:prstGeom>
          <a:solidFill>
            <a:srgbClr val="0F2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tertiary-infotech-logo.png"/>
          <p:cNvPicPr>
            <a:picLocks noChangeAspect="1"/>
          </p:cNvPicPr>
          <p:nvPr/>
        </p:nvPicPr>
        <p:blipFill>
          <a:blip r:embed="rId2"/>
          <a:stretch>
            <a:fillRect/>
          </a:stretch>
        </p:blipFill>
        <p:spPr>
          <a:xfrm>
            <a:off x="1143000" y="2468880"/>
            <a:ext cx="502920" cy="502920"/>
          </a:xfrm>
          <a:prstGeom prst="rect">
            <a:avLst/>
          </a:prstGeom>
        </p:spPr>
      </p:pic>
      <p:sp>
        <p:nvSpPr>
          <p:cNvPr id="10" name="TextBox 9"/>
          <p:cNvSpPr txBox="1"/>
          <p:nvPr/>
        </p:nvSpPr>
        <p:spPr>
          <a:xfrm>
            <a:off x="777240" y="3200400"/>
            <a:ext cx="3749039" cy="457200"/>
          </a:xfrm>
          <a:prstGeom prst="rect">
            <a:avLst/>
          </a:prstGeom>
          <a:noFill/>
        </p:spPr>
        <p:txBody>
          <a:bodyPr wrap="square" anchor="t">
            <a:spAutoFit/>
          </a:bodyPr>
          <a:lstStyle/>
          <a:p>
            <a:pPr algn="ctr">
              <a:spcAft>
                <a:spcPts val="400"/>
              </a:spcAft>
            </a:pPr>
            <a:r>
              <a:rPr sz="1800" b="1">
                <a:solidFill>
                  <a:srgbClr val="FFFFFF"/>
                </a:solidFill>
                <a:latin typeface="Arial"/>
              </a:rPr>
              <a:t>Tertiary Infotech Academy</a:t>
            </a:r>
          </a:p>
        </p:txBody>
      </p:sp>
      <p:sp>
        <p:nvSpPr>
          <p:cNvPr id="11" name="TextBox 10"/>
          <p:cNvSpPr txBox="1"/>
          <p:nvPr/>
        </p:nvSpPr>
        <p:spPr>
          <a:xfrm>
            <a:off x="777240" y="3703320"/>
            <a:ext cx="3749039" cy="365760"/>
          </a:xfrm>
          <a:prstGeom prst="rect">
            <a:avLst/>
          </a:prstGeom>
          <a:noFill/>
        </p:spPr>
        <p:txBody>
          <a:bodyPr wrap="square" anchor="t">
            <a:spAutoFit/>
          </a:bodyPr>
          <a:lstStyle/>
          <a:p>
            <a:pPr algn="ctr">
              <a:spcAft>
                <a:spcPts val="400"/>
              </a:spcAft>
            </a:pPr>
            <a:r>
              <a:rPr sz="1200" b="0">
                <a:solidFill>
                  <a:srgbClr val="B8C7E0"/>
                </a:solidFill>
                <a:latin typeface="Arial"/>
              </a:rPr>
              <a:t>LMS and TMS for SSG courses</a:t>
            </a:r>
          </a:p>
        </p:txBody>
      </p:sp>
      <p:sp>
        <p:nvSpPr>
          <p:cNvPr id="12" name="Rectangle 11"/>
          <p:cNvSpPr/>
          <p:nvPr/>
        </p:nvSpPr>
        <p:spPr>
          <a:xfrm>
            <a:off x="1737360" y="4297680"/>
            <a:ext cx="1828800"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737360" y="4297680"/>
            <a:ext cx="1828800" cy="502920"/>
          </a:xfrm>
          <a:prstGeom prst="rect">
            <a:avLst/>
          </a:prstGeom>
          <a:noFill/>
        </p:spPr>
        <p:txBody>
          <a:bodyPr wrap="square" anchor="ctr">
            <a:spAutoFit/>
          </a:bodyPr>
          <a:lstStyle/>
          <a:p>
            <a:pPr algn="ctr">
              <a:spcAft>
                <a:spcPts val="400"/>
              </a:spcAft>
            </a:pPr>
            <a:r>
              <a:rPr sz="1400" b="1">
                <a:solidFill>
                  <a:srgbClr val="FFFFFF"/>
                </a:solidFill>
                <a:latin typeface="Arial"/>
              </a:rPr>
              <a:t>Sign in / OTP</a:t>
            </a:r>
          </a:p>
        </p:txBody>
      </p:sp>
      <p:sp>
        <p:nvSpPr>
          <p:cNvPr id="14" name="TextBox 13"/>
          <p:cNvSpPr txBox="1"/>
          <p:nvPr/>
        </p:nvSpPr>
        <p:spPr>
          <a:xfrm>
            <a:off x="777240" y="5029200"/>
            <a:ext cx="3749039" cy="365760"/>
          </a:xfrm>
          <a:prstGeom prst="rect">
            <a:avLst/>
          </a:prstGeom>
          <a:noFill/>
        </p:spPr>
        <p:txBody>
          <a:bodyPr wrap="square" anchor="t">
            <a:spAutoFit/>
          </a:bodyPr>
          <a:lstStyle/>
          <a:p>
            <a:pPr algn="ctr">
              <a:spcAft>
                <a:spcPts val="400"/>
              </a:spcAft>
            </a:pPr>
            <a:r>
              <a:rPr sz="1200" b="1">
                <a:solidFill>
                  <a:srgbClr val="9CDCFE"/>
                </a:solidFill>
                <a:latin typeface="Arial"/>
              </a:rPr>
              <a:t>lms-tms.tertiaryinfotech.com</a:t>
            </a:r>
          </a:p>
        </p:txBody>
      </p:sp>
      <p:sp>
        <p:nvSpPr>
          <p:cNvPr id="15" name="Rectangle 14"/>
          <p:cNvSpPr/>
          <p:nvPr/>
        </p:nvSpPr>
        <p:spPr>
          <a:xfrm>
            <a:off x="4800600" y="2148840"/>
            <a:ext cx="6611112" cy="7406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800600" y="2148840"/>
            <a:ext cx="91440" cy="7406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029200" y="2290572"/>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0" y="229057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9" name="TextBox 18"/>
          <p:cNvSpPr txBox="1"/>
          <p:nvPr/>
        </p:nvSpPr>
        <p:spPr>
          <a:xfrm>
            <a:off x="5669280" y="2148840"/>
            <a:ext cx="5559552" cy="740664"/>
          </a:xfrm>
          <a:prstGeom prst="rect">
            <a:avLst/>
          </a:prstGeom>
          <a:noFill/>
        </p:spPr>
        <p:txBody>
          <a:bodyPr wrap="square" anchor="ctr">
            <a:spAutoFit/>
          </a:bodyPr>
          <a:lstStyle/>
          <a:p>
            <a:pPr algn="l">
              <a:spcAft>
                <a:spcPts val="200"/>
              </a:spcAft>
            </a:pPr>
            <a:r>
              <a:rPr sz="1400" b="1">
                <a:solidFill>
                  <a:srgbClr val="161B26"/>
                </a:solidFill>
                <a:latin typeface="Arial"/>
              </a:rPr>
              <a:t>Sign in</a:t>
            </a:r>
          </a:p>
          <a:p>
            <a:pPr algn="l">
              <a:spcAft>
                <a:spcPts val="200"/>
              </a:spcAft>
            </a:pPr>
            <a:r>
              <a:rPr sz="1100" b="0">
                <a:solidFill>
                  <a:srgbClr val="5B6372"/>
                </a:solidFill>
                <a:latin typeface="Arial"/>
              </a:rPr>
              <a:t>Log in with your registered email (OTP or password).</a:t>
            </a:r>
          </a:p>
        </p:txBody>
      </p:sp>
      <p:sp>
        <p:nvSpPr>
          <p:cNvPr id="20" name="Rectangle 19"/>
          <p:cNvSpPr/>
          <p:nvPr/>
        </p:nvSpPr>
        <p:spPr>
          <a:xfrm>
            <a:off x="4800600" y="3090672"/>
            <a:ext cx="6611112" cy="7406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800600" y="3090672"/>
            <a:ext cx="91440" cy="7406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029200" y="323240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0" y="323240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24" name="TextBox 23"/>
          <p:cNvSpPr txBox="1"/>
          <p:nvPr/>
        </p:nvSpPr>
        <p:spPr>
          <a:xfrm>
            <a:off x="5669280" y="3090672"/>
            <a:ext cx="5559552" cy="740664"/>
          </a:xfrm>
          <a:prstGeom prst="rect">
            <a:avLst/>
          </a:prstGeom>
          <a:noFill/>
        </p:spPr>
        <p:txBody>
          <a:bodyPr wrap="square" anchor="ctr">
            <a:spAutoFit/>
          </a:bodyPr>
          <a:lstStyle/>
          <a:p>
            <a:pPr algn="l">
              <a:spcAft>
                <a:spcPts val="200"/>
              </a:spcAft>
            </a:pPr>
            <a:r>
              <a:rPr sz="1400" b="1">
                <a:solidFill>
                  <a:srgbClr val="161B26"/>
                </a:solidFill>
                <a:latin typeface="Arial"/>
              </a:rPr>
              <a:t>Download materials</a:t>
            </a:r>
          </a:p>
          <a:p>
            <a:pPr algn="l">
              <a:spcAft>
                <a:spcPts val="200"/>
              </a:spcAft>
            </a:pPr>
            <a:r>
              <a:rPr sz="1100" b="0">
                <a:solidFill>
                  <a:srgbClr val="5B6372"/>
                </a:solidFill>
                <a:latin typeface="Arial"/>
              </a:rPr>
              <a:t>Slides and the Learner Guide from the course page — your open-book references.</a:t>
            </a:r>
          </a:p>
        </p:txBody>
      </p:sp>
      <p:sp>
        <p:nvSpPr>
          <p:cNvPr id="25" name="Rectangle 24"/>
          <p:cNvSpPr/>
          <p:nvPr/>
        </p:nvSpPr>
        <p:spPr>
          <a:xfrm>
            <a:off x="4800600" y="4032504"/>
            <a:ext cx="6611112" cy="7406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800600" y="4032504"/>
            <a:ext cx="91440" cy="7406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029200" y="4174236"/>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29200" y="417423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9" name="TextBox 28"/>
          <p:cNvSpPr txBox="1"/>
          <p:nvPr/>
        </p:nvSpPr>
        <p:spPr>
          <a:xfrm>
            <a:off x="5669280" y="4032504"/>
            <a:ext cx="5559552" cy="740664"/>
          </a:xfrm>
          <a:prstGeom prst="rect">
            <a:avLst/>
          </a:prstGeom>
          <a:noFill/>
        </p:spPr>
        <p:txBody>
          <a:bodyPr wrap="square" anchor="ctr">
            <a:spAutoFit/>
          </a:bodyPr>
          <a:lstStyle/>
          <a:p>
            <a:pPr algn="l">
              <a:spcAft>
                <a:spcPts val="200"/>
              </a:spcAft>
            </a:pPr>
            <a:r>
              <a:rPr sz="1400" b="1">
                <a:solidFill>
                  <a:srgbClr val="161B26"/>
                </a:solidFill>
                <a:latin typeface="Arial"/>
              </a:rPr>
              <a:t>Submit answers</a:t>
            </a:r>
          </a:p>
          <a:p>
            <a:pPr algn="l">
              <a:spcAft>
                <a:spcPts val="200"/>
              </a:spcAft>
            </a:pPr>
            <a:r>
              <a:rPr sz="1100" b="0">
                <a:solidFill>
                  <a:srgbClr val="5B6372"/>
                </a:solidFill>
                <a:latin typeface="Arial"/>
              </a:rPr>
              <a:t>Upload your Written Assessment and Case Study answers on the LMS.</a:t>
            </a:r>
          </a:p>
        </p:txBody>
      </p:sp>
      <p:sp>
        <p:nvSpPr>
          <p:cNvPr id="30" name="Rectangle 29"/>
          <p:cNvSpPr/>
          <p:nvPr/>
        </p:nvSpPr>
        <p:spPr>
          <a:xfrm>
            <a:off x="4800600" y="4974336"/>
            <a:ext cx="6611112" cy="7406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800600" y="4974336"/>
            <a:ext cx="91440" cy="7406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5029200" y="5116068"/>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029200" y="511606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4" name="TextBox 33"/>
          <p:cNvSpPr txBox="1"/>
          <p:nvPr/>
        </p:nvSpPr>
        <p:spPr>
          <a:xfrm>
            <a:off x="5669280" y="4974336"/>
            <a:ext cx="5559552" cy="740664"/>
          </a:xfrm>
          <a:prstGeom prst="rect">
            <a:avLst/>
          </a:prstGeom>
          <a:noFill/>
        </p:spPr>
        <p:txBody>
          <a:bodyPr wrap="square" anchor="ctr">
            <a:spAutoFit/>
          </a:bodyPr>
          <a:lstStyle/>
          <a:p>
            <a:pPr algn="l">
              <a:spcAft>
                <a:spcPts val="200"/>
              </a:spcAft>
            </a:pPr>
            <a:r>
              <a:rPr sz="1400" b="1">
                <a:solidFill>
                  <a:srgbClr val="161B26"/>
                </a:solidFill>
                <a:latin typeface="Arial"/>
              </a:rPr>
              <a:t>TRAQOM survey</a:t>
            </a:r>
          </a:p>
          <a:p>
            <a:pPr algn="l">
              <a:spcAft>
                <a:spcPts val="200"/>
              </a:spcAft>
            </a:pPr>
            <a:r>
              <a:rPr sz="1100" b="0">
                <a:solidFill>
                  <a:srgbClr val="5B6372"/>
                </a:solidFill>
                <a:latin typeface="Arial"/>
              </a:rPr>
              <a:t>Complete the TRAQOM survey via the QR code shown on the LMS.</a:t>
            </a:r>
          </a:p>
        </p:txBody>
      </p:sp>
      <p:sp>
        <p:nvSpPr>
          <p:cNvPr id="35" name="Rectangle 34"/>
          <p:cNvSpPr/>
          <p:nvPr/>
        </p:nvSpPr>
        <p:spPr>
          <a:xfrm>
            <a:off x="777240" y="5870448"/>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77240" y="5870448"/>
            <a:ext cx="914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97280" y="5870448"/>
            <a:ext cx="10058400" cy="457200"/>
          </a:xfrm>
          <a:prstGeom prst="rect">
            <a:avLst/>
          </a:prstGeom>
          <a:noFill/>
        </p:spPr>
        <p:txBody>
          <a:bodyPr wrap="square" anchor="ctr">
            <a:spAutoFit/>
          </a:bodyPr>
          <a:lstStyle/>
          <a:p>
            <a:pPr algn="l">
              <a:spcAft>
                <a:spcPts val="400"/>
              </a:spcAft>
            </a:pPr>
            <a:r>
              <a:rPr sz="1300" b="1">
                <a:solidFill>
                  <a:srgbClr val="161B26"/>
                </a:solidFill>
                <a:latin typeface="Arial"/>
              </a:rPr>
              <a:t>https://lms-tms.tertiaryinfotech.com/</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LU1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Stakeholders and Organisation</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Internal &amp; External Stakeholders · Audience Types · Brand Design · Reputation Assessment</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LU1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LU1 · KEY CONCEPTS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Key Concepts — Stakeholders and Organisation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Internal stakeholders (management, employees) and external stakeholders (customers, partners, investors, media) each hold a different level of influence over — and interest in — the brand.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External audiences segment into customers, partners, investors and media; each needs its own communication approach and message.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Branding designs and ideas should foreground the product or service's attributes and the concrete benefits they deliver to the audience.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Assessing an organisation's reputation on social media and other platforms — reviews, mentions, sentiment — is the starting point for every branding decision.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LU1 · THE BIG PICTURE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Modern Brand Ecosystem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Four forces now shape how customers trust and choose brands.</a:t>
            </a:r>
          </a:p>
        </p:txBody>
      </p:sp>
      <p:sp>
        <p:nvSpPr>
          <p:cNvPr id="8" name="Rectangle 7"/>
          <p:cNvSpPr/>
          <p:nvPr/>
        </p:nvSpPr>
        <p:spPr>
          <a:xfrm>
            <a:off x="777240" y="2057400"/>
            <a:ext cx="5180076" cy="19156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57400"/>
            <a:ext cx="91440" cy="19156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2221992"/>
            <a:ext cx="4677156" cy="365760"/>
          </a:xfrm>
          <a:prstGeom prst="rect">
            <a:avLst/>
          </a:prstGeom>
          <a:noFill/>
        </p:spPr>
        <p:txBody>
          <a:bodyPr wrap="square" anchor="t">
            <a:spAutoFit/>
          </a:bodyPr>
          <a:lstStyle/>
          <a:p>
            <a:pPr algn="l">
              <a:spcAft>
                <a:spcPts val="400"/>
              </a:spcAft>
            </a:pPr>
            <a:r>
              <a:rPr sz="1600" b="1">
                <a:solidFill>
                  <a:srgbClr val="1F6FEB"/>
                </a:solidFill>
                <a:latin typeface="Arial"/>
              </a:rPr>
              <a:t>The Shift — Philosophy</a:t>
            </a:r>
          </a:p>
        </p:txBody>
      </p:sp>
      <p:sp>
        <p:nvSpPr>
          <p:cNvPr id="11" name="TextBox 10"/>
          <p:cNvSpPr txBox="1"/>
          <p:nvPr/>
        </p:nvSpPr>
        <p:spPr>
          <a:xfrm>
            <a:off x="1051560" y="2624328"/>
            <a:ext cx="4677156" cy="1229868"/>
          </a:xfrm>
          <a:prstGeom prst="rect">
            <a:avLst/>
          </a:prstGeom>
          <a:noFill/>
        </p:spPr>
        <p:txBody>
          <a:bodyPr wrap="square" anchor="t">
            <a:spAutoFit/>
          </a:bodyPr>
          <a:lstStyle/>
          <a:p>
            <a:pPr algn="l">
              <a:spcAft>
                <a:spcPts val="400"/>
              </a:spcAft>
            </a:pPr>
            <a:r>
              <a:rPr sz="1200" b="0">
                <a:solidFill>
                  <a:srgbClr val="161B26"/>
                </a:solidFill>
                <a:latin typeface="Arial"/>
              </a:rPr>
              <a:t>Moving from product-centric innovation to a customer-back business model (CBM) to drive sustainable growth.</a:t>
            </a:r>
          </a:p>
        </p:txBody>
      </p:sp>
      <p:sp>
        <p:nvSpPr>
          <p:cNvPr id="12" name="Rectangle 11"/>
          <p:cNvSpPr/>
          <p:nvPr/>
        </p:nvSpPr>
        <p:spPr>
          <a:xfrm>
            <a:off x="6231636" y="2057400"/>
            <a:ext cx="5180076" cy="19156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2057400"/>
            <a:ext cx="91440" cy="19156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05956" y="2221992"/>
            <a:ext cx="4677156" cy="365760"/>
          </a:xfrm>
          <a:prstGeom prst="rect">
            <a:avLst/>
          </a:prstGeom>
          <a:noFill/>
        </p:spPr>
        <p:txBody>
          <a:bodyPr wrap="square" anchor="t">
            <a:spAutoFit/>
          </a:bodyPr>
          <a:lstStyle/>
          <a:p>
            <a:pPr algn="l">
              <a:spcAft>
                <a:spcPts val="400"/>
              </a:spcAft>
            </a:pPr>
            <a:r>
              <a:rPr sz="1600" b="1">
                <a:solidFill>
                  <a:srgbClr val="10B981"/>
                </a:solidFill>
                <a:latin typeface="Arial"/>
              </a:rPr>
              <a:t>The Mechanics — System</a:t>
            </a:r>
          </a:p>
        </p:txBody>
      </p:sp>
      <p:sp>
        <p:nvSpPr>
          <p:cNvPr id="15" name="TextBox 14"/>
          <p:cNvSpPr txBox="1"/>
          <p:nvPr/>
        </p:nvSpPr>
        <p:spPr>
          <a:xfrm>
            <a:off x="6505956" y="2624328"/>
            <a:ext cx="4677156" cy="1229868"/>
          </a:xfrm>
          <a:prstGeom prst="rect">
            <a:avLst/>
          </a:prstGeom>
          <a:noFill/>
        </p:spPr>
        <p:txBody>
          <a:bodyPr wrap="square" anchor="t">
            <a:spAutoFit/>
          </a:bodyPr>
          <a:lstStyle/>
          <a:p>
            <a:pPr algn="l">
              <a:spcAft>
                <a:spcPts val="400"/>
              </a:spcAft>
            </a:pPr>
            <a:r>
              <a:rPr sz="1200" b="0">
                <a:solidFill>
                  <a:srgbClr val="161B26"/>
                </a:solidFill>
                <a:latin typeface="Arial"/>
              </a:rPr>
              <a:t>Abandoning the linear funnel for a non-linear, infinitely looping customer journey.</a:t>
            </a:r>
          </a:p>
        </p:txBody>
      </p:sp>
      <p:sp>
        <p:nvSpPr>
          <p:cNvPr id="16" name="Rectangle 15"/>
          <p:cNvSpPr/>
          <p:nvPr/>
        </p:nvSpPr>
        <p:spPr>
          <a:xfrm>
            <a:off x="777240" y="4210812"/>
            <a:ext cx="5180076" cy="19156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210812"/>
            <a:ext cx="91440" cy="19156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4375404"/>
            <a:ext cx="4677156" cy="365760"/>
          </a:xfrm>
          <a:prstGeom prst="rect">
            <a:avLst/>
          </a:prstGeom>
          <a:noFill/>
        </p:spPr>
        <p:txBody>
          <a:bodyPr wrap="square" anchor="t">
            <a:spAutoFit/>
          </a:bodyPr>
          <a:lstStyle/>
          <a:p>
            <a:pPr algn="l">
              <a:spcAft>
                <a:spcPts val="400"/>
              </a:spcAft>
            </a:pPr>
            <a:r>
              <a:rPr sz="1600" b="1">
                <a:solidFill>
                  <a:srgbClr val="7C3AED"/>
                </a:solidFill>
                <a:latin typeface="Arial"/>
              </a:rPr>
              <a:t>The Core — Emotion</a:t>
            </a:r>
          </a:p>
        </p:txBody>
      </p:sp>
      <p:sp>
        <p:nvSpPr>
          <p:cNvPr id="19" name="TextBox 18"/>
          <p:cNvSpPr txBox="1"/>
          <p:nvPr/>
        </p:nvSpPr>
        <p:spPr>
          <a:xfrm>
            <a:off x="1051560" y="4777740"/>
            <a:ext cx="4677156" cy="1229868"/>
          </a:xfrm>
          <a:prstGeom prst="rect">
            <a:avLst/>
          </a:prstGeom>
          <a:noFill/>
        </p:spPr>
        <p:txBody>
          <a:bodyPr wrap="square" anchor="t">
            <a:spAutoFit/>
          </a:bodyPr>
          <a:lstStyle/>
          <a:p>
            <a:pPr algn="l">
              <a:spcAft>
                <a:spcPts val="400"/>
              </a:spcAft>
            </a:pPr>
            <a:r>
              <a:rPr sz="1200" b="0">
                <a:solidFill>
                  <a:srgbClr val="161B26"/>
                </a:solidFill>
                <a:latin typeface="Arial"/>
              </a:rPr>
              <a:t>Engineering authenticity and shared values as the primary engines of brand loyalty and trust.</a:t>
            </a:r>
          </a:p>
        </p:txBody>
      </p:sp>
      <p:sp>
        <p:nvSpPr>
          <p:cNvPr id="20" name="Rectangle 19"/>
          <p:cNvSpPr/>
          <p:nvPr/>
        </p:nvSpPr>
        <p:spPr>
          <a:xfrm>
            <a:off x="6231636" y="4210812"/>
            <a:ext cx="5180076" cy="19156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31636" y="4210812"/>
            <a:ext cx="91440" cy="19156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05956" y="4375404"/>
            <a:ext cx="4677156" cy="365760"/>
          </a:xfrm>
          <a:prstGeom prst="rect">
            <a:avLst/>
          </a:prstGeom>
          <a:noFill/>
        </p:spPr>
        <p:txBody>
          <a:bodyPr wrap="square" anchor="t">
            <a:spAutoFit/>
          </a:bodyPr>
          <a:lstStyle/>
          <a:p>
            <a:pPr algn="l">
              <a:spcAft>
                <a:spcPts val="400"/>
              </a:spcAft>
            </a:pPr>
            <a:r>
              <a:rPr sz="1600" b="1">
                <a:solidFill>
                  <a:srgbClr val="F59E0B"/>
                </a:solidFill>
                <a:latin typeface="Arial"/>
              </a:rPr>
              <a:t>The Scale — AI</a:t>
            </a:r>
          </a:p>
        </p:txBody>
      </p:sp>
      <p:sp>
        <p:nvSpPr>
          <p:cNvPr id="23" name="TextBox 22"/>
          <p:cNvSpPr txBox="1"/>
          <p:nvPr/>
        </p:nvSpPr>
        <p:spPr>
          <a:xfrm>
            <a:off x="6505956" y="4777740"/>
            <a:ext cx="4677156" cy="1229868"/>
          </a:xfrm>
          <a:prstGeom prst="rect">
            <a:avLst/>
          </a:prstGeom>
          <a:noFill/>
        </p:spPr>
        <p:txBody>
          <a:bodyPr wrap="square" anchor="t">
            <a:spAutoFit/>
          </a:bodyPr>
          <a:lstStyle/>
          <a:p>
            <a:pPr algn="l">
              <a:spcAft>
                <a:spcPts val="400"/>
              </a:spcAft>
            </a:pPr>
            <a:r>
              <a:rPr sz="1200" b="0">
                <a:solidFill>
                  <a:srgbClr val="161B26"/>
                </a:solidFill>
                <a:latin typeface="Arial"/>
              </a:rPr>
              <a:t>Governing the new frontier where agentic AI acts autonomously on behalf of the brand.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LU1 · PRODUCT vs CUSTOMER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Strategic Paradigm Shift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Customer-centric organisations think, innovate and measure differently.</a:t>
            </a:r>
          </a:p>
        </p:txBody>
      </p:sp>
      <p:sp>
        <p:nvSpPr>
          <p:cNvPr id="8" name="Rectangle 7"/>
          <p:cNvSpPr/>
          <p:nvPr/>
        </p:nvSpPr>
        <p:spPr>
          <a:xfrm>
            <a:off x="2926080" y="2103120"/>
            <a:ext cx="4242816"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26080" y="2103120"/>
            <a:ext cx="4242816" cy="457200"/>
          </a:xfrm>
          <a:prstGeom prst="rect">
            <a:avLst/>
          </a:prstGeom>
          <a:noFill/>
        </p:spPr>
        <p:txBody>
          <a:bodyPr wrap="square" anchor="ctr">
            <a:spAutoFit/>
          </a:bodyPr>
          <a:lstStyle/>
          <a:p>
            <a:pPr algn="ctr">
              <a:spcAft>
                <a:spcPts val="400"/>
              </a:spcAft>
            </a:pPr>
            <a:r>
              <a:rPr sz="1500" b="1">
                <a:solidFill>
                  <a:srgbClr val="FFFFFF"/>
                </a:solidFill>
                <a:latin typeface="Arial"/>
              </a:rPr>
              <a:t>Product-Centric</a:t>
            </a:r>
          </a:p>
        </p:txBody>
      </p:sp>
      <p:sp>
        <p:nvSpPr>
          <p:cNvPr id="10" name="Rectangle 9"/>
          <p:cNvSpPr/>
          <p:nvPr/>
        </p:nvSpPr>
        <p:spPr>
          <a:xfrm>
            <a:off x="7168896" y="2103120"/>
            <a:ext cx="4242816"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68896" y="2103120"/>
            <a:ext cx="4242816" cy="457200"/>
          </a:xfrm>
          <a:prstGeom prst="rect">
            <a:avLst/>
          </a:prstGeom>
          <a:noFill/>
        </p:spPr>
        <p:txBody>
          <a:bodyPr wrap="square" anchor="ctr">
            <a:spAutoFit/>
          </a:bodyPr>
          <a:lstStyle/>
          <a:p>
            <a:pPr algn="ctr">
              <a:spcAft>
                <a:spcPts val="400"/>
              </a:spcAft>
            </a:pPr>
            <a:r>
              <a:rPr sz="1500" b="1">
                <a:solidFill>
                  <a:srgbClr val="FFFFFF"/>
                </a:solidFill>
                <a:latin typeface="Arial"/>
              </a:rPr>
              <a:t>Customer-Centric</a:t>
            </a:r>
          </a:p>
        </p:txBody>
      </p:sp>
      <p:sp>
        <p:nvSpPr>
          <p:cNvPr id="12" name="Rectangle 11"/>
          <p:cNvSpPr/>
          <p:nvPr/>
        </p:nvSpPr>
        <p:spPr>
          <a:xfrm>
            <a:off x="777240" y="2560320"/>
            <a:ext cx="2148840" cy="8915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2560320"/>
            <a:ext cx="1874520" cy="891540"/>
          </a:xfrm>
          <a:prstGeom prst="rect">
            <a:avLst/>
          </a:prstGeom>
          <a:noFill/>
        </p:spPr>
        <p:txBody>
          <a:bodyPr wrap="square" anchor="ctr">
            <a:spAutoFit/>
          </a:bodyPr>
          <a:lstStyle/>
          <a:p>
            <a:pPr algn="l">
              <a:spcAft>
                <a:spcPts val="400"/>
              </a:spcAft>
            </a:pPr>
            <a:r>
              <a:rPr sz="1400" b="1">
                <a:solidFill>
                  <a:srgbClr val="161B26"/>
                </a:solidFill>
                <a:latin typeface="Arial"/>
              </a:rPr>
              <a:t>Core philosophy</a:t>
            </a:r>
          </a:p>
        </p:txBody>
      </p:sp>
      <p:sp>
        <p:nvSpPr>
          <p:cNvPr id="14" name="Rectangle 13"/>
          <p:cNvSpPr/>
          <p:nvPr/>
        </p:nvSpPr>
        <p:spPr>
          <a:xfrm>
            <a:off x="2926080" y="2560320"/>
            <a:ext cx="4242816" cy="8915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90672" y="2560320"/>
            <a:ext cx="3913632" cy="891540"/>
          </a:xfrm>
          <a:prstGeom prst="rect">
            <a:avLst/>
          </a:prstGeom>
          <a:noFill/>
        </p:spPr>
        <p:txBody>
          <a:bodyPr wrap="square" anchor="ctr">
            <a:spAutoFit/>
          </a:bodyPr>
          <a:lstStyle/>
          <a:p>
            <a:pPr algn="l">
              <a:spcAft>
                <a:spcPts val="400"/>
              </a:spcAft>
            </a:pPr>
            <a:r>
              <a:rPr sz="1300" b="0">
                <a:solidFill>
                  <a:srgbClr val="161B26"/>
                </a:solidFill>
                <a:latin typeface="Arial"/>
              </a:rPr>
              <a:t>“If we build it, they will come”</a:t>
            </a:r>
          </a:p>
        </p:txBody>
      </p:sp>
      <p:sp>
        <p:nvSpPr>
          <p:cNvPr id="16" name="Rectangle 15"/>
          <p:cNvSpPr/>
          <p:nvPr/>
        </p:nvSpPr>
        <p:spPr>
          <a:xfrm>
            <a:off x="7168896" y="2560320"/>
            <a:ext cx="4242816" cy="8915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33488" y="2560320"/>
            <a:ext cx="3913632" cy="891540"/>
          </a:xfrm>
          <a:prstGeom prst="rect">
            <a:avLst/>
          </a:prstGeom>
          <a:noFill/>
        </p:spPr>
        <p:txBody>
          <a:bodyPr wrap="square" anchor="ctr">
            <a:spAutoFit/>
          </a:bodyPr>
          <a:lstStyle/>
          <a:p>
            <a:pPr algn="l">
              <a:spcAft>
                <a:spcPts val="400"/>
              </a:spcAft>
            </a:pPr>
            <a:r>
              <a:rPr sz="1300" b="0">
                <a:solidFill>
                  <a:srgbClr val="161B26"/>
                </a:solidFill>
                <a:latin typeface="Arial"/>
              </a:rPr>
              <a:t>“Obsession with customer pain points and delight”</a:t>
            </a:r>
          </a:p>
        </p:txBody>
      </p:sp>
      <p:sp>
        <p:nvSpPr>
          <p:cNvPr id="18" name="Rectangle 17"/>
          <p:cNvSpPr/>
          <p:nvPr/>
        </p:nvSpPr>
        <p:spPr>
          <a:xfrm>
            <a:off x="777240" y="3451860"/>
            <a:ext cx="2148840" cy="8915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3451860"/>
            <a:ext cx="1874520" cy="891540"/>
          </a:xfrm>
          <a:prstGeom prst="rect">
            <a:avLst/>
          </a:prstGeom>
          <a:noFill/>
        </p:spPr>
        <p:txBody>
          <a:bodyPr wrap="square" anchor="ctr">
            <a:spAutoFit/>
          </a:bodyPr>
          <a:lstStyle/>
          <a:p>
            <a:pPr algn="l">
              <a:spcAft>
                <a:spcPts val="400"/>
              </a:spcAft>
            </a:pPr>
            <a:r>
              <a:rPr sz="1400" b="1">
                <a:solidFill>
                  <a:srgbClr val="161B26"/>
                </a:solidFill>
                <a:latin typeface="Arial"/>
              </a:rPr>
              <a:t>Innovation style</a:t>
            </a:r>
          </a:p>
        </p:txBody>
      </p:sp>
      <p:sp>
        <p:nvSpPr>
          <p:cNvPr id="20" name="Rectangle 19"/>
          <p:cNvSpPr/>
          <p:nvPr/>
        </p:nvSpPr>
        <p:spPr>
          <a:xfrm>
            <a:off x="2926080" y="3451860"/>
            <a:ext cx="4242816" cy="8915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90672" y="3451860"/>
            <a:ext cx="3913632" cy="891540"/>
          </a:xfrm>
          <a:prstGeom prst="rect">
            <a:avLst/>
          </a:prstGeom>
          <a:noFill/>
        </p:spPr>
        <p:txBody>
          <a:bodyPr wrap="square" anchor="ctr">
            <a:spAutoFit/>
          </a:bodyPr>
          <a:lstStyle/>
          <a:p>
            <a:pPr algn="l">
              <a:spcAft>
                <a:spcPts val="400"/>
              </a:spcAft>
            </a:pPr>
            <a:r>
              <a:rPr sz="1300" b="0">
                <a:solidFill>
                  <a:srgbClr val="161B26"/>
                </a:solidFill>
                <a:latin typeface="Arial"/>
              </a:rPr>
              <a:t>High-risk, creates new markets, heavy R&amp;D</a:t>
            </a:r>
          </a:p>
        </p:txBody>
      </p:sp>
      <p:sp>
        <p:nvSpPr>
          <p:cNvPr id="22" name="Rectangle 21"/>
          <p:cNvSpPr/>
          <p:nvPr/>
        </p:nvSpPr>
        <p:spPr>
          <a:xfrm>
            <a:off x="7168896" y="3451860"/>
            <a:ext cx="4242816" cy="8915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33488" y="3451860"/>
            <a:ext cx="3913632" cy="891540"/>
          </a:xfrm>
          <a:prstGeom prst="rect">
            <a:avLst/>
          </a:prstGeom>
          <a:noFill/>
        </p:spPr>
        <p:txBody>
          <a:bodyPr wrap="square" anchor="ctr">
            <a:spAutoFit/>
          </a:bodyPr>
          <a:lstStyle/>
          <a:p>
            <a:pPr algn="l">
              <a:spcAft>
                <a:spcPts val="400"/>
              </a:spcAft>
            </a:pPr>
            <a:r>
              <a:rPr sz="1300" b="0">
                <a:solidFill>
                  <a:srgbClr val="161B26"/>
                </a:solidFill>
                <a:latin typeface="Arial"/>
              </a:rPr>
              <a:t>Incremental, read-and-react, user research-driven</a:t>
            </a:r>
          </a:p>
        </p:txBody>
      </p:sp>
      <p:sp>
        <p:nvSpPr>
          <p:cNvPr id="24" name="Rectangle 23"/>
          <p:cNvSpPr/>
          <p:nvPr/>
        </p:nvSpPr>
        <p:spPr>
          <a:xfrm>
            <a:off x="777240" y="4343400"/>
            <a:ext cx="2148840" cy="8915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4343400"/>
            <a:ext cx="1874520" cy="891540"/>
          </a:xfrm>
          <a:prstGeom prst="rect">
            <a:avLst/>
          </a:prstGeom>
          <a:noFill/>
        </p:spPr>
        <p:txBody>
          <a:bodyPr wrap="square" anchor="ctr">
            <a:spAutoFit/>
          </a:bodyPr>
          <a:lstStyle/>
          <a:p>
            <a:pPr algn="l">
              <a:spcAft>
                <a:spcPts val="400"/>
              </a:spcAft>
            </a:pPr>
            <a:r>
              <a:rPr sz="1400" b="1">
                <a:solidFill>
                  <a:srgbClr val="161B26"/>
                </a:solidFill>
                <a:latin typeface="Arial"/>
              </a:rPr>
              <a:t>Risk profile</a:t>
            </a:r>
          </a:p>
        </p:txBody>
      </p:sp>
      <p:sp>
        <p:nvSpPr>
          <p:cNvPr id="26" name="Rectangle 25"/>
          <p:cNvSpPr/>
          <p:nvPr/>
        </p:nvSpPr>
        <p:spPr>
          <a:xfrm>
            <a:off x="2926080" y="4343400"/>
            <a:ext cx="4242816" cy="8915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090672" y="4343400"/>
            <a:ext cx="3913632" cy="891540"/>
          </a:xfrm>
          <a:prstGeom prst="rect">
            <a:avLst/>
          </a:prstGeom>
          <a:noFill/>
        </p:spPr>
        <p:txBody>
          <a:bodyPr wrap="square" anchor="ctr">
            <a:spAutoFit/>
          </a:bodyPr>
          <a:lstStyle/>
          <a:p>
            <a:pPr algn="l">
              <a:spcAft>
                <a:spcPts val="400"/>
              </a:spcAft>
            </a:pPr>
            <a:r>
              <a:rPr sz="1300" b="0">
                <a:solidFill>
                  <a:srgbClr val="161B26"/>
                </a:solidFill>
                <a:latin typeface="Arial"/>
              </a:rPr>
              <a:t>High tolerance for failure and pivots</a:t>
            </a:r>
          </a:p>
        </p:txBody>
      </p:sp>
      <p:sp>
        <p:nvSpPr>
          <p:cNvPr id="28" name="Rectangle 27"/>
          <p:cNvSpPr/>
          <p:nvPr/>
        </p:nvSpPr>
        <p:spPr>
          <a:xfrm>
            <a:off x="7168896" y="4343400"/>
            <a:ext cx="4242816" cy="8915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33488" y="4343400"/>
            <a:ext cx="3913632" cy="891540"/>
          </a:xfrm>
          <a:prstGeom prst="rect">
            <a:avLst/>
          </a:prstGeom>
          <a:noFill/>
        </p:spPr>
        <p:txBody>
          <a:bodyPr wrap="square" anchor="ctr">
            <a:spAutoFit/>
          </a:bodyPr>
          <a:lstStyle/>
          <a:p>
            <a:pPr algn="l">
              <a:spcAft>
                <a:spcPts val="400"/>
              </a:spcAft>
            </a:pPr>
            <a:r>
              <a:rPr sz="1300" b="0">
                <a:solidFill>
                  <a:srgbClr val="161B26"/>
                </a:solidFill>
                <a:latin typeface="Arial"/>
              </a:rPr>
              <a:t>Lower risk, focused on continuous feedback loops</a:t>
            </a:r>
          </a:p>
        </p:txBody>
      </p:sp>
      <p:sp>
        <p:nvSpPr>
          <p:cNvPr id="30" name="Rectangle 29"/>
          <p:cNvSpPr/>
          <p:nvPr/>
        </p:nvSpPr>
        <p:spPr>
          <a:xfrm>
            <a:off x="777240" y="5234940"/>
            <a:ext cx="2148840" cy="8915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5234940"/>
            <a:ext cx="1874520" cy="891540"/>
          </a:xfrm>
          <a:prstGeom prst="rect">
            <a:avLst/>
          </a:prstGeom>
          <a:noFill/>
        </p:spPr>
        <p:txBody>
          <a:bodyPr wrap="square" anchor="ctr">
            <a:spAutoFit/>
          </a:bodyPr>
          <a:lstStyle/>
          <a:p>
            <a:pPr algn="l">
              <a:spcAft>
                <a:spcPts val="400"/>
              </a:spcAft>
            </a:pPr>
            <a:r>
              <a:rPr sz="1400" b="1">
                <a:solidFill>
                  <a:srgbClr val="161B26"/>
                </a:solidFill>
                <a:latin typeface="Arial"/>
              </a:rPr>
              <a:t>Success metric</a:t>
            </a:r>
          </a:p>
        </p:txBody>
      </p:sp>
      <p:sp>
        <p:nvSpPr>
          <p:cNvPr id="32" name="Rectangle 31"/>
          <p:cNvSpPr/>
          <p:nvPr/>
        </p:nvSpPr>
        <p:spPr>
          <a:xfrm>
            <a:off x="2926080" y="5234940"/>
            <a:ext cx="4242816" cy="8915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090672" y="5234940"/>
            <a:ext cx="3913632" cy="891540"/>
          </a:xfrm>
          <a:prstGeom prst="rect">
            <a:avLst/>
          </a:prstGeom>
          <a:noFill/>
        </p:spPr>
        <p:txBody>
          <a:bodyPr wrap="square" anchor="ctr">
            <a:spAutoFit/>
          </a:bodyPr>
          <a:lstStyle/>
          <a:p>
            <a:pPr algn="l">
              <a:spcAft>
                <a:spcPts val="400"/>
              </a:spcAft>
            </a:pPr>
            <a:r>
              <a:rPr sz="1300" b="0">
                <a:solidFill>
                  <a:srgbClr val="161B26"/>
                </a:solidFill>
                <a:latin typeface="Arial"/>
              </a:rPr>
              <a:t>One-time, big-ticket sales</a:t>
            </a:r>
          </a:p>
        </p:txBody>
      </p:sp>
      <p:sp>
        <p:nvSpPr>
          <p:cNvPr id="34" name="Rectangle 33"/>
          <p:cNvSpPr/>
          <p:nvPr/>
        </p:nvSpPr>
        <p:spPr>
          <a:xfrm>
            <a:off x="7168896" y="5234940"/>
            <a:ext cx="4242816" cy="8915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333488" y="5234940"/>
            <a:ext cx="3913632" cy="891540"/>
          </a:xfrm>
          <a:prstGeom prst="rect">
            <a:avLst/>
          </a:prstGeom>
          <a:noFill/>
        </p:spPr>
        <p:txBody>
          <a:bodyPr wrap="square" anchor="ctr">
            <a:spAutoFit/>
          </a:bodyPr>
          <a:lstStyle/>
          <a:p>
            <a:pPr algn="l">
              <a:spcAft>
                <a:spcPts val="400"/>
              </a:spcAft>
            </a:pPr>
            <a:r>
              <a:rPr sz="1300" b="0">
                <a:solidFill>
                  <a:srgbClr val="161B26"/>
                </a:solidFill>
                <a:latin typeface="Arial"/>
              </a:rPr>
              <a:t>Lifetime value, reduced churn, Net Promoter Scores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LU1 · WHY IT PAYS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Economics of Customer Obsession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Firms implementing a customer-experience (CX) approach routinely outperform product-led peers.</a:t>
            </a:r>
          </a:p>
        </p:txBody>
      </p:sp>
      <p:sp>
        <p:nvSpPr>
          <p:cNvPr id="8" name="Rectangle 7"/>
          <p:cNvSpPr/>
          <p:nvPr/>
        </p:nvSpPr>
        <p:spPr>
          <a:xfrm>
            <a:off x="777240" y="2240280"/>
            <a:ext cx="3300984" cy="2834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40280"/>
            <a:ext cx="3300984"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651760"/>
            <a:ext cx="3300984" cy="1188720"/>
          </a:xfrm>
          <a:prstGeom prst="rect">
            <a:avLst/>
          </a:prstGeom>
          <a:noFill/>
        </p:spPr>
        <p:txBody>
          <a:bodyPr wrap="square" anchor="t">
            <a:spAutoFit/>
          </a:bodyPr>
          <a:lstStyle/>
          <a:p>
            <a:pPr algn="ctr">
              <a:spcAft>
                <a:spcPts val="400"/>
              </a:spcAft>
            </a:pPr>
            <a:r>
              <a:rPr sz="4400" b="1">
                <a:solidFill>
                  <a:srgbClr val="1F6FEB"/>
                </a:solidFill>
                <a:latin typeface="Arial"/>
              </a:rPr>
              <a:t>+49%</a:t>
            </a:r>
          </a:p>
        </p:txBody>
      </p:sp>
      <p:sp>
        <p:nvSpPr>
          <p:cNvPr id="11" name="TextBox 10"/>
          <p:cNvSpPr txBox="1"/>
          <p:nvPr/>
        </p:nvSpPr>
        <p:spPr>
          <a:xfrm>
            <a:off x="960120" y="3931920"/>
            <a:ext cx="2935224" cy="1005840"/>
          </a:xfrm>
          <a:prstGeom prst="rect">
            <a:avLst/>
          </a:prstGeom>
          <a:noFill/>
        </p:spPr>
        <p:txBody>
          <a:bodyPr wrap="square" anchor="t">
            <a:spAutoFit/>
          </a:bodyPr>
          <a:lstStyle/>
          <a:p>
            <a:pPr algn="ctr">
              <a:spcAft>
                <a:spcPts val="400"/>
              </a:spcAft>
            </a:pPr>
            <a:r>
              <a:rPr sz="1300" b="0">
                <a:solidFill>
                  <a:srgbClr val="161B26"/>
                </a:solidFill>
                <a:latin typeface="Arial"/>
              </a:rPr>
              <a:t>Faster profit growth</a:t>
            </a:r>
          </a:p>
        </p:txBody>
      </p:sp>
      <p:sp>
        <p:nvSpPr>
          <p:cNvPr id="12" name="Rectangle 11"/>
          <p:cNvSpPr/>
          <p:nvPr/>
        </p:nvSpPr>
        <p:spPr>
          <a:xfrm>
            <a:off x="4443984" y="2240280"/>
            <a:ext cx="3300984" cy="2834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43984" y="2240280"/>
            <a:ext cx="3300984"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43984" y="2651760"/>
            <a:ext cx="3300984" cy="1188720"/>
          </a:xfrm>
          <a:prstGeom prst="rect">
            <a:avLst/>
          </a:prstGeom>
          <a:noFill/>
        </p:spPr>
        <p:txBody>
          <a:bodyPr wrap="square" anchor="t">
            <a:spAutoFit/>
          </a:bodyPr>
          <a:lstStyle/>
          <a:p>
            <a:pPr algn="ctr">
              <a:spcAft>
                <a:spcPts val="400"/>
              </a:spcAft>
            </a:pPr>
            <a:r>
              <a:rPr sz="4400" b="1">
                <a:solidFill>
                  <a:srgbClr val="10B981"/>
                </a:solidFill>
                <a:latin typeface="Arial"/>
              </a:rPr>
              <a:t>+41%</a:t>
            </a:r>
          </a:p>
        </p:txBody>
      </p:sp>
      <p:sp>
        <p:nvSpPr>
          <p:cNvPr id="15" name="TextBox 14"/>
          <p:cNvSpPr txBox="1"/>
          <p:nvPr/>
        </p:nvSpPr>
        <p:spPr>
          <a:xfrm>
            <a:off x="4626864" y="3931920"/>
            <a:ext cx="2935224" cy="1005840"/>
          </a:xfrm>
          <a:prstGeom prst="rect">
            <a:avLst/>
          </a:prstGeom>
          <a:noFill/>
        </p:spPr>
        <p:txBody>
          <a:bodyPr wrap="square" anchor="t">
            <a:spAutoFit/>
          </a:bodyPr>
          <a:lstStyle/>
          <a:p>
            <a:pPr algn="ctr">
              <a:spcAft>
                <a:spcPts val="400"/>
              </a:spcAft>
            </a:pPr>
            <a:r>
              <a:rPr sz="1300" b="0">
                <a:solidFill>
                  <a:srgbClr val="161B26"/>
                </a:solidFill>
                <a:latin typeface="Arial"/>
              </a:rPr>
              <a:t>Higher revenue expansion</a:t>
            </a:r>
          </a:p>
        </p:txBody>
      </p:sp>
      <p:sp>
        <p:nvSpPr>
          <p:cNvPr id="16" name="Rectangle 15"/>
          <p:cNvSpPr/>
          <p:nvPr/>
        </p:nvSpPr>
        <p:spPr>
          <a:xfrm>
            <a:off x="8110728" y="2240280"/>
            <a:ext cx="3300984" cy="2834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10728" y="2240280"/>
            <a:ext cx="3300984"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10728" y="2651760"/>
            <a:ext cx="3300984" cy="1188720"/>
          </a:xfrm>
          <a:prstGeom prst="rect">
            <a:avLst/>
          </a:prstGeom>
          <a:noFill/>
        </p:spPr>
        <p:txBody>
          <a:bodyPr wrap="square" anchor="t">
            <a:spAutoFit/>
          </a:bodyPr>
          <a:lstStyle/>
          <a:p>
            <a:pPr algn="ctr">
              <a:spcAft>
                <a:spcPts val="400"/>
              </a:spcAft>
            </a:pPr>
            <a:r>
              <a:rPr sz="4400" b="1">
                <a:solidFill>
                  <a:srgbClr val="7C3AED"/>
                </a:solidFill>
                <a:latin typeface="Arial"/>
              </a:rPr>
              <a:t>+51%</a:t>
            </a:r>
          </a:p>
        </p:txBody>
      </p:sp>
      <p:sp>
        <p:nvSpPr>
          <p:cNvPr id="19" name="TextBox 18"/>
          <p:cNvSpPr txBox="1"/>
          <p:nvPr/>
        </p:nvSpPr>
        <p:spPr>
          <a:xfrm>
            <a:off x="8293608" y="3931920"/>
            <a:ext cx="2935224" cy="1005840"/>
          </a:xfrm>
          <a:prstGeom prst="rect">
            <a:avLst/>
          </a:prstGeom>
          <a:noFill/>
        </p:spPr>
        <p:txBody>
          <a:bodyPr wrap="square" anchor="t">
            <a:spAutoFit/>
          </a:bodyPr>
          <a:lstStyle/>
          <a:p>
            <a:pPr algn="ctr">
              <a:spcAft>
                <a:spcPts val="400"/>
              </a:spcAft>
            </a:pPr>
            <a:r>
              <a:rPr sz="1300" b="0">
                <a:solidFill>
                  <a:srgbClr val="161B26"/>
                </a:solidFill>
                <a:latin typeface="Arial"/>
              </a:rPr>
              <a:t>Stronger customer retention</a:t>
            </a:r>
          </a:p>
        </p:txBody>
      </p:sp>
      <p:sp>
        <p:nvSpPr>
          <p:cNvPr id="20" name="Rectangle 19"/>
          <p:cNvSpPr/>
          <p:nvPr/>
        </p:nvSpPr>
        <p:spPr>
          <a:xfrm>
            <a:off x="777240" y="5349240"/>
            <a:ext cx="10634472" cy="777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5349240"/>
            <a:ext cx="91440" cy="7772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97280" y="5349240"/>
            <a:ext cx="10058400" cy="777240"/>
          </a:xfrm>
          <a:prstGeom prst="rect">
            <a:avLst/>
          </a:prstGeom>
          <a:noFill/>
        </p:spPr>
        <p:txBody>
          <a:bodyPr wrap="square" anchor="ctr">
            <a:spAutoFit/>
          </a:bodyPr>
          <a:lstStyle/>
          <a:p>
            <a:pPr algn="l">
              <a:spcAft>
                <a:spcPts val="400"/>
              </a:spcAft>
            </a:pPr>
            <a:r>
              <a:rPr sz="1250" b="1">
                <a:solidFill>
                  <a:srgbClr val="161B26"/>
                </a:solidFill>
                <a:latin typeface="Arial"/>
              </a:rPr>
              <a:t>73% of customers now expect companies to treat them as individuals, not numbers — up from just 39% in 2023.</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29984"/>
            <a:ext cx="12191695" cy="128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468880"/>
            <a:ext cx="10332720" cy="2011680"/>
          </a:xfrm>
          <a:prstGeom prst="rect">
            <a:avLst/>
          </a:prstGeom>
          <a:noFill/>
        </p:spPr>
        <p:txBody>
          <a:bodyPr wrap="square" anchor="ctr">
            <a:spAutoFit/>
          </a:bodyPr>
          <a:lstStyle/>
          <a:p>
            <a:pPr algn="l">
              <a:spcAft>
                <a:spcPts val="400"/>
              </a:spcAft>
            </a:pPr>
            <a:r>
              <a:rPr sz="2500" b="1">
                <a:solidFill>
                  <a:srgbClr val="161B26"/>
                </a:solidFill>
                <a:latin typeface="Arial"/>
              </a:rPr>
              <a:t>Internal and external stakeholders influencing the brand</a:t>
            </a:r>
          </a:p>
        </p:txBody>
      </p:sp>
      <p:sp>
        <p:nvSpPr>
          <p:cNvPr id="6" name="TextBox 5"/>
          <p:cNvSpPr txBox="1"/>
          <p:nvPr/>
        </p:nvSpPr>
        <p:spPr>
          <a:xfrm>
            <a:off x="914400" y="1965960"/>
            <a:ext cx="10332720" cy="457200"/>
          </a:xfrm>
          <a:prstGeom prst="rect">
            <a:avLst/>
          </a:prstGeom>
          <a:noFill/>
        </p:spPr>
        <p:txBody>
          <a:bodyPr wrap="square" anchor="t">
            <a:spAutoFit/>
          </a:bodyPr>
          <a:lstStyle/>
          <a:p>
            <a:pPr algn="l">
              <a:spcAft>
                <a:spcPts val="400"/>
              </a:spcAft>
            </a:pPr>
            <a:r>
              <a:rPr sz="1500" b="1">
                <a:solidFill>
                  <a:srgbClr val="10B981"/>
                </a:solidFill>
                <a:latin typeface="Arial"/>
              </a:rPr>
              <a:t>LO1 · LU1 · T1</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What is Internal and external stakeholders influencing the brand?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Employees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Retail Partners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Media &amp; Press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Regulators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Loyal Customers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Investors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
        <p:nvSpPr>
          <p:cNvPr id="40" name="TextBox 39"/>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Mendelow, A. (1991), Stakeholder Mapping</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LU1 · T1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Stakeholder Management Process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3361944"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129028"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29028"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429000"/>
            <a:ext cx="3105912" cy="365760"/>
          </a:xfrm>
          <a:prstGeom prst="rect">
            <a:avLst/>
          </a:prstGeom>
          <a:noFill/>
        </p:spPr>
        <p:txBody>
          <a:bodyPr wrap="square" anchor="t">
            <a:spAutoFit/>
          </a:bodyPr>
          <a:lstStyle/>
          <a:p>
            <a:pPr algn="ctr">
              <a:spcAft>
                <a:spcPts val="400"/>
              </a:spcAft>
            </a:pPr>
            <a:r>
              <a:rPr sz="1250" b="1">
                <a:solidFill>
                  <a:srgbClr val="161B26"/>
                </a:solidFill>
                <a:latin typeface="Arial"/>
              </a:rPr>
              <a:t>Identify</a:t>
            </a:r>
          </a:p>
        </p:txBody>
      </p:sp>
      <p:sp>
        <p:nvSpPr>
          <p:cNvPr id="12" name="TextBox 11"/>
          <p:cNvSpPr txBox="1"/>
          <p:nvPr/>
        </p:nvSpPr>
        <p:spPr>
          <a:xfrm>
            <a:off x="905256" y="3813048"/>
            <a:ext cx="3105912" cy="1280160"/>
          </a:xfrm>
          <a:prstGeom prst="rect">
            <a:avLst/>
          </a:prstGeom>
          <a:noFill/>
        </p:spPr>
        <p:txBody>
          <a:bodyPr wrap="square" anchor="t">
            <a:spAutoFit/>
          </a:bodyPr>
          <a:lstStyle/>
          <a:p>
            <a:pPr algn="ctr">
              <a:spcAft>
                <a:spcPts val="400"/>
              </a:spcAft>
            </a:pPr>
            <a:r>
              <a:rPr sz="1050" b="0">
                <a:solidFill>
                  <a:srgbClr val="5B6372"/>
                </a:solidFill>
                <a:latin typeface="Arial"/>
              </a:rPr>
              <a:t>Map every stakeholder group touched by the decision.</a:t>
            </a:r>
          </a:p>
        </p:txBody>
      </p:sp>
      <p:sp>
        <p:nvSpPr>
          <p:cNvPr id="13" name="TextBox 12"/>
          <p:cNvSpPr txBox="1"/>
          <p:nvPr/>
        </p:nvSpPr>
        <p:spPr>
          <a:xfrm>
            <a:off x="4120896"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4" name="Rectangle 13"/>
          <p:cNvSpPr/>
          <p:nvPr/>
        </p:nvSpPr>
        <p:spPr>
          <a:xfrm>
            <a:off x="4413504" y="2331720"/>
            <a:ext cx="3361944"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13504" y="2331720"/>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765292"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765292"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4541520" y="3429000"/>
            <a:ext cx="3105912" cy="365760"/>
          </a:xfrm>
          <a:prstGeom prst="rect">
            <a:avLst/>
          </a:prstGeom>
          <a:noFill/>
        </p:spPr>
        <p:txBody>
          <a:bodyPr wrap="square" anchor="t">
            <a:spAutoFit/>
          </a:bodyPr>
          <a:lstStyle/>
          <a:p>
            <a:pPr algn="ctr">
              <a:spcAft>
                <a:spcPts val="400"/>
              </a:spcAft>
            </a:pPr>
            <a:r>
              <a:rPr sz="1250" b="1">
                <a:solidFill>
                  <a:srgbClr val="161B26"/>
                </a:solidFill>
                <a:latin typeface="Arial"/>
              </a:rPr>
              <a:t>Map Power &amp; Interest</a:t>
            </a:r>
          </a:p>
        </p:txBody>
      </p:sp>
      <p:sp>
        <p:nvSpPr>
          <p:cNvPr id="19" name="TextBox 18"/>
          <p:cNvSpPr txBox="1"/>
          <p:nvPr/>
        </p:nvSpPr>
        <p:spPr>
          <a:xfrm>
            <a:off x="4541520" y="3813048"/>
            <a:ext cx="3105912" cy="1280160"/>
          </a:xfrm>
          <a:prstGeom prst="rect">
            <a:avLst/>
          </a:prstGeom>
          <a:noFill/>
        </p:spPr>
        <p:txBody>
          <a:bodyPr wrap="square" anchor="t">
            <a:spAutoFit/>
          </a:bodyPr>
          <a:lstStyle/>
          <a:p>
            <a:pPr algn="ctr">
              <a:spcAft>
                <a:spcPts val="400"/>
              </a:spcAft>
            </a:pPr>
            <a:r>
              <a:rPr sz="1050" b="0">
                <a:solidFill>
                  <a:srgbClr val="5B6372"/>
                </a:solidFill>
                <a:latin typeface="Arial"/>
              </a:rPr>
              <a:t>Plot each group's influence and how much they care.</a:t>
            </a:r>
          </a:p>
        </p:txBody>
      </p:sp>
      <p:sp>
        <p:nvSpPr>
          <p:cNvPr id="20" name="TextBox 19"/>
          <p:cNvSpPr txBox="1"/>
          <p:nvPr/>
        </p:nvSpPr>
        <p:spPr>
          <a:xfrm>
            <a:off x="7757160"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1" name="Rectangle 20"/>
          <p:cNvSpPr/>
          <p:nvPr/>
        </p:nvSpPr>
        <p:spPr>
          <a:xfrm>
            <a:off x="8049768" y="2331720"/>
            <a:ext cx="3361944"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49768" y="2331720"/>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401556"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01556"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8177784" y="3429000"/>
            <a:ext cx="3105912" cy="365760"/>
          </a:xfrm>
          <a:prstGeom prst="rect">
            <a:avLst/>
          </a:prstGeom>
          <a:noFill/>
        </p:spPr>
        <p:txBody>
          <a:bodyPr wrap="square" anchor="t">
            <a:spAutoFit/>
          </a:bodyPr>
          <a:lstStyle/>
          <a:p>
            <a:pPr algn="ctr">
              <a:spcAft>
                <a:spcPts val="400"/>
              </a:spcAft>
            </a:pPr>
            <a:r>
              <a:rPr sz="1250" b="1">
                <a:solidFill>
                  <a:srgbClr val="161B26"/>
                </a:solidFill>
                <a:latin typeface="Arial"/>
              </a:rPr>
              <a:t>Match the Approach</a:t>
            </a:r>
          </a:p>
        </p:txBody>
      </p:sp>
      <p:sp>
        <p:nvSpPr>
          <p:cNvPr id="26" name="TextBox 25"/>
          <p:cNvSpPr txBox="1"/>
          <p:nvPr/>
        </p:nvSpPr>
        <p:spPr>
          <a:xfrm>
            <a:off x="8177784" y="3813048"/>
            <a:ext cx="3105912" cy="1280160"/>
          </a:xfrm>
          <a:prstGeom prst="rect">
            <a:avLst/>
          </a:prstGeom>
          <a:noFill/>
        </p:spPr>
        <p:txBody>
          <a:bodyPr wrap="square" anchor="t">
            <a:spAutoFit/>
          </a:bodyPr>
          <a:lstStyle/>
          <a:p>
            <a:pPr algn="ctr">
              <a:spcAft>
                <a:spcPts val="400"/>
              </a:spcAft>
            </a:pPr>
            <a:r>
              <a:rPr sz="1050" b="0">
                <a:solidFill>
                  <a:srgbClr val="5B6372"/>
                </a:solidFill>
                <a:latin typeface="Arial"/>
              </a:rPr>
              <a:t>Engage, consult, inform or monitor — matched to the quadrant.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T1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Stakeholder Power-Interest Grid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Keep Informed</a:t>
            </a:r>
          </a:p>
          <a:p>
            <a:pPr algn="l">
              <a:spcAft>
                <a:spcPts val="300"/>
              </a:spcAft>
            </a:pPr>
            <a:r>
              <a:rPr sz="1100" b="0">
                <a:solidFill>
                  <a:srgbClr val="5B6372"/>
                </a:solidFill>
                <a:latin typeface="Arial"/>
              </a:rPr>
              <a:t>Retail floor staff; Loyal-customer community</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Manage Closely</a:t>
            </a:r>
          </a:p>
          <a:p>
            <a:pPr algn="l">
              <a:spcAft>
                <a:spcPts val="300"/>
              </a:spcAft>
            </a:pPr>
            <a:r>
              <a:rPr sz="1100" b="0">
                <a:solidFill>
                  <a:srgbClr val="5B6372"/>
                </a:solidFill>
                <a:latin typeface="Arial"/>
              </a:rPr>
              <a:t>Founder / CEO; Key retail partner buyer</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Monitor</a:t>
            </a:r>
          </a:p>
          <a:p>
            <a:pPr algn="l">
              <a:spcAft>
                <a:spcPts val="300"/>
              </a:spcAft>
            </a:pPr>
            <a:r>
              <a:rPr sz="1100" b="0">
                <a:solidFill>
                  <a:srgbClr val="5B6372"/>
                </a:solidFill>
                <a:latin typeface="Arial"/>
              </a:rPr>
              <a:t>Peripheral suppliers; Distant regulators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Keep Satisfied</a:t>
            </a:r>
          </a:p>
          <a:p>
            <a:pPr algn="l">
              <a:spcAft>
                <a:spcPts val="300"/>
              </a:spcAft>
            </a:pPr>
            <a:r>
              <a:rPr sz="1100" b="0">
                <a:solidFill>
                  <a:srgbClr val="5B6372"/>
                </a:solidFill>
                <a:latin typeface="Arial"/>
              </a:rPr>
              <a:t>Board / investors; Wholesale distributors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
        <p:nvSpPr>
          <p:cNvPr id="30" name="TextBox 29"/>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Mendelow's Power-Interest Matrix, 1991 (adapted)</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T1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Stakeholder Distribution Analysis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3300984" cy="2834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40280"/>
            <a:ext cx="3300984"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651760"/>
            <a:ext cx="3300984" cy="1188720"/>
          </a:xfrm>
          <a:prstGeom prst="rect">
            <a:avLst/>
          </a:prstGeom>
          <a:noFill/>
        </p:spPr>
        <p:txBody>
          <a:bodyPr wrap="square" anchor="t">
            <a:spAutoFit/>
          </a:bodyPr>
          <a:lstStyle/>
          <a:p>
            <a:pPr algn="ctr">
              <a:spcAft>
                <a:spcPts val="400"/>
              </a:spcAft>
            </a:pPr>
            <a:r>
              <a:rPr sz="4400" b="1">
                <a:solidFill>
                  <a:srgbClr val="1F6FEB"/>
                </a:solidFill>
                <a:latin typeface="Arial"/>
              </a:rPr>
              <a:t>45%</a:t>
            </a:r>
          </a:p>
        </p:txBody>
      </p:sp>
      <p:sp>
        <p:nvSpPr>
          <p:cNvPr id="10" name="TextBox 9"/>
          <p:cNvSpPr txBox="1"/>
          <p:nvPr/>
        </p:nvSpPr>
        <p:spPr>
          <a:xfrm>
            <a:off x="960120" y="3931920"/>
            <a:ext cx="2935224" cy="1005840"/>
          </a:xfrm>
          <a:prstGeom prst="rect">
            <a:avLst/>
          </a:prstGeom>
          <a:noFill/>
        </p:spPr>
        <p:txBody>
          <a:bodyPr wrap="square" anchor="t">
            <a:spAutoFit/>
          </a:bodyPr>
          <a:lstStyle/>
          <a:p>
            <a:pPr algn="ctr">
              <a:spcAft>
                <a:spcPts val="400"/>
              </a:spcAft>
            </a:pPr>
            <a:r>
              <a:rPr sz="1300" b="0">
                <a:solidFill>
                  <a:srgbClr val="161B26"/>
                </a:solidFill>
                <a:latin typeface="Arial"/>
              </a:rPr>
              <a:t>Internal</a:t>
            </a:r>
          </a:p>
        </p:txBody>
      </p:sp>
      <p:sp>
        <p:nvSpPr>
          <p:cNvPr id="11" name="Rectangle 10"/>
          <p:cNvSpPr/>
          <p:nvPr/>
        </p:nvSpPr>
        <p:spPr>
          <a:xfrm>
            <a:off x="4443984" y="2240280"/>
            <a:ext cx="3300984" cy="2834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43984" y="2240280"/>
            <a:ext cx="3300984"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3984" y="2651760"/>
            <a:ext cx="3300984" cy="1188720"/>
          </a:xfrm>
          <a:prstGeom prst="rect">
            <a:avLst/>
          </a:prstGeom>
          <a:noFill/>
        </p:spPr>
        <p:txBody>
          <a:bodyPr wrap="square" anchor="t">
            <a:spAutoFit/>
          </a:bodyPr>
          <a:lstStyle/>
          <a:p>
            <a:pPr algn="ctr">
              <a:spcAft>
                <a:spcPts val="400"/>
              </a:spcAft>
            </a:pPr>
            <a:r>
              <a:rPr sz="4400" b="1">
                <a:solidFill>
                  <a:srgbClr val="10B981"/>
                </a:solidFill>
                <a:latin typeface="Arial"/>
              </a:rPr>
              <a:t>35%</a:t>
            </a:r>
          </a:p>
        </p:txBody>
      </p:sp>
      <p:sp>
        <p:nvSpPr>
          <p:cNvPr id="14" name="TextBox 13"/>
          <p:cNvSpPr txBox="1"/>
          <p:nvPr/>
        </p:nvSpPr>
        <p:spPr>
          <a:xfrm>
            <a:off x="4626864" y="3931920"/>
            <a:ext cx="2935224" cy="1005840"/>
          </a:xfrm>
          <a:prstGeom prst="rect">
            <a:avLst/>
          </a:prstGeom>
          <a:noFill/>
        </p:spPr>
        <p:txBody>
          <a:bodyPr wrap="square" anchor="t">
            <a:spAutoFit/>
          </a:bodyPr>
          <a:lstStyle/>
          <a:p>
            <a:pPr algn="ctr">
              <a:spcAft>
                <a:spcPts val="400"/>
              </a:spcAft>
            </a:pPr>
            <a:r>
              <a:rPr sz="1300" b="0">
                <a:solidFill>
                  <a:srgbClr val="161B26"/>
                </a:solidFill>
                <a:latin typeface="Arial"/>
              </a:rPr>
              <a:t>External</a:t>
            </a:r>
          </a:p>
        </p:txBody>
      </p:sp>
      <p:sp>
        <p:nvSpPr>
          <p:cNvPr id="15" name="Rectangle 14"/>
          <p:cNvSpPr/>
          <p:nvPr/>
        </p:nvSpPr>
        <p:spPr>
          <a:xfrm>
            <a:off x="8110728" y="2240280"/>
            <a:ext cx="3300984" cy="2834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10728" y="2240280"/>
            <a:ext cx="3300984"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10728" y="2651760"/>
            <a:ext cx="3300984" cy="1188720"/>
          </a:xfrm>
          <a:prstGeom prst="rect">
            <a:avLst/>
          </a:prstGeom>
          <a:noFill/>
        </p:spPr>
        <p:txBody>
          <a:bodyPr wrap="square" anchor="t">
            <a:spAutoFit/>
          </a:bodyPr>
          <a:lstStyle/>
          <a:p>
            <a:pPr algn="ctr">
              <a:spcAft>
                <a:spcPts val="400"/>
              </a:spcAft>
            </a:pPr>
            <a:r>
              <a:rPr sz="4400" b="1">
                <a:solidFill>
                  <a:srgbClr val="7C3AED"/>
                </a:solidFill>
                <a:latin typeface="Arial"/>
              </a:rPr>
              <a:t>20%</a:t>
            </a:r>
          </a:p>
        </p:txBody>
      </p:sp>
      <p:sp>
        <p:nvSpPr>
          <p:cNvPr id="18" name="TextBox 17"/>
          <p:cNvSpPr txBox="1"/>
          <p:nvPr/>
        </p:nvSpPr>
        <p:spPr>
          <a:xfrm>
            <a:off x="8293608" y="3931920"/>
            <a:ext cx="2935224" cy="1005840"/>
          </a:xfrm>
          <a:prstGeom prst="rect">
            <a:avLst/>
          </a:prstGeom>
          <a:noFill/>
        </p:spPr>
        <p:txBody>
          <a:bodyPr wrap="square" anchor="t">
            <a:spAutoFit/>
          </a:bodyPr>
          <a:lstStyle/>
          <a:p>
            <a:pPr algn="ctr">
              <a:spcAft>
                <a:spcPts val="400"/>
              </a:spcAft>
            </a:pPr>
            <a:r>
              <a:rPr sz="1300" b="0">
                <a:solidFill>
                  <a:srgbClr val="161B26"/>
                </a:solidFill>
                <a:latin typeface="Arial"/>
              </a:rPr>
              <a:t>Hybrid</a:t>
            </a:r>
          </a:p>
        </p:txBody>
      </p:sp>
      <p:sp>
        <p:nvSpPr>
          <p:cNvPr id="19" name="Rectangle 18"/>
          <p:cNvSpPr/>
          <p:nvPr/>
        </p:nvSpPr>
        <p:spPr>
          <a:xfrm>
            <a:off x="777240" y="5349240"/>
            <a:ext cx="10634472" cy="777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5349240"/>
            <a:ext cx="91440" cy="7772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97280" y="5349240"/>
            <a:ext cx="10058400" cy="777240"/>
          </a:xfrm>
          <a:prstGeom prst="rect">
            <a:avLst/>
          </a:prstGeom>
          <a:noFill/>
        </p:spPr>
        <p:txBody>
          <a:bodyPr wrap="square" anchor="ctr">
            <a:spAutoFit/>
          </a:bodyPr>
          <a:lstStyle/>
          <a:p>
            <a:pPr algn="l">
              <a:spcAft>
                <a:spcPts val="400"/>
              </a:spcAft>
            </a:pPr>
            <a:r>
              <a:rPr sz="1250" b="1">
                <a:solidFill>
                  <a:srgbClr val="161B26"/>
                </a:solidFill>
                <a:latin typeface="Arial"/>
              </a:rPr>
              <a:t>Source: illustrative distribution, stakeholder-mapping workshops</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T1 · REAL-WORLD EXAMPLE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Internal Culture Is the First Stakeholder You Manage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206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28016" cy="42062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97280" y="2103120"/>
            <a:ext cx="2834640"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103120"/>
            <a:ext cx="2834640" cy="502920"/>
          </a:xfrm>
          <a:prstGeom prst="rect">
            <a:avLst/>
          </a:prstGeom>
          <a:noFill/>
        </p:spPr>
        <p:txBody>
          <a:bodyPr wrap="square" anchor="ctr">
            <a:spAutoFit/>
          </a:bodyPr>
          <a:lstStyle/>
          <a:p>
            <a:pPr algn="ctr">
              <a:spcAft>
                <a:spcPts val="400"/>
              </a:spcAft>
            </a:pPr>
            <a:r>
              <a:rPr sz="1300" b="1">
                <a:solidFill>
                  <a:srgbClr val="FFFFFF"/>
                </a:solidFill>
                <a:latin typeface="Arial"/>
              </a:rPr>
              <a:t>REAL-WORLD EXAMPLE</a:t>
            </a:r>
          </a:p>
        </p:txBody>
      </p:sp>
      <p:sp>
        <p:nvSpPr>
          <p:cNvPr id="11" name="TextBox 10"/>
          <p:cNvSpPr txBox="1"/>
          <p:nvPr/>
        </p:nvSpPr>
        <p:spPr>
          <a:xfrm>
            <a:off x="1097280" y="2880360"/>
            <a:ext cx="9966960" cy="640080"/>
          </a:xfrm>
          <a:prstGeom prst="rect">
            <a:avLst/>
          </a:prstGeom>
          <a:noFill/>
        </p:spPr>
        <p:txBody>
          <a:bodyPr wrap="square" anchor="t">
            <a:spAutoFit/>
          </a:bodyPr>
          <a:lstStyle/>
          <a:p>
            <a:pPr algn="l">
              <a:spcAft>
                <a:spcPts val="400"/>
              </a:spcAft>
            </a:pPr>
            <a:r>
              <a:rPr sz="2600" b="1">
                <a:solidFill>
                  <a:srgbClr val="161B26"/>
                </a:solidFill>
                <a:latin typeface="Arial"/>
              </a:rPr>
              <a:t>Singapore Airlines</a:t>
            </a:r>
          </a:p>
        </p:txBody>
      </p:sp>
      <p:sp>
        <p:nvSpPr>
          <p:cNvPr id="12" name="TextBox 11"/>
          <p:cNvSpPr txBox="1"/>
          <p:nvPr/>
        </p:nvSpPr>
        <p:spPr>
          <a:xfrm>
            <a:off x="1097280" y="3611880"/>
            <a:ext cx="9966960" cy="2194560"/>
          </a:xfrm>
          <a:prstGeom prst="rect">
            <a:avLst/>
          </a:prstGeom>
          <a:noFill/>
        </p:spPr>
        <p:txBody>
          <a:bodyPr wrap="square" anchor="t">
            <a:spAutoFit/>
          </a:bodyPr>
          <a:lstStyle/>
          <a:p>
            <a:pPr algn="l">
              <a:spcAft>
                <a:spcPts val="400"/>
              </a:spcAft>
            </a:pPr>
            <a:r>
              <a:rPr sz="1600" b="0">
                <a:solidFill>
                  <a:srgbClr val="5B6372"/>
                </a:solidFill>
                <a:latin typeface="Arial"/>
              </a:rPr>
              <a:t>SIA's famed inflight service isn't a customer-facing script — it's the product of decades of internal training investment. Staff who feel genuinely valued as stakeholders are the ones who convincingly make customers feel valued too.</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LU1 · T1 · ACTIVITY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Stakeholder Influence Mapping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ROLE PLAY</a:t>
            </a:r>
          </a:p>
        </p:txBody>
      </p:sp>
      <p:sp>
        <p:nvSpPr>
          <p:cNvPr id="9" name="Rectangle 8"/>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2" name="TextBox 11"/>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Nimbus Wellness Pte Ltd, a 25-person Singapore boutique skincare and wellness brand, is three months from its 5th-anniversary relaunch. The founder has committed to a new sustainable-packaging line as the centrepiece of the relaunch story.</a:t>
            </a:r>
          </a:p>
          <a:p>
            <a:pPr algn="l">
              <a:spcAft>
                <a:spcPts val="800"/>
              </a:spcAft>
            </a:pPr>
            <a:r>
              <a:rPr sz="1450" b="0">
                <a:solidFill>
                  <a:srgbClr val="161B26"/>
                </a:solidFill>
                <a:latin typeface="Arial"/>
              </a:rPr>
              <a:t>Not everyone is convinced. Retail operations worries the new packaging will raise unit cost and slow reorders. A wellness retail chain that carries Nimbus in 40 outlets wants proof the change won't disrupt supply before it commits fresh shelf space. Meanwhile a vocal community of long-time customers on social media is already asking why Nimbus hasn't "gone green" sooner.</a:t>
            </a:r>
          </a:p>
          <a:p>
            <a:pPr algn="l">
              <a:spcAft>
                <a:spcPts val="800"/>
              </a:spcAft>
            </a:pPr>
            <a:r>
              <a:rPr sz="1450" b="0">
                <a:solidFill>
                  <a:srgbClr val="161B26"/>
                </a:solidFill>
                <a:latin typeface="Arial"/>
              </a:rPr>
              <a:t>Before the founder locks the relaunch brief, your table must map who genuinely has power and interest in this decision — and design how to bring each group along, not just announce it to them.</a:t>
            </a:r>
          </a:p>
        </p:txBody>
      </p:sp>
      <p:sp>
        <p:nvSpPr>
          <p:cNvPr id="13" name="Rectangle 12"/>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 stakeholder Power-Interest map (12 stakeholders) with a matched engagement approach for each quadrant</a:t>
            </a:r>
          </a:p>
        </p:txBody>
      </p:sp>
      <p:sp>
        <p:nvSpPr>
          <p:cNvPr id="15" name="TextBox 14"/>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25 minutes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LU1 · T1 · ACTIVITY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Stakeholder Influence Mapping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ASSIGN THE ROLES</a:t>
            </a:r>
          </a:p>
        </p:txBody>
      </p:sp>
      <p:sp>
        <p:nvSpPr>
          <p:cNvPr id="8" name="Rectangle 7"/>
          <p:cNvSpPr/>
          <p:nvPr/>
        </p:nvSpPr>
        <p:spPr>
          <a:xfrm>
            <a:off x="777240" y="2194560"/>
            <a:ext cx="3361944" cy="3886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194560"/>
            <a:ext cx="3361944"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194560"/>
            <a:ext cx="3361944" cy="457200"/>
          </a:xfrm>
          <a:prstGeom prst="rect">
            <a:avLst/>
          </a:prstGeom>
          <a:noFill/>
        </p:spPr>
        <p:txBody>
          <a:bodyPr wrap="square" anchor="ctr">
            <a:spAutoFit/>
          </a:bodyPr>
          <a:lstStyle/>
          <a:p>
            <a:pPr algn="ctr">
              <a:spcAft>
                <a:spcPts val="400"/>
              </a:spcAft>
            </a:pPr>
            <a:r>
              <a:rPr sz="1500" b="1">
                <a:solidFill>
                  <a:srgbClr val="FFFFFF"/>
                </a:solidFill>
                <a:latin typeface="Arial"/>
              </a:rPr>
              <a:t>The Founder</a:t>
            </a:r>
          </a:p>
        </p:txBody>
      </p:sp>
      <p:sp>
        <p:nvSpPr>
          <p:cNvPr id="11" name="TextBox 10"/>
          <p:cNvSpPr txBox="1"/>
          <p:nvPr/>
        </p:nvSpPr>
        <p:spPr>
          <a:xfrm>
            <a:off x="978408" y="2816352"/>
            <a:ext cx="2959608" cy="548640"/>
          </a:xfrm>
          <a:prstGeom prst="rect">
            <a:avLst/>
          </a:prstGeom>
          <a:noFill/>
        </p:spPr>
        <p:txBody>
          <a:bodyPr wrap="square" anchor="t">
            <a:spAutoFit/>
          </a:bodyPr>
          <a:lstStyle/>
          <a:p>
            <a:pPr algn="l">
              <a:spcAft>
                <a:spcPts val="400"/>
              </a:spcAft>
            </a:pPr>
            <a:r>
              <a:rPr sz="1100" b="1">
                <a:solidFill>
                  <a:srgbClr val="1F6FEB"/>
                </a:solidFill>
                <a:latin typeface="Arial"/>
              </a:rPr>
              <a:t>GOAL</a:t>
            </a:r>
          </a:p>
        </p:txBody>
      </p:sp>
      <p:sp>
        <p:nvSpPr>
          <p:cNvPr id="12" name="TextBox 11"/>
          <p:cNvSpPr txBox="1"/>
          <p:nvPr/>
        </p:nvSpPr>
        <p:spPr>
          <a:xfrm>
            <a:off x="978408" y="3090672"/>
            <a:ext cx="2959608" cy="822960"/>
          </a:xfrm>
          <a:prstGeom prst="rect">
            <a:avLst/>
          </a:prstGeom>
          <a:noFill/>
        </p:spPr>
        <p:txBody>
          <a:bodyPr wrap="square" anchor="t">
            <a:spAutoFit/>
          </a:bodyPr>
          <a:lstStyle/>
          <a:p>
            <a:pPr algn="l">
              <a:spcAft>
                <a:spcPts val="400"/>
              </a:spcAft>
            </a:pPr>
            <a:r>
              <a:rPr sz="1250" b="1">
                <a:solidFill>
                  <a:srgbClr val="161B26"/>
                </a:solidFill>
                <a:latin typeface="Arial"/>
              </a:rPr>
              <a:t>Protect the relaunch vision</a:t>
            </a:r>
          </a:p>
        </p:txBody>
      </p:sp>
      <p:sp>
        <p:nvSpPr>
          <p:cNvPr id="13" name="TextBox 12"/>
          <p:cNvSpPr txBox="1"/>
          <p:nvPr/>
        </p:nvSpPr>
        <p:spPr>
          <a:xfrm>
            <a:off x="978408" y="3977640"/>
            <a:ext cx="2959608" cy="2011680"/>
          </a:xfrm>
          <a:prstGeom prst="rect">
            <a:avLst/>
          </a:prstGeom>
          <a:noFill/>
        </p:spPr>
        <p:txBody>
          <a:bodyPr wrap="square" anchor="t">
            <a:spAutoFit/>
          </a:bodyPr>
          <a:lstStyle/>
          <a:p>
            <a:pPr algn="l">
              <a:spcAft>
                <a:spcPts val="400"/>
              </a:spcAft>
            </a:pPr>
            <a:r>
              <a:rPr sz="1200" b="0">
                <a:solidFill>
                  <a:srgbClr val="5B6372"/>
                </a:solidFill>
                <a:latin typeface="Arial"/>
              </a:rPr>
              <a:t>Wants sustainability to be the headline story of the anniversary campaign and is impatient with anything that looks like delay.</a:t>
            </a:r>
          </a:p>
        </p:txBody>
      </p:sp>
      <p:sp>
        <p:nvSpPr>
          <p:cNvPr id="14" name="Rectangle 13"/>
          <p:cNvSpPr/>
          <p:nvPr/>
        </p:nvSpPr>
        <p:spPr>
          <a:xfrm>
            <a:off x="4413504" y="2194560"/>
            <a:ext cx="3361944" cy="3886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13504" y="2194560"/>
            <a:ext cx="3361944"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13504" y="2194560"/>
            <a:ext cx="3361944" cy="457200"/>
          </a:xfrm>
          <a:prstGeom prst="rect">
            <a:avLst/>
          </a:prstGeom>
          <a:noFill/>
        </p:spPr>
        <p:txBody>
          <a:bodyPr wrap="square" anchor="ctr">
            <a:spAutoFit/>
          </a:bodyPr>
          <a:lstStyle/>
          <a:p>
            <a:pPr algn="ctr">
              <a:spcAft>
                <a:spcPts val="400"/>
              </a:spcAft>
            </a:pPr>
            <a:r>
              <a:rPr sz="1500" b="1">
                <a:solidFill>
                  <a:srgbClr val="FFFFFF"/>
                </a:solidFill>
                <a:latin typeface="Arial"/>
              </a:rPr>
              <a:t>Retail Operations Lead</a:t>
            </a:r>
          </a:p>
        </p:txBody>
      </p:sp>
      <p:sp>
        <p:nvSpPr>
          <p:cNvPr id="17" name="TextBox 16"/>
          <p:cNvSpPr txBox="1"/>
          <p:nvPr/>
        </p:nvSpPr>
        <p:spPr>
          <a:xfrm>
            <a:off x="4614672" y="2816352"/>
            <a:ext cx="2959608" cy="548640"/>
          </a:xfrm>
          <a:prstGeom prst="rect">
            <a:avLst/>
          </a:prstGeom>
          <a:noFill/>
        </p:spPr>
        <p:txBody>
          <a:bodyPr wrap="square" anchor="t">
            <a:spAutoFit/>
          </a:bodyPr>
          <a:lstStyle/>
          <a:p>
            <a:pPr algn="l">
              <a:spcAft>
                <a:spcPts val="400"/>
              </a:spcAft>
            </a:pPr>
            <a:r>
              <a:rPr sz="1100" b="1">
                <a:solidFill>
                  <a:srgbClr val="10B981"/>
                </a:solidFill>
                <a:latin typeface="Arial"/>
              </a:rPr>
              <a:t>GOAL</a:t>
            </a:r>
          </a:p>
        </p:txBody>
      </p:sp>
      <p:sp>
        <p:nvSpPr>
          <p:cNvPr id="18" name="TextBox 17"/>
          <p:cNvSpPr txBox="1"/>
          <p:nvPr/>
        </p:nvSpPr>
        <p:spPr>
          <a:xfrm>
            <a:off x="4614672" y="3090672"/>
            <a:ext cx="2959608" cy="822960"/>
          </a:xfrm>
          <a:prstGeom prst="rect">
            <a:avLst/>
          </a:prstGeom>
          <a:noFill/>
        </p:spPr>
        <p:txBody>
          <a:bodyPr wrap="square" anchor="t">
            <a:spAutoFit/>
          </a:bodyPr>
          <a:lstStyle/>
          <a:p>
            <a:pPr algn="l">
              <a:spcAft>
                <a:spcPts val="400"/>
              </a:spcAft>
            </a:pPr>
            <a:r>
              <a:rPr sz="1250" b="1">
                <a:solidFill>
                  <a:srgbClr val="161B26"/>
                </a:solidFill>
                <a:latin typeface="Arial"/>
              </a:rPr>
              <a:t>Protect margin and delivery reliability</a:t>
            </a:r>
          </a:p>
        </p:txBody>
      </p:sp>
      <p:sp>
        <p:nvSpPr>
          <p:cNvPr id="19" name="TextBox 18"/>
          <p:cNvSpPr txBox="1"/>
          <p:nvPr/>
        </p:nvSpPr>
        <p:spPr>
          <a:xfrm>
            <a:off x="4614672" y="3977640"/>
            <a:ext cx="2959608" cy="2011680"/>
          </a:xfrm>
          <a:prstGeom prst="rect">
            <a:avLst/>
          </a:prstGeom>
          <a:noFill/>
        </p:spPr>
        <p:txBody>
          <a:bodyPr wrap="square" anchor="t">
            <a:spAutoFit/>
          </a:bodyPr>
          <a:lstStyle/>
          <a:p>
            <a:pPr algn="l">
              <a:spcAft>
                <a:spcPts val="400"/>
              </a:spcAft>
            </a:pPr>
            <a:r>
              <a:rPr sz="1200" b="0">
                <a:solidFill>
                  <a:srgbClr val="5B6372"/>
                </a:solidFill>
                <a:latin typeface="Arial"/>
              </a:rPr>
              <a:t>Worried the new packaging supplier will slow reorders right before the relaunch peak season.</a:t>
            </a:r>
          </a:p>
        </p:txBody>
      </p:sp>
      <p:sp>
        <p:nvSpPr>
          <p:cNvPr id="20" name="Rectangle 19"/>
          <p:cNvSpPr/>
          <p:nvPr/>
        </p:nvSpPr>
        <p:spPr>
          <a:xfrm>
            <a:off x="8049768" y="2194560"/>
            <a:ext cx="3361944" cy="3886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49768" y="2194560"/>
            <a:ext cx="3361944"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9768" y="2194560"/>
            <a:ext cx="3361944" cy="457200"/>
          </a:xfrm>
          <a:prstGeom prst="rect">
            <a:avLst/>
          </a:prstGeom>
          <a:noFill/>
        </p:spPr>
        <p:txBody>
          <a:bodyPr wrap="square" anchor="ctr">
            <a:spAutoFit/>
          </a:bodyPr>
          <a:lstStyle/>
          <a:p>
            <a:pPr algn="ctr">
              <a:spcAft>
                <a:spcPts val="400"/>
              </a:spcAft>
            </a:pPr>
            <a:r>
              <a:rPr sz="1500" b="1">
                <a:solidFill>
                  <a:srgbClr val="FFFFFF"/>
                </a:solidFill>
                <a:latin typeface="Arial"/>
              </a:rPr>
              <a:t>Retail Partner Buyer</a:t>
            </a:r>
          </a:p>
        </p:txBody>
      </p:sp>
      <p:sp>
        <p:nvSpPr>
          <p:cNvPr id="23" name="TextBox 22"/>
          <p:cNvSpPr txBox="1"/>
          <p:nvPr/>
        </p:nvSpPr>
        <p:spPr>
          <a:xfrm>
            <a:off x="8250936" y="2816352"/>
            <a:ext cx="2959608" cy="548640"/>
          </a:xfrm>
          <a:prstGeom prst="rect">
            <a:avLst/>
          </a:prstGeom>
          <a:noFill/>
        </p:spPr>
        <p:txBody>
          <a:bodyPr wrap="square" anchor="t">
            <a:spAutoFit/>
          </a:bodyPr>
          <a:lstStyle/>
          <a:p>
            <a:pPr algn="l">
              <a:spcAft>
                <a:spcPts val="400"/>
              </a:spcAft>
            </a:pPr>
            <a:r>
              <a:rPr sz="1100" b="1">
                <a:solidFill>
                  <a:srgbClr val="7C3AED"/>
                </a:solidFill>
                <a:latin typeface="Arial"/>
              </a:rPr>
              <a:t>GOAL</a:t>
            </a:r>
          </a:p>
        </p:txBody>
      </p:sp>
      <p:sp>
        <p:nvSpPr>
          <p:cNvPr id="24" name="TextBox 23"/>
          <p:cNvSpPr txBox="1"/>
          <p:nvPr/>
        </p:nvSpPr>
        <p:spPr>
          <a:xfrm>
            <a:off x="8250936" y="3090672"/>
            <a:ext cx="2959608" cy="822960"/>
          </a:xfrm>
          <a:prstGeom prst="rect">
            <a:avLst/>
          </a:prstGeom>
          <a:noFill/>
        </p:spPr>
        <p:txBody>
          <a:bodyPr wrap="square" anchor="t">
            <a:spAutoFit/>
          </a:bodyPr>
          <a:lstStyle/>
          <a:p>
            <a:pPr algn="l">
              <a:spcAft>
                <a:spcPts val="400"/>
              </a:spcAft>
            </a:pPr>
            <a:r>
              <a:rPr sz="1250" b="1">
                <a:solidFill>
                  <a:srgbClr val="161B26"/>
                </a:solidFill>
                <a:latin typeface="Arial"/>
              </a:rPr>
              <a:t>Protect their own shelf-space risk</a:t>
            </a:r>
          </a:p>
        </p:txBody>
      </p:sp>
      <p:sp>
        <p:nvSpPr>
          <p:cNvPr id="25" name="TextBox 24"/>
          <p:cNvSpPr txBox="1"/>
          <p:nvPr/>
        </p:nvSpPr>
        <p:spPr>
          <a:xfrm>
            <a:off x="8250936" y="3977640"/>
            <a:ext cx="2959608" cy="2011680"/>
          </a:xfrm>
          <a:prstGeom prst="rect">
            <a:avLst/>
          </a:prstGeom>
          <a:noFill/>
        </p:spPr>
        <p:txBody>
          <a:bodyPr wrap="square" anchor="t">
            <a:spAutoFit/>
          </a:bodyPr>
          <a:lstStyle/>
          <a:p>
            <a:pPr algn="l">
              <a:spcAft>
                <a:spcPts val="400"/>
              </a:spcAft>
            </a:pPr>
            <a:r>
              <a:rPr sz="1200" b="0">
                <a:solidFill>
                  <a:srgbClr val="5B6372"/>
                </a:solidFill>
                <a:latin typeface="Arial"/>
              </a:rPr>
              <a:t>Will only commit expanded shelf space once supply reliability through the transition is proven.</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LU1 · T1 · ACTIVITY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Stakeholder Influence Mapping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8" name="Rectangle 7"/>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2" name="TextBox 11"/>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6 internal and 6 external stakeholders matter most to this relaunch decision, and why?</a:t>
            </a:r>
          </a:p>
        </p:txBody>
      </p:sp>
      <p:sp>
        <p:nvSpPr>
          <p:cNvPr id="13" name="Rectangle 12"/>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7" name="TextBox 16"/>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Using the Power-Interest Grid, where does each stakeholder sit — and which quadrant deserves your table's limited attention this month?</a:t>
            </a:r>
          </a:p>
        </p:txBody>
      </p:sp>
      <p:sp>
        <p:nvSpPr>
          <p:cNvPr id="18" name="Rectangle 17"/>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is each stakeholder's real underlying concern, not just their stated position?</a:t>
            </a:r>
          </a:p>
        </p:txBody>
      </p:sp>
      <p:sp>
        <p:nvSpPr>
          <p:cNvPr id="23" name="Rectangle 22"/>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7" name="TextBox 26"/>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engagement approach — brief, consult or co-design — fits each stakeholder's concern and influence level?</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LU1 · T1 · ACTIVITY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Stakeholder Influence Mapping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10" name="TextBox 9"/>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Which stakeholder's position surprised you once you heard their actual concern instead of assuming it?</a:t>
            </a:r>
          </a:p>
          <a:p>
            <a:pPr>
              <a:spcAft>
                <a:spcPts val="900"/>
              </a:spcAft>
            </a:pPr>
            <a:r>
              <a:rPr sz="1450" b="0">
                <a:solidFill>
                  <a:srgbClr val="161B26"/>
                </a:solidFill>
                <a:latin typeface="Arial"/>
              </a:rPr>
              <a:t>•  Did power and interest always move together on your map, or did a low-power/high-interest voice turn out to be worth listening to anyway?</a:t>
            </a:r>
          </a:p>
          <a:p>
            <a:pPr>
              <a:spcAft>
                <a:spcPts val="900"/>
              </a:spcAft>
            </a:pPr>
            <a:r>
              <a:rPr sz="1450" b="0">
                <a:solidFill>
                  <a:srgbClr val="161B26"/>
                </a:solidFill>
                <a:latin typeface="Arial"/>
              </a:rPr>
              <a:t>•  If the retail partner buyer voiced hesitation publicly tomorrow, how would that change your grid?</a:t>
            </a:r>
          </a:p>
        </p:txBody>
      </p:sp>
      <p:sp>
        <p:nvSpPr>
          <p:cNvPr id="11" name="Rectangle 10"/>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3" name="TextBox 12"/>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Every group can show a completed Power-Interest map with both internal and external stakeholders placed, and an engagement approach per quadrant that matches the stakeholder's real concern — not just their job title.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29984"/>
            <a:ext cx="12191695" cy="128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468880"/>
            <a:ext cx="10332720" cy="2011680"/>
          </a:xfrm>
          <a:prstGeom prst="rect">
            <a:avLst/>
          </a:prstGeom>
          <a:noFill/>
        </p:spPr>
        <p:txBody>
          <a:bodyPr wrap="square" anchor="ctr">
            <a:spAutoFit/>
          </a:bodyPr>
          <a:lstStyle/>
          <a:p>
            <a:pPr algn="l">
              <a:spcAft>
                <a:spcPts val="400"/>
              </a:spcAft>
            </a:pPr>
            <a:r>
              <a:rPr sz="3200" b="1">
                <a:solidFill>
                  <a:srgbClr val="161B26"/>
                </a:solidFill>
                <a:latin typeface="Arial"/>
              </a:rPr>
              <a:t>Types of external audience</a:t>
            </a:r>
          </a:p>
        </p:txBody>
      </p:sp>
      <p:sp>
        <p:nvSpPr>
          <p:cNvPr id="6" name="TextBox 5"/>
          <p:cNvSpPr txBox="1"/>
          <p:nvPr/>
        </p:nvSpPr>
        <p:spPr>
          <a:xfrm>
            <a:off x="914400" y="1965960"/>
            <a:ext cx="10332720" cy="457200"/>
          </a:xfrm>
          <a:prstGeom prst="rect">
            <a:avLst/>
          </a:prstGeom>
          <a:noFill/>
        </p:spPr>
        <p:txBody>
          <a:bodyPr wrap="square" anchor="t">
            <a:spAutoFit/>
          </a:bodyPr>
          <a:lstStyle/>
          <a:p>
            <a:pPr algn="l">
              <a:spcAft>
                <a:spcPts val="400"/>
              </a:spcAft>
            </a:pPr>
            <a:r>
              <a:rPr sz="1500" b="1">
                <a:solidFill>
                  <a:srgbClr val="10B981"/>
                </a:solidFill>
                <a:latin typeface="Arial"/>
              </a:rPr>
              <a:t>LO1 · LU1 · T2</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What is Types of external audience?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Customers</a:t>
            </a:r>
          </a:p>
          <a:p>
            <a:pPr algn="l">
              <a:spcAft>
                <a:spcPts val="300"/>
              </a:spcAft>
            </a:pPr>
            <a:r>
              <a:rPr sz="1200" b="0">
                <a:solidFill>
                  <a:srgbClr val="5B6372"/>
                </a:solidFill>
                <a:latin typeface="Arial"/>
              </a:rPr>
              <a:t>Prospects and loyal brand advocates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Partners</a:t>
            </a:r>
          </a:p>
          <a:p>
            <a:pPr algn="l">
              <a:spcAft>
                <a:spcPts val="300"/>
              </a:spcAft>
            </a:pPr>
            <a:r>
              <a:rPr sz="1200" b="0">
                <a:solidFill>
                  <a:srgbClr val="5B6372"/>
                </a:solidFill>
                <a:latin typeface="Arial"/>
              </a:rPr>
              <a:t>Business collaborators and suppliers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Investors</a:t>
            </a:r>
          </a:p>
          <a:p>
            <a:pPr algn="l">
              <a:spcAft>
                <a:spcPts val="300"/>
              </a:spcAft>
            </a:pPr>
            <a:r>
              <a:rPr sz="1200" b="0">
                <a:solidFill>
                  <a:srgbClr val="5B6372"/>
                </a:solidFill>
                <a:latin typeface="Arial"/>
              </a:rPr>
              <a:t>Financial stakeholders and shareholders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Media</a:t>
            </a:r>
          </a:p>
          <a:p>
            <a:pPr algn="l">
              <a:spcAft>
                <a:spcPts val="300"/>
              </a:spcAft>
            </a:pPr>
            <a:r>
              <a:rPr sz="1200" b="0">
                <a:solidFill>
                  <a:srgbClr val="5B6372"/>
                </a:solidFill>
                <a:latin typeface="Arial"/>
              </a:rPr>
              <a:t>Press and communication channels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
        <p:nvSpPr>
          <p:cNvPr id="30" name="TextBox 29"/>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external-audience segmentation frameworks</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LU1 · T2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Audience Analysis Framework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74495"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7449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Identify Segments</a:t>
            </a:r>
          </a:p>
        </p:txBody>
      </p:sp>
      <p:sp>
        <p:nvSpPr>
          <p:cNvPr id="12" name="TextBox 11"/>
          <p:cNvSpPr txBox="1"/>
          <p:nvPr/>
        </p:nvSpPr>
        <p:spPr>
          <a:xfrm>
            <a:off x="905256"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Map the primary audience groups.</a:t>
            </a:r>
          </a:p>
        </p:txBody>
      </p:sp>
      <p:sp>
        <p:nvSpPr>
          <p:cNvPr id="13" name="TextBox 12"/>
          <p:cNvSpPr txBox="1"/>
          <p:nvPr/>
        </p:nvSpPr>
        <p:spPr>
          <a:xfrm>
            <a:off x="3211830"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4" name="Rectangle 13"/>
          <p:cNvSpPr/>
          <p:nvPr/>
        </p:nvSpPr>
        <p:spPr>
          <a:xfrm>
            <a:off x="3504438"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504438"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01693"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0169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632454"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Analyse Demographics</a:t>
            </a:r>
          </a:p>
        </p:txBody>
      </p:sp>
      <p:sp>
        <p:nvSpPr>
          <p:cNvPr id="19" name="TextBox 18"/>
          <p:cNvSpPr txBox="1"/>
          <p:nvPr/>
        </p:nvSpPr>
        <p:spPr>
          <a:xfrm>
            <a:off x="3632454"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Age, gender, education and other hard factors.</a:t>
            </a:r>
          </a:p>
        </p:txBody>
      </p:sp>
      <p:sp>
        <p:nvSpPr>
          <p:cNvPr id="20" name="TextBox 19"/>
          <p:cNvSpPr txBox="1"/>
          <p:nvPr/>
        </p:nvSpPr>
        <p:spPr>
          <a:xfrm>
            <a:off x="5939028"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1" name="Rectangle 20"/>
          <p:cNvSpPr/>
          <p:nvPr/>
        </p:nvSpPr>
        <p:spPr>
          <a:xfrm>
            <a:off x="6231636"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128891"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288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6359652"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Study Psychographics</a:t>
            </a:r>
          </a:p>
        </p:txBody>
      </p:sp>
      <p:sp>
        <p:nvSpPr>
          <p:cNvPr id="26" name="TextBox 25"/>
          <p:cNvSpPr txBox="1"/>
          <p:nvPr/>
        </p:nvSpPr>
        <p:spPr>
          <a:xfrm>
            <a:off x="6359652"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Values, attitudes and beliefs that drive behaviour.</a:t>
            </a:r>
          </a:p>
        </p:txBody>
      </p:sp>
      <p:sp>
        <p:nvSpPr>
          <p:cNvPr id="27" name="TextBox 26"/>
          <p:cNvSpPr txBox="1"/>
          <p:nvPr/>
        </p:nvSpPr>
        <p:spPr>
          <a:xfrm>
            <a:off x="8666226"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8" name="Rectangle 27"/>
          <p:cNvSpPr/>
          <p:nvPr/>
        </p:nvSpPr>
        <p:spPr>
          <a:xfrm>
            <a:off x="8958834"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958834"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856089"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5608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9086850"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Map Preferences</a:t>
            </a:r>
          </a:p>
        </p:txBody>
      </p:sp>
      <p:sp>
        <p:nvSpPr>
          <p:cNvPr id="33" name="TextBox 32"/>
          <p:cNvSpPr txBox="1"/>
          <p:nvPr/>
        </p:nvSpPr>
        <p:spPr>
          <a:xfrm>
            <a:off x="9086850"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The communication channels each segment actually uses.</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T2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B2C vs B2B Audience Approaches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B2C — Consumers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B2B — Organisations</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Emotion Driven — feeling-based purchase decisions</a:t>
            </a:r>
          </a:p>
          <a:p>
            <a:pPr>
              <a:spcAft>
                <a:spcPts val="1000"/>
              </a:spcAft>
            </a:pPr>
            <a:r>
              <a:rPr sz="1600" b="0">
                <a:solidFill>
                  <a:srgbClr val="161B26"/>
                </a:solidFill>
                <a:latin typeface="Arial"/>
              </a:rPr>
              <a:t>•  Broad Reach — mass-market targeting</a:t>
            </a:r>
          </a:p>
          <a:p>
            <a:pPr>
              <a:spcAft>
                <a:spcPts val="1000"/>
              </a:spcAft>
            </a:pPr>
            <a:r>
              <a:rPr sz="1600" b="0">
                <a:solidFill>
                  <a:srgbClr val="161B26"/>
                </a:solidFill>
                <a:latin typeface="Arial"/>
              </a:rPr>
              <a:t>•  Quick Decisions — impulse purchase patterns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Logic Driven — data-based purchase decisions</a:t>
            </a:r>
          </a:p>
          <a:p>
            <a:pPr>
              <a:spcAft>
                <a:spcPts val="1000"/>
              </a:spcAft>
            </a:pPr>
            <a:r>
              <a:rPr sz="1600" b="0">
                <a:solidFill>
                  <a:srgbClr val="161B26"/>
                </a:solidFill>
                <a:latin typeface="Arial"/>
              </a:rPr>
              <a:t>•  Targeted Approach — niche market focus</a:t>
            </a:r>
          </a:p>
          <a:p>
            <a:pPr>
              <a:spcAft>
                <a:spcPts val="1000"/>
              </a:spcAft>
            </a:pPr>
            <a:r>
              <a:rPr sz="1600" b="0">
                <a:solidFill>
                  <a:srgbClr val="161B26"/>
                </a:solidFill>
                <a:latin typeface="Arial"/>
              </a:rPr>
              <a:t>•  Long Process — extended, multi-stakeholder buying cycles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
        <p:nvSpPr>
          <p:cNvPr id="16" name="TextBox 15"/>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B2C/B2B marketing research synthesis</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T2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Two Nimbus Audience Personas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1883664"/>
          </a:xfrm>
          <a:prstGeom prst="rect">
            <a:avLst/>
          </a:prstGeom>
          <a:noFill/>
        </p:spPr>
        <p:txBody>
          <a:bodyPr wrap="square" anchor="ctr">
            <a:spAutoFit/>
          </a:bodyPr>
          <a:lstStyle/>
          <a:p>
            <a:pPr algn="l">
              <a:spcAft>
                <a:spcPts val="300"/>
              </a:spcAft>
            </a:pPr>
            <a:r>
              <a:rPr sz="1500" b="1">
                <a:solidFill>
                  <a:srgbClr val="161B26"/>
                </a:solidFill>
                <a:latin typeface="Arial"/>
              </a:rPr>
              <a:t>Amara Lim</a:t>
            </a:r>
          </a:p>
          <a:p>
            <a:pPr algn="l">
              <a:spcAft>
                <a:spcPts val="300"/>
              </a:spcAft>
            </a:pPr>
            <a:r>
              <a:rPr sz="1100" b="0">
                <a:solidFill>
                  <a:srgbClr val="5B6372"/>
                </a:solidFill>
                <a:latin typeface="Arial"/>
              </a:rPr>
              <a:t>Existing Loyal Customer — Wants: Feel like Nimbus still “gets” her; Be recognised for years of support. Concerns: New marketing feels generic; Unsure what's actually changed</a:t>
            </a:r>
          </a:p>
        </p:txBody>
      </p:sp>
      <p:sp>
        <p:nvSpPr>
          <p:cNvPr id="12" name="Rectangle 11"/>
          <p:cNvSpPr/>
          <p:nvPr/>
        </p:nvSpPr>
        <p:spPr>
          <a:xfrm>
            <a:off x="777240" y="4087368"/>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4215384"/>
            <a:ext cx="9427464" cy="1883664"/>
          </a:xfrm>
          <a:prstGeom prst="rect">
            <a:avLst/>
          </a:prstGeom>
          <a:noFill/>
        </p:spPr>
        <p:txBody>
          <a:bodyPr wrap="square" anchor="ctr">
            <a:spAutoFit/>
          </a:bodyPr>
          <a:lstStyle/>
          <a:p>
            <a:pPr algn="l">
              <a:spcAft>
                <a:spcPts val="300"/>
              </a:spcAft>
            </a:pPr>
            <a:r>
              <a:rPr sz="1500" b="1">
                <a:solidFill>
                  <a:srgbClr val="161B26"/>
                </a:solidFill>
                <a:latin typeface="Arial"/>
              </a:rPr>
              <a:t>Wei Jie Tan</a:t>
            </a:r>
          </a:p>
          <a:p>
            <a:pPr algn="l">
              <a:spcAft>
                <a:spcPts val="300"/>
              </a:spcAft>
            </a:pPr>
            <a:r>
              <a:rPr sz="1100" b="0">
                <a:solidFill>
                  <a:srgbClr val="5B6372"/>
                </a:solidFill>
                <a:latin typeface="Arial"/>
              </a:rPr>
              <a:t>Retail Chain Buyer — Wants: Confirm the relaunch won't disrupt supply; See proof of consistent demand. Concerns: Cautious about more shelf space; Wants data, not just brand promises</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
        <p:nvSpPr>
          <p:cNvPr id="20" name="TextBox 19"/>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audience-mapping workshop synthesis</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T2 · REAL-WORLD EXAMPLE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One Brand, Radically Different Messages Per Segment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206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28016" cy="42062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97280" y="2103120"/>
            <a:ext cx="2834640"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103120"/>
            <a:ext cx="2834640" cy="502920"/>
          </a:xfrm>
          <a:prstGeom prst="rect">
            <a:avLst/>
          </a:prstGeom>
          <a:noFill/>
        </p:spPr>
        <p:txBody>
          <a:bodyPr wrap="square" anchor="ctr">
            <a:spAutoFit/>
          </a:bodyPr>
          <a:lstStyle/>
          <a:p>
            <a:pPr algn="ctr">
              <a:spcAft>
                <a:spcPts val="400"/>
              </a:spcAft>
            </a:pPr>
            <a:r>
              <a:rPr sz="1300" b="1">
                <a:solidFill>
                  <a:srgbClr val="FFFFFF"/>
                </a:solidFill>
                <a:latin typeface="Arial"/>
              </a:rPr>
              <a:t>REAL-WORLD EXAMPLE</a:t>
            </a:r>
          </a:p>
        </p:txBody>
      </p:sp>
      <p:sp>
        <p:nvSpPr>
          <p:cNvPr id="11" name="TextBox 10"/>
          <p:cNvSpPr txBox="1"/>
          <p:nvPr/>
        </p:nvSpPr>
        <p:spPr>
          <a:xfrm>
            <a:off x="1097280" y="2880360"/>
            <a:ext cx="9966960" cy="640080"/>
          </a:xfrm>
          <a:prstGeom prst="rect">
            <a:avLst/>
          </a:prstGeom>
          <a:noFill/>
        </p:spPr>
        <p:txBody>
          <a:bodyPr wrap="square" anchor="t">
            <a:spAutoFit/>
          </a:bodyPr>
          <a:lstStyle/>
          <a:p>
            <a:pPr algn="l">
              <a:spcAft>
                <a:spcPts val="400"/>
              </a:spcAft>
            </a:pPr>
            <a:r>
              <a:rPr sz="2600" b="1">
                <a:solidFill>
                  <a:srgbClr val="161B26"/>
                </a:solidFill>
                <a:latin typeface="Arial"/>
              </a:rPr>
              <a:t>Nike</a:t>
            </a:r>
          </a:p>
        </p:txBody>
      </p:sp>
      <p:sp>
        <p:nvSpPr>
          <p:cNvPr id="12" name="TextBox 11"/>
          <p:cNvSpPr txBox="1"/>
          <p:nvPr/>
        </p:nvSpPr>
        <p:spPr>
          <a:xfrm>
            <a:off x="1097280" y="3611880"/>
            <a:ext cx="9966960" cy="2194560"/>
          </a:xfrm>
          <a:prstGeom prst="rect">
            <a:avLst/>
          </a:prstGeom>
          <a:noFill/>
        </p:spPr>
        <p:txBody>
          <a:bodyPr wrap="square" anchor="t">
            <a:spAutoFit/>
          </a:bodyPr>
          <a:lstStyle/>
          <a:p>
            <a:pPr algn="l">
              <a:spcAft>
                <a:spcPts val="400"/>
              </a:spcAft>
            </a:pPr>
            <a:r>
              <a:rPr sz="1600" b="0">
                <a:solidFill>
                  <a:srgbClr val="5B6372"/>
                </a:solidFill>
                <a:latin typeface="Arial"/>
              </a:rPr>
              <a:t>Nike speaks to elite athletes through performance data and to everyday joggers through identity and self-belief — same brand, same logo, deliberately different message for each audience it serves.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LU1 · T2 · ACTIVITY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Audience Mapping Workshop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CASE STUDY</a:t>
            </a:r>
          </a:p>
        </p:txBody>
      </p:sp>
      <p:sp>
        <p:nvSpPr>
          <p:cNvPr id="9" name="Rectangle 8"/>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2" name="TextBox 11"/>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Nimbus Wellness's 5th-anniversary relaunch has to speak to four very different audiences at once: existing loyal customers who feel the brand has drifted from them, new customers discovering Nimbus while comparing it to a competitor, the wellness retail chain deciding whether to expand shelf space, and the lifestyle press deciding whether the relaunch is even a story worth covering.</a:t>
            </a:r>
          </a:p>
          <a:p>
            <a:pPr algn="l">
              <a:spcAft>
                <a:spcPts val="800"/>
              </a:spcAft>
            </a:pPr>
            <a:r>
              <a:rPr sz="1450" b="0">
                <a:solidFill>
                  <a:srgbClr val="161B26"/>
                </a:solidFill>
                <a:latin typeface="Arial"/>
              </a:rPr>
              <a:t>The Marketing Lead has one shared relaunch deck for all four groups. Your table's job is to show her, with evidence, why it cannot say the same thing to all four the same way — and what should change for each.</a:t>
            </a:r>
          </a:p>
        </p:txBody>
      </p:sp>
      <p:sp>
        <p:nvSpPr>
          <p:cNvPr id="13" name="Rectangle 12"/>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An audience mapping matrix (4 segments) with a tailored key message and primary channel for each</a:t>
            </a:r>
          </a:p>
        </p:txBody>
      </p:sp>
      <p:sp>
        <p:nvSpPr>
          <p:cNvPr id="15" name="TextBox 14"/>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25 minutes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LU1 · T2 · ACTIVITY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Audience Mapping Workshop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8" name="Rectangle 7"/>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2" name="TextBox 11"/>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does each of the four audience segments actually need to hear to act — not just what Nimbus wants to say?</a:t>
            </a:r>
          </a:p>
        </p:txBody>
      </p:sp>
      <p:sp>
        <p:nvSpPr>
          <p:cNvPr id="13" name="Rectangle 12"/>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7" name="TextBox 16"/>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Where do B2C emotional drivers and B2B/partner logic-driven drivers pull the message in different directions?</a:t>
            </a:r>
          </a:p>
        </p:txBody>
      </p:sp>
      <p:sp>
        <p:nvSpPr>
          <p:cNvPr id="18" name="Rectangle 17"/>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channel does each segment genuinely pay attention to, and does the current "one deck" plan reach it?</a:t>
            </a:r>
          </a:p>
        </p:txBody>
      </p:sp>
      <p:sp>
        <p:nvSpPr>
          <p:cNvPr id="23" name="Rectangle 22"/>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7" name="TextBox 26"/>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If you only had budget to fully tailor one segment's message this month, which would you choose — and why?</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LU1 · T2 · ACTIVITY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Audience Mapping Workshop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10" name="TextBox 9"/>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Which audience did your table initially lump together with another — and what made you split them apart?</a:t>
            </a:r>
          </a:p>
          <a:p>
            <a:pPr>
              <a:spcAft>
                <a:spcPts val="900"/>
              </a:spcAft>
            </a:pPr>
            <a:r>
              <a:rPr sz="1450" b="0">
                <a:solidFill>
                  <a:srgbClr val="161B26"/>
                </a:solidFill>
                <a:latin typeface="Arial"/>
              </a:rPr>
              <a:t>•  Was a channel choice driven by what's easy for Nimbus to produce, or by where the audience actually spends attention?</a:t>
            </a:r>
          </a:p>
          <a:p>
            <a:pPr>
              <a:spcAft>
                <a:spcPts val="900"/>
              </a:spcAft>
            </a:pPr>
            <a:r>
              <a:rPr sz="1450" b="0">
                <a:solidFill>
                  <a:srgbClr val="161B26"/>
                </a:solidFill>
                <a:latin typeface="Arial"/>
              </a:rPr>
              <a:t>•  How would your messaging change if the lifestyle press turned out to be sceptical rather than curious about the relaunch?</a:t>
            </a:r>
          </a:p>
        </p:txBody>
      </p:sp>
      <p:sp>
        <p:nvSpPr>
          <p:cNvPr id="11" name="Rectangle 10"/>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3" name="TextBox 12"/>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Every group can show a matrix with a tailored key message and a named primary channel for all four segments, and can explain in one sentence why each message differs from the others.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29984"/>
            <a:ext cx="12191695" cy="128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468880"/>
            <a:ext cx="10332720" cy="2011680"/>
          </a:xfrm>
          <a:prstGeom prst="rect">
            <a:avLst/>
          </a:prstGeom>
          <a:noFill/>
        </p:spPr>
        <p:txBody>
          <a:bodyPr wrap="square" anchor="ctr">
            <a:spAutoFit/>
          </a:bodyPr>
          <a:lstStyle/>
          <a:p>
            <a:pPr algn="l">
              <a:spcAft>
                <a:spcPts val="400"/>
              </a:spcAft>
            </a:pPr>
            <a:r>
              <a:rPr sz="2100" b="1">
                <a:solidFill>
                  <a:srgbClr val="161B26"/>
                </a:solidFill>
                <a:latin typeface="Arial"/>
              </a:rPr>
              <a:t>Draft branding designs and ideas highlighting the product or service's attributes and benefits</a:t>
            </a:r>
          </a:p>
        </p:txBody>
      </p:sp>
      <p:sp>
        <p:nvSpPr>
          <p:cNvPr id="6" name="TextBox 5"/>
          <p:cNvSpPr txBox="1"/>
          <p:nvPr/>
        </p:nvSpPr>
        <p:spPr>
          <a:xfrm>
            <a:off x="914400" y="1965960"/>
            <a:ext cx="10332720" cy="457200"/>
          </a:xfrm>
          <a:prstGeom prst="rect">
            <a:avLst/>
          </a:prstGeom>
          <a:noFill/>
        </p:spPr>
        <p:txBody>
          <a:bodyPr wrap="square" anchor="t">
            <a:spAutoFit/>
          </a:bodyPr>
          <a:lstStyle/>
          <a:p>
            <a:pPr algn="l">
              <a:spcAft>
                <a:spcPts val="400"/>
              </a:spcAft>
            </a:pPr>
            <a:r>
              <a:rPr sz="1500" b="1">
                <a:solidFill>
                  <a:srgbClr val="10B981"/>
                </a:solidFill>
                <a:latin typeface="Arial"/>
              </a:rPr>
              <a:t>LO1 · LU1 · T3</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What is Draft branding designs and ideas highlighting the product or service's attributes and benefits?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Brand Strategy</a:t>
            </a:r>
          </a:p>
          <a:p>
            <a:pPr algn="l">
              <a:spcAft>
                <a:spcPts val="300"/>
              </a:spcAft>
            </a:pPr>
            <a:r>
              <a:rPr sz="1200" b="0">
                <a:solidFill>
                  <a:srgbClr val="5B6372"/>
                </a:solidFill>
                <a:latin typeface="Arial"/>
              </a:rPr>
              <a:t>Defines the unique selling proposition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Visual Identity</a:t>
            </a:r>
          </a:p>
          <a:p>
            <a:pPr algn="l">
              <a:spcAft>
                <a:spcPts val="300"/>
              </a:spcAft>
            </a:pPr>
            <a:r>
              <a:rPr sz="1200" b="0">
                <a:solidFill>
                  <a:srgbClr val="5B6372"/>
                </a:solidFill>
                <a:latin typeface="Arial"/>
              </a:rPr>
              <a:t>Builds a recognisable design system</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Value Communication</a:t>
            </a:r>
          </a:p>
          <a:p>
            <a:pPr algn="l">
              <a:spcAft>
                <a:spcPts val="300"/>
              </a:spcAft>
            </a:pPr>
            <a:r>
              <a:rPr sz="1200" b="0">
                <a:solidFill>
                  <a:srgbClr val="5B6372"/>
                </a:solidFill>
                <a:latin typeface="Arial"/>
              </a:rPr>
              <a:t>Translates features into benefits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Consistency</a:t>
            </a:r>
          </a:p>
          <a:p>
            <a:pPr algn="l">
              <a:spcAft>
                <a:spcPts val="300"/>
              </a:spcAft>
            </a:pPr>
            <a:r>
              <a:rPr sz="1200" b="0">
                <a:solidFill>
                  <a:srgbClr val="5B6372"/>
                </a:solidFill>
                <a:latin typeface="Arial"/>
              </a:rPr>
              <a:t>One brand experience, every touchpoint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
        <p:nvSpPr>
          <p:cNvPr id="30" name="TextBox 29"/>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brand strategy &amp; identity practice</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LU1 · T3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Systematic Brand Development Process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3361944"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129028"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29028"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429000"/>
            <a:ext cx="3105912" cy="365760"/>
          </a:xfrm>
          <a:prstGeom prst="rect">
            <a:avLst/>
          </a:prstGeom>
          <a:noFill/>
        </p:spPr>
        <p:txBody>
          <a:bodyPr wrap="square" anchor="t">
            <a:spAutoFit/>
          </a:bodyPr>
          <a:lstStyle/>
          <a:p>
            <a:pPr algn="ctr">
              <a:spcAft>
                <a:spcPts val="400"/>
              </a:spcAft>
            </a:pPr>
            <a:r>
              <a:rPr sz="1250" b="1">
                <a:solidFill>
                  <a:srgbClr val="161B26"/>
                </a:solidFill>
                <a:latin typeface="Arial"/>
              </a:rPr>
              <a:t>Define Strategy</a:t>
            </a:r>
          </a:p>
        </p:txBody>
      </p:sp>
      <p:sp>
        <p:nvSpPr>
          <p:cNvPr id="12" name="TextBox 11"/>
          <p:cNvSpPr txBox="1"/>
          <p:nvPr/>
        </p:nvSpPr>
        <p:spPr>
          <a:xfrm>
            <a:off x="905256" y="3813048"/>
            <a:ext cx="3105912" cy="1280160"/>
          </a:xfrm>
          <a:prstGeom prst="rect">
            <a:avLst/>
          </a:prstGeom>
          <a:noFill/>
        </p:spPr>
        <p:txBody>
          <a:bodyPr wrap="square" anchor="t">
            <a:spAutoFit/>
          </a:bodyPr>
          <a:lstStyle/>
          <a:p>
            <a:pPr algn="ctr">
              <a:spcAft>
                <a:spcPts val="400"/>
              </a:spcAft>
            </a:pPr>
            <a:r>
              <a:rPr sz="1050" b="0">
                <a:solidFill>
                  <a:srgbClr val="5B6372"/>
                </a:solidFill>
                <a:latin typeface="Arial"/>
              </a:rPr>
              <a:t>Establish the brand positioning framework.</a:t>
            </a:r>
          </a:p>
        </p:txBody>
      </p:sp>
      <p:sp>
        <p:nvSpPr>
          <p:cNvPr id="13" name="TextBox 12"/>
          <p:cNvSpPr txBox="1"/>
          <p:nvPr/>
        </p:nvSpPr>
        <p:spPr>
          <a:xfrm>
            <a:off x="4120896"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4" name="Rectangle 13"/>
          <p:cNvSpPr/>
          <p:nvPr/>
        </p:nvSpPr>
        <p:spPr>
          <a:xfrm>
            <a:off x="4413504" y="2331720"/>
            <a:ext cx="3361944"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13504" y="2331720"/>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765292"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765292"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4541520" y="3429000"/>
            <a:ext cx="3105912" cy="365760"/>
          </a:xfrm>
          <a:prstGeom prst="rect">
            <a:avLst/>
          </a:prstGeom>
          <a:noFill/>
        </p:spPr>
        <p:txBody>
          <a:bodyPr wrap="square" anchor="t">
            <a:spAutoFit/>
          </a:bodyPr>
          <a:lstStyle/>
          <a:p>
            <a:pPr algn="ctr">
              <a:spcAft>
                <a:spcPts val="400"/>
              </a:spcAft>
            </a:pPr>
            <a:r>
              <a:rPr sz="1250" b="1">
                <a:solidFill>
                  <a:srgbClr val="161B26"/>
                </a:solidFill>
                <a:latin typeface="Arial"/>
              </a:rPr>
              <a:t>Research Industry</a:t>
            </a:r>
          </a:p>
        </p:txBody>
      </p:sp>
      <p:sp>
        <p:nvSpPr>
          <p:cNvPr id="19" name="TextBox 18"/>
          <p:cNvSpPr txBox="1"/>
          <p:nvPr/>
        </p:nvSpPr>
        <p:spPr>
          <a:xfrm>
            <a:off x="4541520" y="3813048"/>
            <a:ext cx="3105912" cy="1280160"/>
          </a:xfrm>
          <a:prstGeom prst="rect">
            <a:avLst/>
          </a:prstGeom>
          <a:noFill/>
        </p:spPr>
        <p:txBody>
          <a:bodyPr wrap="square" anchor="t">
            <a:spAutoFit/>
          </a:bodyPr>
          <a:lstStyle/>
          <a:p>
            <a:pPr algn="ctr">
              <a:spcAft>
                <a:spcPts val="400"/>
              </a:spcAft>
            </a:pPr>
            <a:r>
              <a:rPr sz="1050" b="0">
                <a:solidFill>
                  <a:srgbClr val="5B6372"/>
                </a:solidFill>
                <a:latin typeface="Arial"/>
              </a:rPr>
              <a:t>Analyse competitors and the target audience.</a:t>
            </a:r>
          </a:p>
        </p:txBody>
      </p:sp>
      <p:sp>
        <p:nvSpPr>
          <p:cNvPr id="20" name="TextBox 19"/>
          <p:cNvSpPr txBox="1"/>
          <p:nvPr/>
        </p:nvSpPr>
        <p:spPr>
          <a:xfrm>
            <a:off x="7757160"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1" name="Rectangle 20"/>
          <p:cNvSpPr/>
          <p:nvPr/>
        </p:nvSpPr>
        <p:spPr>
          <a:xfrm>
            <a:off x="8049768" y="2331720"/>
            <a:ext cx="3361944"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49768" y="2331720"/>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401556"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01556"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8177784" y="3429000"/>
            <a:ext cx="3105912" cy="365760"/>
          </a:xfrm>
          <a:prstGeom prst="rect">
            <a:avLst/>
          </a:prstGeom>
          <a:noFill/>
        </p:spPr>
        <p:txBody>
          <a:bodyPr wrap="square" anchor="t">
            <a:spAutoFit/>
          </a:bodyPr>
          <a:lstStyle/>
          <a:p>
            <a:pPr algn="ctr">
              <a:spcAft>
                <a:spcPts val="400"/>
              </a:spcAft>
            </a:pPr>
            <a:r>
              <a:rPr sz="1250" b="1">
                <a:solidFill>
                  <a:srgbClr val="161B26"/>
                </a:solidFill>
                <a:latin typeface="Arial"/>
              </a:rPr>
              <a:t>Identify Attributes</a:t>
            </a:r>
          </a:p>
        </p:txBody>
      </p:sp>
      <p:sp>
        <p:nvSpPr>
          <p:cNvPr id="26" name="TextBox 25"/>
          <p:cNvSpPr txBox="1"/>
          <p:nvPr/>
        </p:nvSpPr>
        <p:spPr>
          <a:xfrm>
            <a:off x="8177784" y="3813048"/>
            <a:ext cx="3105912" cy="1280160"/>
          </a:xfrm>
          <a:prstGeom prst="rect">
            <a:avLst/>
          </a:prstGeom>
          <a:noFill/>
        </p:spPr>
        <p:txBody>
          <a:bodyPr wrap="square" anchor="t">
            <a:spAutoFit/>
          </a:bodyPr>
          <a:lstStyle/>
          <a:p>
            <a:pPr algn="ctr">
              <a:spcAft>
                <a:spcPts val="400"/>
              </a:spcAft>
            </a:pPr>
            <a:r>
              <a:rPr sz="1050" b="0">
                <a:solidFill>
                  <a:srgbClr val="5B6372"/>
                </a:solidFill>
                <a:latin typeface="Arial"/>
              </a:rPr>
              <a:t>Define the hard and soft characteristics to lead with.</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T3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Hard vs Soft Brand Attributes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Hard Attributes — Features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Soft Attributes — Feelings</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Performance — quantifiable product capabilities</a:t>
            </a:r>
          </a:p>
          <a:p>
            <a:pPr>
              <a:spcAft>
                <a:spcPts val="1000"/>
              </a:spcAft>
            </a:pPr>
            <a:r>
              <a:rPr sz="1600" b="0">
                <a:solidFill>
                  <a:srgbClr val="161B26"/>
                </a:solidFill>
                <a:latin typeface="Arial"/>
              </a:rPr>
              <a:t>•  Features — specific functional elements</a:t>
            </a:r>
          </a:p>
          <a:p>
            <a:pPr>
              <a:spcAft>
                <a:spcPts val="1000"/>
              </a:spcAft>
            </a:pPr>
            <a:r>
              <a:rPr sz="1600" b="0">
                <a:solidFill>
                  <a:srgbClr val="161B26"/>
                </a:solidFill>
                <a:latin typeface="Arial"/>
              </a:rPr>
              <a:t>•  Quality — measurable build/ingredient standards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Prestige — perceived status and craft</a:t>
            </a:r>
          </a:p>
          <a:p>
            <a:pPr>
              <a:spcAft>
                <a:spcPts val="1000"/>
              </a:spcAft>
            </a:pPr>
            <a:r>
              <a:rPr sz="1600" b="0">
                <a:solidFill>
                  <a:srgbClr val="161B26"/>
                </a:solidFill>
                <a:latin typeface="Arial"/>
              </a:rPr>
              <a:t>•  Trust — reliability and confidence</a:t>
            </a:r>
          </a:p>
          <a:p>
            <a:pPr>
              <a:spcAft>
                <a:spcPts val="1000"/>
              </a:spcAft>
            </a:pPr>
            <a:r>
              <a:rPr sz="1600" b="0">
                <a:solidFill>
                  <a:srgbClr val="161B26"/>
                </a:solidFill>
                <a:latin typeface="Arial"/>
              </a:rPr>
              <a:t>•  Belonging — the feeling of being genuinely known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
        <p:nvSpPr>
          <p:cNvPr id="16" name="TextBox 15"/>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hard/soft brand-attribute framework</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T3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Keller's Customer-Based Brand Equity Pyramid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Salience — Identity</a:t>
            </a:r>
          </a:p>
          <a:p>
            <a:pPr algn="l">
              <a:spcAft>
                <a:spcPts val="300"/>
              </a:spcAft>
            </a:pPr>
            <a:r>
              <a:rPr sz="1200" b="0">
                <a:solidFill>
                  <a:srgbClr val="5B6372"/>
                </a:solidFill>
                <a:latin typeface="Arial"/>
              </a:rPr>
              <a:t>Is the brand noticed, and easily recalled, at all?</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Performance &amp; Imagery — Meaning</a:t>
            </a:r>
          </a:p>
          <a:p>
            <a:pPr algn="l">
              <a:spcAft>
                <a:spcPts val="300"/>
              </a:spcAft>
            </a:pPr>
            <a:r>
              <a:rPr sz="1200" b="0">
                <a:solidFill>
                  <a:srgbClr val="5B6372"/>
                </a:solidFill>
                <a:latin typeface="Arial"/>
              </a:rPr>
              <a:t>What the product does, and the lifestyle it signals.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Judgments &amp; Feelings — Response</a:t>
            </a:r>
          </a:p>
          <a:p>
            <a:pPr algn="l">
              <a:spcAft>
                <a:spcPts val="300"/>
              </a:spcAft>
            </a:pPr>
            <a:r>
              <a:rPr sz="1200" b="0">
                <a:solidFill>
                  <a:srgbClr val="5B6372"/>
                </a:solidFill>
                <a:latin typeface="Arial"/>
              </a:rPr>
              <a:t>The customer's rational verdict and emotional reaction.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Resonance — Relationships</a:t>
            </a:r>
          </a:p>
          <a:p>
            <a:pPr algn="l">
              <a:spcAft>
                <a:spcPts val="300"/>
              </a:spcAft>
            </a:pPr>
            <a:r>
              <a:rPr sz="1200" b="0">
                <a:solidFill>
                  <a:srgbClr val="5B6372"/>
                </a:solidFill>
                <a:latin typeface="Arial"/>
              </a:rPr>
              <a:t>Deep loyalty — the customer becomes an active advocate.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
        <p:nvSpPr>
          <p:cNvPr id="30" name="TextBox 29"/>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Keller, K.L. — Customer-Based Brand Equity (CBBE) Model, Strategic Brand Management</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T3 · REAL-WORLD EXAMPLE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Hard Specs Sold as a Soft Feeling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206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28016" cy="42062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97280" y="2103120"/>
            <a:ext cx="2834640"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103120"/>
            <a:ext cx="2834640" cy="502920"/>
          </a:xfrm>
          <a:prstGeom prst="rect">
            <a:avLst/>
          </a:prstGeom>
          <a:noFill/>
        </p:spPr>
        <p:txBody>
          <a:bodyPr wrap="square" anchor="ctr">
            <a:spAutoFit/>
          </a:bodyPr>
          <a:lstStyle/>
          <a:p>
            <a:pPr algn="ctr">
              <a:spcAft>
                <a:spcPts val="400"/>
              </a:spcAft>
            </a:pPr>
            <a:r>
              <a:rPr sz="1300" b="1">
                <a:solidFill>
                  <a:srgbClr val="FFFFFF"/>
                </a:solidFill>
                <a:latin typeface="Arial"/>
              </a:rPr>
              <a:t>REAL-WORLD EXAMPLE</a:t>
            </a:r>
          </a:p>
        </p:txBody>
      </p:sp>
      <p:sp>
        <p:nvSpPr>
          <p:cNvPr id="11" name="TextBox 10"/>
          <p:cNvSpPr txBox="1"/>
          <p:nvPr/>
        </p:nvSpPr>
        <p:spPr>
          <a:xfrm>
            <a:off x="1097280" y="2880360"/>
            <a:ext cx="9966960" cy="640080"/>
          </a:xfrm>
          <a:prstGeom prst="rect">
            <a:avLst/>
          </a:prstGeom>
          <a:noFill/>
        </p:spPr>
        <p:txBody>
          <a:bodyPr wrap="square" anchor="t">
            <a:spAutoFit/>
          </a:bodyPr>
          <a:lstStyle/>
          <a:p>
            <a:pPr algn="l">
              <a:spcAft>
                <a:spcPts val="400"/>
              </a:spcAft>
            </a:pPr>
            <a:r>
              <a:rPr sz="2600" b="1">
                <a:solidFill>
                  <a:srgbClr val="161B26"/>
                </a:solidFill>
                <a:latin typeface="Arial"/>
              </a:rPr>
              <a:t>Apple</a:t>
            </a:r>
          </a:p>
        </p:txBody>
      </p:sp>
      <p:sp>
        <p:nvSpPr>
          <p:cNvPr id="12" name="TextBox 11"/>
          <p:cNvSpPr txBox="1"/>
          <p:nvPr/>
        </p:nvSpPr>
        <p:spPr>
          <a:xfrm>
            <a:off x="1097280" y="3611880"/>
            <a:ext cx="9966960" cy="2194560"/>
          </a:xfrm>
          <a:prstGeom prst="rect">
            <a:avLst/>
          </a:prstGeom>
          <a:noFill/>
        </p:spPr>
        <p:txBody>
          <a:bodyPr wrap="square" anchor="t">
            <a:spAutoFit/>
          </a:bodyPr>
          <a:lstStyle/>
          <a:p>
            <a:pPr algn="l">
              <a:spcAft>
                <a:spcPts val="400"/>
              </a:spcAft>
            </a:pPr>
            <a:r>
              <a:rPr sz="1600" b="0">
                <a:solidFill>
                  <a:srgbClr val="5B6372"/>
                </a:solidFill>
                <a:latin typeface="Arial"/>
              </a:rPr>
              <a:t>"Designed by Apple in California" turns a hard attribute (where it's engineered) into a soft one (craft, care, exclusivity) — the same discipline Nimbus needs to turn "3 clinically-tested actives" into "your skin, genuinely cared for."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LU1 · T3 · ACTIVITY 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Brand Attribute Mapping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CASE STUDY</a:t>
            </a:r>
          </a:p>
        </p:txBody>
      </p:sp>
      <p:sp>
        <p:nvSpPr>
          <p:cNvPr id="9" name="Rectangle 8"/>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2" name="TextBox 11"/>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For the relaunch, the founder wants one page that finally settles what Nimbus stands for — because right now the brand isn't described the same way twice. Retail calls it "affordable self-care." Marketing calls it "clean beauty for real skin." Customer Service calls it "the brand that actually replies."</a:t>
            </a:r>
          </a:p>
          <a:p>
            <a:pPr algn="l">
              <a:spcAft>
                <a:spcPts val="800"/>
              </a:spcAft>
            </a:pPr>
            <a:r>
              <a:rPr sz="1450" b="0">
                <a:solidFill>
                  <a:srgbClr val="161B26"/>
                </a:solidFill>
                <a:latin typeface="Arial"/>
              </a:rPr>
              <a:t>Your table must map Nimbus's hard attributes (the real product facts) and soft attributes (the feelings those facts create) into one brand concept the founder can approve — and that all three teams could say in their own words.</a:t>
            </a:r>
          </a:p>
        </p:txBody>
      </p:sp>
      <p:sp>
        <p:nvSpPr>
          <p:cNvPr id="13" name="Rectangle 12"/>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 brand attribute map (3 hard + 3 soft attributes) linked to one approved brand concept line</a:t>
            </a:r>
          </a:p>
        </p:txBody>
      </p:sp>
      <p:sp>
        <p:nvSpPr>
          <p:cNvPr id="15" name="TextBox 14"/>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30 minutes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LU1 · T3 · ACTIVITY 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Brand Attribute Mapping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8" name="Rectangle 7"/>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2" name="TextBox 11"/>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are three hard attributes (measurable facts) Nimbus can genuinely claim about its skincare range?</a:t>
            </a:r>
          </a:p>
        </p:txBody>
      </p:sp>
      <p:sp>
        <p:nvSpPr>
          <p:cNvPr id="13" name="Rectangle 12"/>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7" name="TextBox 16"/>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soft attribute — the feeling — does each hard attribute actually create, and is it the same feeling Retail, Marketing and Customer Service currently describe?</a:t>
            </a:r>
          </a:p>
        </p:txBody>
      </p:sp>
      <p:sp>
        <p:nvSpPr>
          <p:cNvPr id="18" name="Rectangle 17"/>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Using Keller's Brand Equity Pyramid, which level is Nimbus weakest at right now: being noticed (Salience), understood (Performance/Imagery), felt (Judgments/Feelings), or trusted enough to be recommended (Resonance)?</a:t>
            </a:r>
          </a:p>
        </p:txBody>
      </p:sp>
      <p:sp>
        <p:nvSpPr>
          <p:cNvPr id="23" name="Rectangle 22"/>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7" name="TextBox 26"/>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single brand concept line could the founder approve that all three teams could restate consistently?</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LU1 · T3 · ACTIVITY 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Brand Attribute Mapping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10" name="TextBox 9"/>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Was it harder for your table to agree on the hard attributes or the soft attributes — and why?</a:t>
            </a:r>
          </a:p>
          <a:p>
            <a:pPr>
              <a:spcAft>
                <a:spcPts val="900"/>
              </a:spcAft>
            </a:pPr>
            <a:r>
              <a:rPr sz="1450" b="0">
                <a:solidFill>
                  <a:srgbClr val="161B26"/>
                </a:solidFill>
                <a:latin typeface="Arial"/>
              </a:rPr>
              <a:t>•  Which pyramid level did your table disagree about the most?</a:t>
            </a:r>
          </a:p>
          <a:p>
            <a:pPr>
              <a:spcAft>
                <a:spcPts val="900"/>
              </a:spcAft>
            </a:pPr>
            <a:r>
              <a:rPr sz="1450" b="0">
                <a:solidFill>
                  <a:srgbClr val="161B26"/>
                </a:solidFill>
                <a:latin typeface="Arial"/>
              </a:rPr>
              <a:t>•  If a customer only ever experienced Nimbus through a five-minute Customer Service chat, which attribute would that conversation need to prove true?</a:t>
            </a:r>
          </a:p>
        </p:txBody>
      </p:sp>
      <p:sp>
        <p:nvSpPr>
          <p:cNvPr id="11" name="Rectangle 10"/>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3" name="TextBox 12"/>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Every group can show 3 hard + 3 soft attributes connected to one brand concept line, and can name the CBBE pyramid level the concept is designed to strengthen.</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29984"/>
            <a:ext cx="12191695" cy="128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468880"/>
            <a:ext cx="10332720" cy="2011680"/>
          </a:xfrm>
          <a:prstGeom prst="rect">
            <a:avLst/>
          </a:prstGeom>
          <a:noFill/>
        </p:spPr>
        <p:txBody>
          <a:bodyPr wrap="square" anchor="ctr">
            <a:spAutoFit/>
          </a:bodyPr>
          <a:lstStyle/>
          <a:p>
            <a:pPr algn="l">
              <a:spcAft>
                <a:spcPts val="400"/>
              </a:spcAft>
            </a:pPr>
            <a:r>
              <a:rPr sz="2500" b="1">
                <a:solidFill>
                  <a:srgbClr val="161B26"/>
                </a:solidFill>
                <a:latin typeface="Arial"/>
              </a:rPr>
              <a:t>Assess organisation's reputation on social media and other platforms</a:t>
            </a:r>
          </a:p>
        </p:txBody>
      </p:sp>
      <p:sp>
        <p:nvSpPr>
          <p:cNvPr id="6" name="TextBox 5"/>
          <p:cNvSpPr txBox="1"/>
          <p:nvPr/>
        </p:nvSpPr>
        <p:spPr>
          <a:xfrm>
            <a:off x="914400" y="1965960"/>
            <a:ext cx="10332720" cy="457200"/>
          </a:xfrm>
          <a:prstGeom prst="rect">
            <a:avLst/>
          </a:prstGeom>
          <a:noFill/>
        </p:spPr>
        <p:txBody>
          <a:bodyPr wrap="square" anchor="t">
            <a:spAutoFit/>
          </a:bodyPr>
          <a:lstStyle/>
          <a:p>
            <a:pPr algn="l">
              <a:spcAft>
                <a:spcPts val="400"/>
              </a:spcAft>
            </a:pPr>
            <a:r>
              <a:rPr sz="1500" b="1">
                <a:solidFill>
                  <a:srgbClr val="10B981"/>
                </a:solidFill>
                <a:latin typeface="Arial"/>
              </a:rPr>
              <a:t>LO1 · LU1 · T4</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What is Assess organisation's reputation on social media and other platforms?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Brand Monitoring</a:t>
            </a:r>
          </a:p>
          <a:p>
            <a:pPr algn="l">
              <a:spcAft>
                <a:spcPts val="300"/>
              </a:spcAft>
            </a:pPr>
            <a:r>
              <a:rPr sz="1200" b="0">
                <a:solidFill>
                  <a:srgbClr val="5B6372"/>
                </a:solidFill>
                <a:latin typeface="Arial"/>
              </a:rPr>
              <a:t>Tracks mentions across digital platforms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Sentiment Analysis</a:t>
            </a:r>
          </a:p>
          <a:p>
            <a:pPr algn="l">
              <a:spcAft>
                <a:spcPts val="300"/>
              </a:spcAft>
            </a:pPr>
            <a:r>
              <a:rPr sz="1200" b="0">
                <a:solidFill>
                  <a:srgbClr val="5B6372"/>
                </a:solidFill>
                <a:latin typeface="Arial"/>
              </a:rPr>
              <a:t>Reads the tone behind customer feedback</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Multi-Platform</a:t>
            </a:r>
          </a:p>
          <a:p>
            <a:pPr algn="l">
              <a:spcAft>
                <a:spcPts val="300"/>
              </a:spcAft>
            </a:pPr>
            <a:r>
              <a:rPr sz="1200" b="0">
                <a:solidFill>
                  <a:srgbClr val="5B6372"/>
                </a:solidFill>
                <a:latin typeface="Arial"/>
              </a:rPr>
              <a:t>Covers every social and review site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Strategic Response</a:t>
            </a:r>
          </a:p>
          <a:p>
            <a:pPr algn="l">
              <a:spcAft>
                <a:spcPts val="300"/>
              </a:spcAft>
            </a:pPr>
            <a:r>
              <a:rPr sz="1200" b="0">
                <a:solidFill>
                  <a:srgbClr val="5B6372"/>
                </a:solidFill>
                <a:latin typeface="Arial"/>
              </a:rPr>
              <a:t>Turns findings into an action plan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
        <p:nvSpPr>
          <p:cNvPr id="30" name="TextBox 29"/>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digital reputation monitoring practice</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LU1 · T4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Reputation Assessment Process Steps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3361944"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129028"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29028"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429000"/>
            <a:ext cx="3105912" cy="365760"/>
          </a:xfrm>
          <a:prstGeom prst="rect">
            <a:avLst/>
          </a:prstGeom>
          <a:noFill/>
        </p:spPr>
        <p:txBody>
          <a:bodyPr wrap="square" anchor="t">
            <a:spAutoFit/>
          </a:bodyPr>
          <a:lstStyle/>
          <a:p>
            <a:pPr algn="ctr">
              <a:spcAft>
                <a:spcPts val="400"/>
              </a:spcAft>
            </a:pPr>
            <a:r>
              <a:rPr sz="1250" b="1">
                <a:solidFill>
                  <a:srgbClr val="161B26"/>
                </a:solidFill>
                <a:latin typeface="Arial"/>
              </a:rPr>
              <a:t>Conduct Audit</a:t>
            </a:r>
          </a:p>
        </p:txBody>
      </p:sp>
      <p:sp>
        <p:nvSpPr>
          <p:cNvPr id="12" name="TextBox 11"/>
          <p:cNvSpPr txBox="1"/>
          <p:nvPr/>
        </p:nvSpPr>
        <p:spPr>
          <a:xfrm>
            <a:off x="905256" y="3813048"/>
            <a:ext cx="3105912" cy="1280160"/>
          </a:xfrm>
          <a:prstGeom prst="rect">
            <a:avLst/>
          </a:prstGeom>
          <a:noFill/>
        </p:spPr>
        <p:txBody>
          <a:bodyPr wrap="square" anchor="t">
            <a:spAutoFit/>
          </a:bodyPr>
          <a:lstStyle/>
          <a:p>
            <a:pPr algn="ctr">
              <a:spcAft>
                <a:spcPts val="400"/>
              </a:spcAft>
            </a:pPr>
            <a:r>
              <a:rPr sz="1050" b="0">
                <a:solidFill>
                  <a:srgbClr val="5B6372"/>
                </a:solidFill>
                <a:latin typeface="Arial"/>
              </a:rPr>
              <a:t>Review the organisation's current digital presence.</a:t>
            </a:r>
          </a:p>
        </p:txBody>
      </p:sp>
      <p:sp>
        <p:nvSpPr>
          <p:cNvPr id="13" name="TextBox 12"/>
          <p:cNvSpPr txBox="1"/>
          <p:nvPr/>
        </p:nvSpPr>
        <p:spPr>
          <a:xfrm>
            <a:off x="4120896"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4" name="Rectangle 13"/>
          <p:cNvSpPr/>
          <p:nvPr/>
        </p:nvSpPr>
        <p:spPr>
          <a:xfrm>
            <a:off x="4413504" y="2331720"/>
            <a:ext cx="3361944"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13504" y="2331720"/>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765292"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765292"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4541520" y="3429000"/>
            <a:ext cx="3105912" cy="365760"/>
          </a:xfrm>
          <a:prstGeom prst="rect">
            <a:avLst/>
          </a:prstGeom>
          <a:noFill/>
        </p:spPr>
        <p:txBody>
          <a:bodyPr wrap="square" anchor="t">
            <a:spAutoFit/>
          </a:bodyPr>
          <a:lstStyle/>
          <a:p>
            <a:pPr algn="ctr">
              <a:spcAft>
                <a:spcPts val="400"/>
              </a:spcAft>
            </a:pPr>
            <a:r>
              <a:rPr sz="1250" b="1">
                <a:solidFill>
                  <a:srgbClr val="161B26"/>
                </a:solidFill>
                <a:latin typeface="Arial"/>
              </a:rPr>
              <a:t>Set Monitoring</a:t>
            </a:r>
          </a:p>
        </p:txBody>
      </p:sp>
      <p:sp>
        <p:nvSpPr>
          <p:cNvPr id="19" name="TextBox 18"/>
          <p:cNvSpPr txBox="1"/>
          <p:nvPr/>
        </p:nvSpPr>
        <p:spPr>
          <a:xfrm>
            <a:off x="4541520" y="3813048"/>
            <a:ext cx="3105912" cy="1280160"/>
          </a:xfrm>
          <a:prstGeom prst="rect">
            <a:avLst/>
          </a:prstGeom>
          <a:noFill/>
        </p:spPr>
        <p:txBody>
          <a:bodyPr wrap="square" anchor="t">
            <a:spAutoFit/>
          </a:bodyPr>
          <a:lstStyle/>
          <a:p>
            <a:pPr algn="ctr">
              <a:spcAft>
                <a:spcPts val="400"/>
              </a:spcAft>
            </a:pPr>
            <a:r>
              <a:rPr sz="1050" b="0">
                <a:solidFill>
                  <a:srgbClr val="5B6372"/>
                </a:solidFill>
                <a:latin typeface="Arial"/>
              </a:rPr>
              <a:t>Implement tracking systems across the chosen platforms.</a:t>
            </a:r>
          </a:p>
        </p:txBody>
      </p:sp>
      <p:sp>
        <p:nvSpPr>
          <p:cNvPr id="20" name="TextBox 19"/>
          <p:cNvSpPr txBox="1"/>
          <p:nvPr/>
        </p:nvSpPr>
        <p:spPr>
          <a:xfrm>
            <a:off x="7757160"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1" name="Rectangle 20"/>
          <p:cNvSpPr/>
          <p:nvPr/>
        </p:nvSpPr>
        <p:spPr>
          <a:xfrm>
            <a:off x="8049768" y="2331720"/>
            <a:ext cx="3361944"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49768" y="2331720"/>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401556"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01556"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8177784" y="3429000"/>
            <a:ext cx="3105912" cy="365760"/>
          </a:xfrm>
          <a:prstGeom prst="rect">
            <a:avLst/>
          </a:prstGeom>
          <a:noFill/>
        </p:spPr>
        <p:txBody>
          <a:bodyPr wrap="square" anchor="t">
            <a:spAutoFit/>
          </a:bodyPr>
          <a:lstStyle/>
          <a:p>
            <a:pPr algn="ctr">
              <a:spcAft>
                <a:spcPts val="400"/>
              </a:spcAft>
            </a:pPr>
            <a:r>
              <a:rPr sz="1250" b="1">
                <a:solidFill>
                  <a:srgbClr val="161B26"/>
                </a:solidFill>
                <a:latin typeface="Arial"/>
              </a:rPr>
              <a:t>Analyse Sentiment</a:t>
            </a:r>
          </a:p>
        </p:txBody>
      </p:sp>
      <p:sp>
        <p:nvSpPr>
          <p:cNvPr id="26" name="TextBox 25"/>
          <p:cNvSpPr txBox="1"/>
          <p:nvPr/>
        </p:nvSpPr>
        <p:spPr>
          <a:xfrm>
            <a:off x="8177784" y="3813048"/>
            <a:ext cx="3105912" cy="1280160"/>
          </a:xfrm>
          <a:prstGeom prst="rect">
            <a:avLst/>
          </a:prstGeom>
          <a:noFill/>
        </p:spPr>
        <p:txBody>
          <a:bodyPr wrap="square" anchor="t">
            <a:spAutoFit/>
          </a:bodyPr>
          <a:lstStyle/>
          <a:p>
            <a:pPr algn="ctr">
              <a:spcAft>
                <a:spcPts val="400"/>
              </a:spcAft>
            </a:pPr>
            <a:r>
              <a:rPr sz="1050" b="0">
                <a:solidFill>
                  <a:srgbClr val="5B6372"/>
                </a:solidFill>
                <a:latin typeface="Arial"/>
              </a:rPr>
              <a:t>Evaluate the tone of customer feedback.</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T4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Reactive vs Proactive Reputation Monitoring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Reactive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Proactive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Damage Control — Crisis-response focus, after the fact</a:t>
            </a:r>
          </a:p>
          <a:p>
            <a:pPr>
              <a:spcAft>
                <a:spcPts val="1000"/>
              </a:spcAft>
            </a:pPr>
            <a:r>
              <a:rPr sz="1600" b="0">
                <a:solidFill>
                  <a:srgbClr val="161B26"/>
                </a:solidFill>
                <a:latin typeface="Arial"/>
              </a:rPr>
              <a:t>•  Post-Issue — Action only once problems occur</a:t>
            </a:r>
          </a:p>
          <a:p>
            <a:pPr>
              <a:spcAft>
                <a:spcPts val="1000"/>
              </a:spcAft>
            </a:pPr>
            <a:r>
              <a:rPr sz="1600" b="0">
                <a:solidFill>
                  <a:srgbClr val="161B26"/>
                </a:solidFill>
                <a:latin typeface="Arial"/>
              </a:rPr>
              <a:t>•  High Risk — Damage is already visible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Prevention Focus — Early issue identification</a:t>
            </a:r>
          </a:p>
          <a:p>
            <a:pPr>
              <a:spcAft>
                <a:spcPts val="1000"/>
              </a:spcAft>
            </a:pPr>
            <a:r>
              <a:rPr sz="1600" b="0">
                <a:solidFill>
                  <a:srgbClr val="161B26"/>
                </a:solidFill>
                <a:latin typeface="Arial"/>
              </a:rPr>
              <a:t>•  Continuous Tracking — Ongoing brand monitoring</a:t>
            </a:r>
          </a:p>
          <a:p>
            <a:pPr>
              <a:spcAft>
                <a:spcPts val="1000"/>
              </a:spcAft>
            </a:pPr>
            <a:r>
              <a:rPr sz="1600" b="0">
                <a:solidFill>
                  <a:srgbClr val="161B26"/>
                </a:solidFill>
                <a:latin typeface="Arial"/>
              </a:rPr>
              <a:t>•  Risk Mitigation — Caught before it spreads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
        <p:nvSpPr>
          <p:cNvPr id="16" name="TextBox 15"/>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reputation-monitoring best practice</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T4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Platform Distribution Statistics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3300984" cy="2834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40280"/>
            <a:ext cx="3300984"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651760"/>
            <a:ext cx="3300984" cy="1188720"/>
          </a:xfrm>
          <a:prstGeom prst="rect">
            <a:avLst/>
          </a:prstGeom>
          <a:noFill/>
        </p:spPr>
        <p:txBody>
          <a:bodyPr wrap="square" anchor="t">
            <a:spAutoFit/>
          </a:bodyPr>
          <a:lstStyle/>
          <a:p>
            <a:pPr algn="ctr">
              <a:spcAft>
                <a:spcPts val="400"/>
              </a:spcAft>
            </a:pPr>
            <a:r>
              <a:rPr sz="4400" b="1">
                <a:solidFill>
                  <a:srgbClr val="1F6FEB"/>
                </a:solidFill>
                <a:latin typeface="Arial"/>
              </a:rPr>
              <a:t>38%</a:t>
            </a:r>
          </a:p>
        </p:txBody>
      </p:sp>
      <p:sp>
        <p:nvSpPr>
          <p:cNvPr id="10" name="TextBox 9"/>
          <p:cNvSpPr txBox="1"/>
          <p:nvPr/>
        </p:nvSpPr>
        <p:spPr>
          <a:xfrm>
            <a:off x="960120" y="3931920"/>
            <a:ext cx="2935224" cy="1005840"/>
          </a:xfrm>
          <a:prstGeom prst="rect">
            <a:avLst/>
          </a:prstGeom>
          <a:noFill/>
        </p:spPr>
        <p:txBody>
          <a:bodyPr wrap="square" anchor="t">
            <a:spAutoFit/>
          </a:bodyPr>
          <a:lstStyle/>
          <a:p>
            <a:pPr algn="ctr">
              <a:spcAft>
                <a:spcPts val="400"/>
              </a:spcAft>
            </a:pPr>
            <a:r>
              <a:rPr sz="1300" b="0">
                <a:solidFill>
                  <a:srgbClr val="161B26"/>
                </a:solidFill>
                <a:latin typeface="Arial"/>
              </a:rPr>
              <a:t>Google</a:t>
            </a:r>
          </a:p>
        </p:txBody>
      </p:sp>
      <p:sp>
        <p:nvSpPr>
          <p:cNvPr id="11" name="Rectangle 10"/>
          <p:cNvSpPr/>
          <p:nvPr/>
        </p:nvSpPr>
        <p:spPr>
          <a:xfrm>
            <a:off x="4443984" y="2240280"/>
            <a:ext cx="3300984" cy="2834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43984" y="2240280"/>
            <a:ext cx="3300984"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3984" y="2651760"/>
            <a:ext cx="3300984" cy="1188720"/>
          </a:xfrm>
          <a:prstGeom prst="rect">
            <a:avLst/>
          </a:prstGeom>
          <a:noFill/>
        </p:spPr>
        <p:txBody>
          <a:bodyPr wrap="square" anchor="t">
            <a:spAutoFit/>
          </a:bodyPr>
          <a:lstStyle/>
          <a:p>
            <a:pPr algn="ctr">
              <a:spcAft>
                <a:spcPts val="400"/>
              </a:spcAft>
            </a:pPr>
            <a:r>
              <a:rPr sz="4400" b="1">
                <a:solidFill>
                  <a:srgbClr val="10B981"/>
                </a:solidFill>
                <a:latin typeface="Arial"/>
              </a:rPr>
              <a:t>38%</a:t>
            </a:r>
          </a:p>
        </p:txBody>
      </p:sp>
      <p:sp>
        <p:nvSpPr>
          <p:cNvPr id="14" name="TextBox 13"/>
          <p:cNvSpPr txBox="1"/>
          <p:nvPr/>
        </p:nvSpPr>
        <p:spPr>
          <a:xfrm>
            <a:off x="4626864" y="3931920"/>
            <a:ext cx="2935224" cy="1005840"/>
          </a:xfrm>
          <a:prstGeom prst="rect">
            <a:avLst/>
          </a:prstGeom>
          <a:noFill/>
        </p:spPr>
        <p:txBody>
          <a:bodyPr wrap="square" anchor="t">
            <a:spAutoFit/>
          </a:bodyPr>
          <a:lstStyle/>
          <a:p>
            <a:pPr algn="ctr">
              <a:spcAft>
                <a:spcPts val="400"/>
              </a:spcAft>
            </a:pPr>
            <a:r>
              <a:rPr sz="1300" b="0">
                <a:solidFill>
                  <a:srgbClr val="161B26"/>
                </a:solidFill>
                <a:latin typeface="Arial"/>
              </a:rPr>
              <a:t>Instagram</a:t>
            </a:r>
          </a:p>
        </p:txBody>
      </p:sp>
      <p:sp>
        <p:nvSpPr>
          <p:cNvPr id="15" name="Rectangle 14"/>
          <p:cNvSpPr/>
          <p:nvPr/>
        </p:nvSpPr>
        <p:spPr>
          <a:xfrm>
            <a:off x="8110728" y="2240280"/>
            <a:ext cx="3300984" cy="2834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10728" y="2240280"/>
            <a:ext cx="3300984"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10728" y="2651760"/>
            <a:ext cx="3300984" cy="1188720"/>
          </a:xfrm>
          <a:prstGeom prst="rect">
            <a:avLst/>
          </a:prstGeom>
          <a:noFill/>
        </p:spPr>
        <p:txBody>
          <a:bodyPr wrap="square" anchor="t">
            <a:spAutoFit/>
          </a:bodyPr>
          <a:lstStyle/>
          <a:p>
            <a:pPr algn="ctr">
              <a:spcAft>
                <a:spcPts val="400"/>
              </a:spcAft>
            </a:pPr>
            <a:r>
              <a:rPr sz="4400" b="1">
                <a:solidFill>
                  <a:srgbClr val="7C3AED"/>
                </a:solidFill>
                <a:latin typeface="Arial"/>
              </a:rPr>
              <a:t>24%</a:t>
            </a:r>
          </a:p>
        </p:txBody>
      </p:sp>
      <p:sp>
        <p:nvSpPr>
          <p:cNvPr id="18" name="TextBox 17"/>
          <p:cNvSpPr txBox="1"/>
          <p:nvPr/>
        </p:nvSpPr>
        <p:spPr>
          <a:xfrm>
            <a:off x="8293608" y="3931920"/>
            <a:ext cx="2935224" cy="1005840"/>
          </a:xfrm>
          <a:prstGeom prst="rect">
            <a:avLst/>
          </a:prstGeom>
          <a:noFill/>
        </p:spPr>
        <p:txBody>
          <a:bodyPr wrap="square" anchor="t">
            <a:spAutoFit/>
          </a:bodyPr>
          <a:lstStyle/>
          <a:p>
            <a:pPr algn="ctr">
              <a:spcAft>
                <a:spcPts val="400"/>
              </a:spcAft>
            </a:pPr>
            <a:r>
              <a:rPr sz="1300" b="0">
                <a:solidFill>
                  <a:srgbClr val="161B26"/>
                </a:solidFill>
                <a:latin typeface="Arial"/>
              </a:rPr>
              <a:t>Other Platforms</a:t>
            </a:r>
          </a:p>
        </p:txBody>
      </p:sp>
      <p:sp>
        <p:nvSpPr>
          <p:cNvPr id="19" name="Rectangle 18"/>
          <p:cNvSpPr/>
          <p:nvPr/>
        </p:nvSpPr>
        <p:spPr>
          <a:xfrm>
            <a:off x="777240" y="5349240"/>
            <a:ext cx="10634472" cy="777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5349240"/>
            <a:ext cx="91440" cy="7772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97280" y="5349240"/>
            <a:ext cx="10058400" cy="777240"/>
          </a:xfrm>
          <a:prstGeom prst="rect">
            <a:avLst/>
          </a:prstGeom>
          <a:noFill/>
        </p:spPr>
        <p:txBody>
          <a:bodyPr wrap="square" anchor="ctr">
            <a:spAutoFit/>
          </a:bodyPr>
          <a:lstStyle/>
          <a:p>
            <a:pPr algn="l">
              <a:spcAft>
                <a:spcPts val="400"/>
              </a:spcAft>
            </a:pPr>
            <a:r>
              <a:rPr sz="1250" b="1">
                <a:solidFill>
                  <a:srgbClr val="161B26"/>
                </a:solidFill>
                <a:latin typeface="Arial"/>
              </a:rPr>
              <a:t>Source: illustrative distribution, digital reputation audits</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LU1 · T4 · REAL-WORLD EXAMPLE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Reviews Are the Reputation, Not Just a Reflection of 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206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28016" cy="42062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97280" y="2103120"/>
            <a:ext cx="2834640"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103120"/>
            <a:ext cx="2834640" cy="502920"/>
          </a:xfrm>
          <a:prstGeom prst="rect">
            <a:avLst/>
          </a:prstGeom>
          <a:noFill/>
        </p:spPr>
        <p:txBody>
          <a:bodyPr wrap="square" anchor="ctr">
            <a:spAutoFit/>
          </a:bodyPr>
          <a:lstStyle/>
          <a:p>
            <a:pPr algn="ctr">
              <a:spcAft>
                <a:spcPts val="400"/>
              </a:spcAft>
            </a:pPr>
            <a:r>
              <a:rPr sz="1300" b="1">
                <a:solidFill>
                  <a:srgbClr val="FFFFFF"/>
                </a:solidFill>
                <a:latin typeface="Arial"/>
              </a:rPr>
              <a:t>REAL-WORLD EXAMPLE</a:t>
            </a:r>
          </a:p>
        </p:txBody>
      </p:sp>
      <p:sp>
        <p:nvSpPr>
          <p:cNvPr id="11" name="TextBox 10"/>
          <p:cNvSpPr txBox="1"/>
          <p:nvPr/>
        </p:nvSpPr>
        <p:spPr>
          <a:xfrm>
            <a:off x="1097280" y="2880360"/>
            <a:ext cx="9966960" cy="640080"/>
          </a:xfrm>
          <a:prstGeom prst="rect">
            <a:avLst/>
          </a:prstGeom>
          <a:noFill/>
        </p:spPr>
        <p:txBody>
          <a:bodyPr wrap="square" anchor="t">
            <a:spAutoFit/>
          </a:bodyPr>
          <a:lstStyle/>
          <a:p>
            <a:pPr algn="l">
              <a:spcAft>
                <a:spcPts val="400"/>
              </a:spcAft>
            </a:pPr>
            <a:r>
              <a:rPr sz="2600" b="1">
                <a:solidFill>
                  <a:srgbClr val="161B26"/>
                </a:solidFill>
                <a:latin typeface="Arial"/>
              </a:rPr>
              <a:t>Airbnb</a:t>
            </a:r>
          </a:p>
        </p:txBody>
      </p:sp>
      <p:sp>
        <p:nvSpPr>
          <p:cNvPr id="12" name="TextBox 11"/>
          <p:cNvSpPr txBox="1"/>
          <p:nvPr/>
        </p:nvSpPr>
        <p:spPr>
          <a:xfrm>
            <a:off x="1097280" y="3611880"/>
            <a:ext cx="9966960" cy="2194560"/>
          </a:xfrm>
          <a:prstGeom prst="rect">
            <a:avLst/>
          </a:prstGeom>
          <a:noFill/>
        </p:spPr>
        <p:txBody>
          <a:bodyPr wrap="square" anchor="t">
            <a:spAutoFit/>
          </a:bodyPr>
          <a:lstStyle/>
          <a:p>
            <a:pPr algn="l">
              <a:spcAft>
                <a:spcPts val="400"/>
              </a:spcAft>
            </a:pPr>
            <a:r>
              <a:rPr sz="1600" b="0">
                <a:solidFill>
                  <a:srgbClr val="5B6372"/>
                </a:solidFill>
                <a:latin typeface="Arial"/>
              </a:rPr>
              <a:t>Airbnb's entire trust model runs on visible, unfiltered reviews — hosts who monitor and respond fast build measurably higher booking rates than hosts who only check in when something goes wrong.</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LU1 · T4 · ACTIVITY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Digital Reputation Audit Exercise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CASE STUDY</a:t>
            </a:r>
          </a:p>
        </p:txBody>
      </p:sp>
      <p:sp>
        <p:nvSpPr>
          <p:cNvPr id="9" name="Rectangle 8"/>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2" name="TextBox 11"/>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Six months ago a competitor's viral campaign pulled attention away from Nimbus Wellness. Since then, engagement has fallen and reviews increasingly say the brand "doesn't feel personal anymore."</a:t>
            </a:r>
          </a:p>
          <a:p>
            <a:pPr algn="l">
              <a:spcAft>
                <a:spcPts val="800"/>
              </a:spcAft>
            </a:pPr>
            <a:r>
              <a:rPr sz="1450" b="0">
                <a:solidFill>
                  <a:srgbClr val="161B26"/>
                </a:solidFill>
                <a:latin typeface="Arial"/>
              </a:rPr>
              <a:t>Before the founder finalises the relaunch brief, leadership wants a clear-eyed audit of where Nimbus's reputation actually stands today — not where the founder assumes it stands.</a:t>
            </a:r>
          </a:p>
        </p:txBody>
      </p:sp>
      <p:sp>
        <p:nvSpPr>
          <p:cNvPr id="13" name="Rectangle 12"/>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 reputation-assessment report (3 platforms) with sentiment breakdown and a response action per theme</a:t>
            </a:r>
          </a:p>
        </p:txBody>
      </p:sp>
      <p:sp>
        <p:nvSpPr>
          <p:cNvPr id="15" name="TextBox 14"/>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45 minutes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LU1 · T4 · ACTIVITY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Digital Reputation Audit Exercise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8" name="Rectangle 7"/>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2" name="TextBox 11"/>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three platforms will actually reveal how customers feel about Nimbus right now — and why those three?</a:t>
            </a:r>
          </a:p>
        </p:txBody>
      </p:sp>
      <p:sp>
        <p:nvSpPr>
          <p:cNvPr id="13" name="Rectangle 12"/>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7" name="TextBox 16"/>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Looking at a sample of recent mentions and reviews, what recurring themes sit behind "doesn't feel personal anymore"?</a:t>
            </a:r>
          </a:p>
        </p:txBody>
      </p:sp>
      <p:sp>
        <p:nvSpPr>
          <p:cNvPr id="18" name="Rectangle 17"/>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How would you categorise the balance of positive, neutral and negative sentiment — and does it match what the founder currently believes?</a:t>
            </a:r>
          </a:p>
        </p:txBody>
      </p:sp>
      <p:sp>
        <p:nvSpPr>
          <p:cNvPr id="23" name="Rectangle 22"/>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7" name="TextBox 26"/>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is the single highest-priority response action leadership should take before the relaunch brief is finalised?</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LU1 · T4 · ACTIVITY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Digital Reputation Audit Exercise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10" name="TextBox 9"/>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Did the sentiment split match what you expected before you actually read the reviews?</a:t>
            </a:r>
          </a:p>
          <a:p>
            <a:pPr>
              <a:spcAft>
                <a:spcPts val="900"/>
              </a:spcAft>
            </a:pPr>
            <a:r>
              <a:rPr sz="1450" b="0">
                <a:solidFill>
                  <a:srgbClr val="161B26"/>
                </a:solidFill>
                <a:latin typeface="Arial"/>
              </a:rPr>
              <a:t>•  Which recurring theme was hardest to reduce to one line for a leadership summary?</a:t>
            </a:r>
          </a:p>
          <a:p>
            <a:pPr>
              <a:spcAft>
                <a:spcPts val="900"/>
              </a:spcAft>
            </a:pPr>
            <a:r>
              <a:rPr sz="1450" b="0">
                <a:solidFill>
                  <a:srgbClr val="161B26"/>
                </a:solidFill>
                <a:latin typeface="Arial"/>
              </a:rPr>
              <a:t>•  If "doesn't feel personal anymore" kept appearing after the relaunch too, what would that tell you about the relaunch plan itself?</a:t>
            </a:r>
          </a:p>
        </p:txBody>
      </p:sp>
      <p:sp>
        <p:nvSpPr>
          <p:cNvPr id="11" name="Rectangle 10"/>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3" name="TextBox 12"/>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Every group can show a platform-by-platform sentiment breakdown, three named recurring themes, and one response action per theme leadership could act on this week.</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LU1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Recap — Stakeholders and Organisation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Stakeholder Influence Mapping</a:t>
            </a:r>
          </a:p>
          <a:p>
            <a:pPr algn="l">
              <a:spcAft>
                <a:spcPts val="300"/>
              </a:spcAft>
            </a:pPr>
            <a:r>
              <a:rPr sz="1200" b="0">
                <a:solidFill>
                  <a:srgbClr val="5B6372"/>
                </a:solidFill>
                <a:latin typeface="Arial"/>
              </a:rPr>
              <a:t>You can now: Identify internal and external stakeholders influencing the brand.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Audience Mapping Workshop</a:t>
            </a:r>
          </a:p>
          <a:p>
            <a:pPr algn="l">
              <a:spcAft>
                <a:spcPts val="300"/>
              </a:spcAft>
            </a:pPr>
            <a:r>
              <a:rPr sz="1200" b="0">
                <a:solidFill>
                  <a:srgbClr val="5B6372"/>
                </a:solidFill>
                <a:latin typeface="Arial"/>
              </a:rPr>
              <a:t>You can now: Recognise the types of external audience and their needs.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Brand Attribute Mapping</a:t>
            </a:r>
          </a:p>
          <a:p>
            <a:pPr algn="l">
              <a:spcAft>
                <a:spcPts val="300"/>
              </a:spcAft>
            </a:pPr>
            <a:r>
              <a:rPr sz="1200" b="0">
                <a:solidFill>
                  <a:srgbClr val="5B6372"/>
                </a:solidFill>
                <a:latin typeface="Arial"/>
              </a:rPr>
              <a:t>You can now: Draft branding designs and ideas highlighting the product or service's attributes and benefits.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Digital Reputation Audit Exercise</a:t>
            </a:r>
          </a:p>
          <a:p>
            <a:pPr algn="l">
              <a:spcAft>
                <a:spcPts val="300"/>
              </a:spcAft>
            </a:pPr>
            <a:r>
              <a:rPr sz="1200" b="0">
                <a:solidFill>
                  <a:srgbClr val="5B6372"/>
                </a:solidFill>
                <a:latin typeface="Arial"/>
              </a:rPr>
              <a:t>You can now: Assess the organisation's reputation on social media and other platforms.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LU1 · WHY IT MATTERS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 brand that hasn't mapped its stakeholders is still being defined by them.</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 Closing thought, LU1: Stakeholders and Organisation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LU2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Customer Influence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Customer Perceptions · Brand Reputation · Campaign Reception · Active Listening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LU2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LU2 · KEY CONCEPTS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Key Concepts — Customer Influence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Customers form perceptions of a brand, its products and its services from quality, experience and communication — a gap often exists between what a company believes and what customers actually feel.</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Customers actively shape brand reputation through word-of-mouth, reviews and advocacy — their voice can amplify or damage a brand faster than any paid campaign.</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Documenting customer reception and the outcome of branding campaigns turns anecdotal feedback into evidence for future campaign decisions.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Active listening — full attention, a structured framework, and paraphrasing without judgement — reveals the customer's true perspective of the organisation.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LU2 · TWO MENTAL MODELS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Marketing Funnel vs the Customer Journey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The funnel explains where customers drop off; the journey explains why.</a:t>
            </a:r>
          </a:p>
        </p:txBody>
      </p:sp>
      <p:sp>
        <p:nvSpPr>
          <p:cNvPr id="8" name="Rectangle 7"/>
          <p:cNvSpPr/>
          <p:nvPr/>
        </p:nvSpPr>
        <p:spPr>
          <a:xfrm>
            <a:off x="2926080" y="2103120"/>
            <a:ext cx="4242816"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26080" y="2103120"/>
            <a:ext cx="4242816" cy="457200"/>
          </a:xfrm>
          <a:prstGeom prst="rect">
            <a:avLst/>
          </a:prstGeom>
          <a:noFill/>
        </p:spPr>
        <p:txBody>
          <a:bodyPr wrap="square" anchor="ctr">
            <a:spAutoFit/>
          </a:bodyPr>
          <a:lstStyle/>
          <a:p>
            <a:pPr algn="ctr">
              <a:spcAft>
                <a:spcPts val="400"/>
              </a:spcAft>
            </a:pPr>
            <a:r>
              <a:rPr sz="1500" b="1">
                <a:solidFill>
                  <a:srgbClr val="FFFFFF"/>
                </a:solidFill>
                <a:latin typeface="Arial"/>
              </a:rPr>
              <a:t>Marketing Funnel — business-centric</a:t>
            </a:r>
          </a:p>
        </p:txBody>
      </p:sp>
      <p:sp>
        <p:nvSpPr>
          <p:cNvPr id="10" name="Rectangle 9"/>
          <p:cNvSpPr/>
          <p:nvPr/>
        </p:nvSpPr>
        <p:spPr>
          <a:xfrm>
            <a:off x="7168896" y="2103120"/>
            <a:ext cx="4242816"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68896" y="2103120"/>
            <a:ext cx="4242816" cy="457200"/>
          </a:xfrm>
          <a:prstGeom prst="rect">
            <a:avLst/>
          </a:prstGeom>
          <a:noFill/>
        </p:spPr>
        <p:txBody>
          <a:bodyPr wrap="square" anchor="ctr">
            <a:spAutoFit/>
          </a:bodyPr>
          <a:lstStyle/>
          <a:p>
            <a:pPr algn="ctr">
              <a:spcAft>
                <a:spcPts val="400"/>
              </a:spcAft>
            </a:pPr>
            <a:r>
              <a:rPr sz="1500" b="1">
                <a:solidFill>
                  <a:srgbClr val="FFFFFF"/>
                </a:solidFill>
                <a:latin typeface="Arial"/>
              </a:rPr>
              <a:t>Customer Journey — customer-centric</a:t>
            </a:r>
          </a:p>
        </p:txBody>
      </p:sp>
      <p:sp>
        <p:nvSpPr>
          <p:cNvPr id="12" name="Rectangle 11"/>
          <p:cNvSpPr/>
          <p:nvPr/>
        </p:nvSpPr>
        <p:spPr>
          <a:xfrm>
            <a:off x="777240" y="2560320"/>
            <a:ext cx="2148840" cy="8915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2560320"/>
            <a:ext cx="1874520" cy="891540"/>
          </a:xfrm>
          <a:prstGeom prst="rect">
            <a:avLst/>
          </a:prstGeom>
          <a:noFill/>
        </p:spPr>
        <p:txBody>
          <a:bodyPr wrap="square" anchor="ctr">
            <a:spAutoFit/>
          </a:bodyPr>
          <a:lstStyle/>
          <a:p>
            <a:pPr algn="l">
              <a:spcAft>
                <a:spcPts val="400"/>
              </a:spcAft>
            </a:pPr>
            <a:r>
              <a:rPr sz="1400" b="1">
                <a:solidFill>
                  <a:srgbClr val="161B26"/>
                </a:solidFill>
                <a:latin typeface="Arial"/>
              </a:rPr>
              <a:t>Shape</a:t>
            </a:r>
          </a:p>
        </p:txBody>
      </p:sp>
      <p:sp>
        <p:nvSpPr>
          <p:cNvPr id="14" name="Rectangle 13"/>
          <p:cNvSpPr/>
          <p:nvPr/>
        </p:nvSpPr>
        <p:spPr>
          <a:xfrm>
            <a:off x="2926080" y="2560320"/>
            <a:ext cx="4242816" cy="8915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90672" y="2560320"/>
            <a:ext cx="3913632" cy="891540"/>
          </a:xfrm>
          <a:prstGeom prst="rect">
            <a:avLst/>
          </a:prstGeom>
          <a:noFill/>
        </p:spPr>
        <p:txBody>
          <a:bodyPr wrap="square" anchor="ctr">
            <a:spAutoFit/>
          </a:bodyPr>
          <a:lstStyle/>
          <a:p>
            <a:pPr algn="l">
              <a:spcAft>
                <a:spcPts val="400"/>
              </a:spcAft>
            </a:pPr>
            <a:r>
              <a:rPr sz="1300" b="0">
                <a:solidFill>
                  <a:srgbClr val="161B26"/>
                </a:solidFill>
                <a:latin typeface="Arial"/>
              </a:rPr>
              <a:t>Linear, top-down: Awareness → Interest → Consideration → Intent → Evaluation → Purchase</a:t>
            </a:r>
          </a:p>
        </p:txBody>
      </p:sp>
      <p:sp>
        <p:nvSpPr>
          <p:cNvPr id="16" name="Rectangle 15"/>
          <p:cNvSpPr/>
          <p:nvPr/>
        </p:nvSpPr>
        <p:spPr>
          <a:xfrm>
            <a:off x="7168896" y="2560320"/>
            <a:ext cx="4242816" cy="8915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33488" y="2560320"/>
            <a:ext cx="3913632" cy="891540"/>
          </a:xfrm>
          <a:prstGeom prst="rect">
            <a:avLst/>
          </a:prstGeom>
          <a:noFill/>
        </p:spPr>
        <p:txBody>
          <a:bodyPr wrap="square" anchor="ctr">
            <a:spAutoFit/>
          </a:bodyPr>
          <a:lstStyle/>
          <a:p>
            <a:pPr algn="l">
              <a:spcAft>
                <a:spcPts val="400"/>
              </a:spcAft>
            </a:pPr>
            <a:r>
              <a:rPr sz="1300" b="0">
                <a:solidFill>
                  <a:srgbClr val="161B26"/>
                </a:solidFill>
                <a:latin typeface="Arial"/>
              </a:rPr>
              <a:t>An infinite loop: Discovery → Research → Purchase → Experience → Retention → Advocacy</a:t>
            </a:r>
          </a:p>
        </p:txBody>
      </p:sp>
      <p:sp>
        <p:nvSpPr>
          <p:cNvPr id="18" name="Rectangle 17"/>
          <p:cNvSpPr/>
          <p:nvPr/>
        </p:nvSpPr>
        <p:spPr>
          <a:xfrm>
            <a:off x="777240" y="3451860"/>
            <a:ext cx="2148840" cy="8915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3451860"/>
            <a:ext cx="1874520" cy="891540"/>
          </a:xfrm>
          <a:prstGeom prst="rect">
            <a:avLst/>
          </a:prstGeom>
          <a:noFill/>
        </p:spPr>
        <p:txBody>
          <a:bodyPr wrap="square" anchor="ctr">
            <a:spAutoFit/>
          </a:bodyPr>
          <a:lstStyle/>
          <a:p>
            <a:pPr algn="l">
              <a:spcAft>
                <a:spcPts val="400"/>
              </a:spcAft>
            </a:pPr>
            <a:r>
              <a:rPr sz="1400" b="1">
                <a:solidFill>
                  <a:srgbClr val="161B26"/>
                </a:solidFill>
                <a:latin typeface="Arial"/>
              </a:rPr>
              <a:t>Progression</a:t>
            </a:r>
          </a:p>
        </p:txBody>
      </p:sp>
      <p:sp>
        <p:nvSpPr>
          <p:cNvPr id="20" name="Rectangle 19"/>
          <p:cNvSpPr/>
          <p:nvPr/>
        </p:nvSpPr>
        <p:spPr>
          <a:xfrm>
            <a:off x="2926080" y="3451860"/>
            <a:ext cx="4242816" cy="8915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90672" y="3451860"/>
            <a:ext cx="3913632" cy="891540"/>
          </a:xfrm>
          <a:prstGeom prst="rect">
            <a:avLst/>
          </a:prstGeom>
          <a:noFill/>
        </p:spPr>
        <p:txBody>
          <a:bodyPr wrap="square" anchor="ctr">
            <a:spAutoFit/>
          </a:bodyPr>
          <a:lstStyle/>
          <a:p>
            <a:pPr algn="l">
              <a:spcAft>
                <a:spcPts val="400"/>
              </a:spcAft>
            </a:pPr>
            <a:r>
              <a:rPr sz="1300" b="0">
                <a:solidFill>
                  <a:srgbClr val="161B26"/>
                </a:solidFill>
                <a:latin typeface="Arial"/>
              </a:rPr>
              <a:t>Ends at conversion — the sale is the finish line</a:t>
            </a:r>
          </a:p>
        </p:txBody>
      </p:sp>
      <p:sp>
        <p:nvSpPr>
          <p:cNvPr id="22" name="Rectangle 21"/>
          <p:cNvSpPr/>
          <p:nvPr/>
        </p:nvSpPr>
        <p:spPr>
          <a:xfrm>
            <a:off x="7168896" y="3451860"/>
            <a:ext cx="4242816" cy="8915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33488" y="3451860"/>
            <a:ext cx="3913632" cy="891540"/>
          </a:xfrm>
          <a:prstGeom prst="rect">
            <a:avLst/>
          </a:prstGeom>
          <a:noFill/>
        </p:spPr>
        <p:txBody>
          <a:bodyPr wrap="square" anchor="ctr">
            <a:spAutoFit/>
          </a:bodyPr>
          <a:lstStyle/>
          <a:p>
            <a:pPr algn="l">
              <a:spcAft>
                <a:spcPts val="400"/>
              </a:spcAft>
            </a:pPr>
            <a:r>
              <a:rPr sz="1300" b="0">
                <a:solidFill>
                  <a:srgbClr val="161B26"/>
                </a:solidFill>
                <a:latin typeface="Arial"/>
              </a:rPr>
              <a:t>Non-linear, interconnected moments that continue after purchase</a:t>
            </a:r>
          </a:p>
        </p:txBody>
      </p:sp>
      <p:sp>
        <p:nvSpPr>
          <p:cNvPr id="24" name="Rectangle 23"/>
          <p:cNvSpPr/>
          <p:nvPr/>
        </p:nvSpPr>
        <p:spPr>
          <a:xfrm>
            <a:off x="777240" y="4343400"/>
            <a:ext cx="2148840" cy="8915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4343400"/>
            <a:ext cx="1874520" cy="891540"/>
          </a:xfrm>
          <a:prstGeom prst="rect">
            <a:avLst/>
          </a:prstGeom>
          <a:noFill/>
        </p:spPr>
        <p:txBody>
          <a:bodyPr wrap="square" anchor="ctr">
            <a:spAutoFit/>
          </a:bodyPr>
          <a:lstStyle/>
          <a:p>
            <a:pPr algn="l">
              <a:spcAft>
                <a:spcPts val="400"/>
              </a:spcAft>
            </a:pPr>
            <a:r>
              <a:rPr sz="1400" b="1">
                <a:solidFill>
                  <a:srgbClr val="161B26"/>
                </a:solidFill>
                <a:latin typeface="Arial"/>
              </a:rPr>
              <a:t>What it tracks</a:t>
            </a:r>
          </a:p>
        </p:txBody>
      </p:sp>
      <p:sp>
        <p:nvSpPr>
          <p:cNvPr id="26" name="Rectangle 25"/>
          <p:cNvSpPr/>
          <p:nvPr/>
        </p:nvSpPr>
        <p:spPr>
          <a:xfrm>
            <a:off x="2926080" y="4343400"/>
            <a:ext cx="4242816" cy="8915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090672" y="4343400"/>
            <a:ext cx="3913632" cy="891540"/>
          </a:xfrm>
          <a:prstGeom prst="rect">
            <a:avLst/>
          </a:prstGeom>
          <a:noFill/>
        </p:spPr>
        <p:txBody>
          <a:bodyPr wrap="square" anchor="ctr">
            <a:spAutoFit/>
          </a:bodyPr>
          <a:lstStyle/>
          <a:p>
            <a:pPr algn="l">
              <a:spcAft>
                <a:spcPts val="400"/>
              </a:spcAft>
            </a:pPr>
            <a:r>
              <a:rPr sz="1300" b="0">
                <a:solidFill>
                  <a:srgbClr val="161B26"/>
                </a:solidFill>
                <a:latin typeface="Arial"/>
              </a:rPr>
              <a:t>Drop-offs and acquisition costs</a:t>
            </a:r>
          </a:p>
        </p:txBody>
      </p:sp>
      <p:sp>
        <p:nvSpPr>
          <p:cNvPr id="28" name="Rectangle 27"/>
          <p:cNvSpPr/>
          <p:nvPr/>
        </p:nvSpPr>
        <p:spPr>
          <a:xfrm>
            <a:off x="7168896" y="4343400"/>
            <a:ext cx="4242816" cy="8915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33488" y="4343400"/>
            <a:ext cx="3913632" cy="891540"/>
          </a:xfrm>
          <a:prstGeom prst="rect">
            <a:avLst/>
          </a:prstGeom>
          <a:noFill/>
        </p:spPr>
        <p:txBody>
          <a:bodyPr wrap="square" anchor="ctr">
            <a:spAutoFit/>
          </a:bodyPr>
          <a:lstStyle/>
          <a:p>
            <a:pPr algn="l">
              <a:spcAft>
                <a:spcPts val="400"/>
              </a:spcAft>
            </a:pPr>
            <a:r>
              <a:rPr sz="1300" b="0">
                <a:solidFill>
                  <a:srgbClr val="161B26"/>
                </a:solidFill>
                <a:latin typeface="Arial"/>
              </a:rPr>
              <a:t>Retention, advocacy, satisfaction and long-term value</a:t>
            </a:r>
          </a:p>
        </p:txBody>
      </p:sp>
      <p:sp>
        <p:nvSpPr>
          <p:cNvPr id="30" name="Rectangle 29"/>
          <p:cNvSpPr/>
          <p:nvPr/>
        </p:nvSpPr>
        <p:spPr>
          <a:xfrm>
            <a:off x="777240" y="5234940"/>
            <a:ext cx="2148840" cy="8915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5234940"/>
            <a:ext cx="1874520" cy="891540"/>
          </a:xfrm>
          <a:prstGeom prst="rect">
            <a:avLst/>
          </a:prstGeom>
          <a:noFill/>
        </p:spPr>
        <p:txBody>
          <a:bodyPr wrap="square" anchor="ctr">
            <a:spAutoFit/>
          </a:bodyPr>
          <a:lstStyle/>
          <a:p>
            <a:pPr algn="l">
              <a:spcAft>
                <a:spcPts val="400"/>
              </a:spcAft>
            </a:pPr>
            <a:r>
              <a:rPr sz="1400" b="1">
                <a:solidFill>
                  <a:srgbClr val="161B26"/>
                </a:solidFill>
                <a:latin typeface="Arial"/>
              </a:rPr>
              <a:t>Blind spot</a:t>
            </a:r>
          </a:p>
        </p:txBody>
      </p:sp>
      <p:sp>
        <p:nvSpPr>
          <p:cNvPr id="32" name="Rectangle 31"/>
          <p:cNvSpPr/>
          <p:nvPr/>
        </p:nvSpPr>
        <p:spPr>
          <a:xfrm>
            <a:off x="2926080" y="5234940"/>
            <a:ext cx="4242816" cy="8915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090672" y="5234940"/>
            <a:ext cx="3913632" cy="891540"/>
          </a:xfrm>
          <a:prstGeom prst="rect">
            <a:avLst/>
          </a:prstGeom>
          <a:noFill/>
        </p:spPr>
        <p:txBody>
          <a:bodyPr wrap="square" anchor="ctr">
            <a:spAutoFit/>
          </a:bodyPr>
          <a:lstStyle/>
          <a:p>
            <a:pPr algn="l">
              <a:spcAft>
                <a:spcPts val="400"/>
              </a:spcAft>
            </a:pPr>
            <a:r>
              <a:rPr sz="1300" b="0">
                <a:solidFill>
                  <a:srgbClr val="161B26"/>
                </a:solidFill>
                <a:latin typeface="Arial"/>
              </a:rPr>
              <a:t>Explains where customers drop off, not why</a:t>
            </a:r>
          </a:p>
        </p:txBody>
      </p:sp>
      <p:sp>
        <p:nvSpPr>
          <p:cNvPr id="34" name="Rectangle 33"/>
          <p:cNvSpPr/>
          <p:nvPr/>
        </p:nvSpPr>
        <p:spPr>
          <a:xfrm>
            <a:off x="7168896" y="5234940"/>
            <a:ext cx="4242816" cy="8915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333488" y="5234940"/>
            <a:ext cx="3913632" cy="891540"/>
          </a:xfrm>
          <a:prstGeom prst="rect">
            <a:avLst/>
          </a:prstGeom>
          <a:noFill/>
        </p:spPr>
        <p:txBody>
          <a:bodyPr wrap="square" anchor="ctr">
            <a:spAutoFit/>
          </a:bodyPr>
          <a:lstStyle/>
          <a:p>
            <a:pPr algn="l">
              <a:spcAft>
                <a:spcPts val="400"/>
              </a:spcAft>
            </a:pPr>
            <a:r>
              <a:rPr sz="1300" b="0">
                <a:solidFill>
                  <a:srgbClr val="161B26"/>
                </a:solidFill>
                <a:latin typeface="Arial"/>
              </a:rPr>
              <a:t>Requires richer behavioural data to map honestly</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LU2 · THE JOURNEY LOOP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Mapping the 5-Stage Journey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Awareness → Consideration → Decision → Retention → Advocacy — and advocacy feeds awareness again.</a:t>
            </a:r>
          </a:p>
        </p:txBody>
      </p:sp>
      <p:pic>
        <p:nvPicPr>
          <p:cNvPr id="8" name="Picture 7" descr="bt-journey-loop.png"/>
          <p:cNvPicPr>
            <a:picLocks noChangeAspect="1"/>
          </p:cNvPicPr>
          <p:nvPr/>
        </p:nvPicPr>
        <p:blipFill>
          <a:blip r:embed="rId2"/>
          <a:stretch>
            <a:fillRect/>
          </a:stretch>
        </p:blipFill>
        <p:spPr>
          <a:xfrm>
            <a:off x="2368715" y="2103120"/>
            <a:ext cx="7454265" cy="416052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LU2 · EMOTION DRIVES PERCEPTION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Engine of Loyalty: Emotional Branding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Affect-driven purchasing decisions outpace purely rational choices.</a:t>
            </a:r>
          </a:p>
        </p:txBody>
      </p:sp>
      <p:sp>
        <p:nvSpPr>
          <p:cNvPr id="8" name="Rectangle 7"/>
          <p:cNvSpPr/>
          <p:nvPr/>
        </p:nvSpPr>
        <p:spPr>
          <a:xfrm>
            <a:off x="777240" y="2240280"/>
            <a:ext cx="3300984" cy="2834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40280"/>
            <a:ext cx="3300984"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651760"/>
            <a:ext cx="3300984" cy="1188720"/>
          </a:xfrm>
          <a:prstGeom prst="rect">
            <a:avLst/>
          </a:prstGeom>
          <a:noFill/>
        </p:spPr>
        <p:txBody>
          <a:bodyPr wrap="square" anchor="t">
            <a:spAutoFit/>
          </a:bodyPr>
          <a:lstStyle/>
          <a:p>
            <a:pPr algn="ctr">
              <a:spcAft>
                <a:spcPts val="400"/>
              </a:spcAft>
            </a:pPr>
            <a:r>
              <a:rPr sz="4400" b="1">
                <a:solidFill>
                  <a:srgbClr val="1F6FEB"/>
                </a:solidFill>
                <a:latin typeface="Arial"/>
              </a:rPr>
              <a:t>45.2%</a:t>
            </a:r>
          </a:p>
        </p:txBody>
      </p:sp>
      <p:sp>
        <p:nvSpPr>
          <p:cNvPr id="11" name="TextBox 10"/>
          <p:cNvSpPr txBox="1"/>
          <p:nvPr/>
        </p:nvSpPr>
        <p:spPr>
          <a:xfrm>
            <a:off x="960120" y="3931920"/>
            <a:ext cx="2935224" cy="1005840"/>
          </a:xfrm>
          <a:prstGeom prst="rect">
            <a:avLst/>
          </a:prstGeom>
          <a:noFill/>
        </p:spPr>
        <p:txBody>
          <a:bodyPr wrap="square" anchor="t">
            <a:spAutoFit/>
          </a:bodyPr>
          <a:lstStyle/>
          <a:p>
            <a:pPr algn="ctr">
              <a:spcAft>
                <a:spcPts val="400"/>
              </a:spcAft>
            </a:pPr>
            <a:r>
              <a:rPr sz="1300" b="0">
                <a:solidFill>
                  <a:srgbClr val="161B26"/>
                </a:solidFill>
                <a:latin typeface="Arial"/>
              </a:rPr>
              <a:t>say an emotional connection with a brand is very important</a:t>
            </a:r>
          </a:p>
        </p:txBody>
      </p:sp>
      <p:sp>
        <p:nvSpPr>
          <p:cNvPr id="12" name="Rectangle 11"/>
          <p:cNvSpPr/>
          <p:nvPr/>
        </p:nvSpPr>
        <p:spPr>
          <a:xfrm>
            <a:off x="4443984" y="2240280"/>
            <a:ext cx="3300984" cy="2834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43984" y="2240280"/>
            <a:ext cx="3300984"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43984" y="2651760"/>
            <a:ext cx="3300984" cy="1188720"/>
          </a:xfrm>
          <a:prstGeom prst="rect">
            <a:avLst/>
          </a:prstGeom>
          <a:noFill/>
        </p:spPr>
        <p:txBody>
          <a:bodyPr wrap="square" anchor="t">
            <a:spAutoFit/>
          </a:bodyPr>
          <a:lstStyle/>
          <a:p>
            <a:pPr algn="ctr">
              <a:spcAft>
                <a:spcPts val="400"/>
              </a:spcAft>
            </a:pPr>
            <a:r>
              <a:rPr sz="4400" b="1">
                <a:solidFill>
                  <a:srgbClr val="10B981"/>
                </a:solidFill>
                <a:latin typeface="Arial"/>
              </a:rPr>
              <a:t>42%</a:t>
            </a:r>
          </a:p>
        </p:txBody>
      </p:sp>
      <p:sp>
        <p:nvSpPr>
          <p:cNvPr id="15" name="TextBox 14"/>
          <p:cNvSpPr txBox="1"/>
          <p:nvPr/>
        </p:nvSpPr>
        <p:spPr>
          <a:xfrm>
            <a:off x="4626864" y="3931920"/>
            <a:ext cx="2935224" cy="1005840"/>
          </a:xfrm>
          <a:prstGeom prst="rect">
            <a:avLst/>
          </a:prstGeom>
          <a:noFill/>
        </p:spPr>
        <p:txBody>
          <a:bodyPr wrap="square" anchor="t">
            <a:spAutoFit/>
          </a:bodyPr>
          <a:lstStyle/>
          <a:p>
            <a:pPr algn="ctr">
              <a:spcAft>
                <a:spcPts val="400"/>
              </a:spcAft>
            </a:pPr>
            <a:r>
              <a:rPr sz="1300" b="0">
                <a:solidFill>
                  <a:srgbClr val="161B26"/>
                </a:solidFill>
                <a:latin typeface="Arial"/>
              </a:rPr>
              <a:t>associate their favourite brands with trust &amp; reliability</a:t>
            </a:r>
          </a:p>
        </p:txBody>
      </p:sp>
      <p:sp>
        <p:nvSpPr>
          <p:cNvPr id="16" name="Rectangle 15"/>
          <p:cNvSpPr/>
          <p:nvPr/>
        </p:nvSpPr>
        <p:spPr>
          <a:xfrm>
            <a:off x="8110728" y="2240280"/>
            <a:ext cx="3300984" cy="2834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10728" y="2240280"/>
            <a:ext cx="3300984"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10728" y="2651760"/>
            <a:ext cx="3300984" cy="1188720"/>
          </a:xfrm>
          <a:prstGeom prst="rect">
            <a:avLst/>
          </a:prstGeom>
          <a:noFill/>
        </p:spPr>
        <p:txBody>
          <a:bodyPr wrap="square" anchor="t">
            <a:spAutoFit/>
          </a:bodyPr>
          <a:lstStyle/>
          <a:p>
            <a:pPr algn="ctr">
              <a:spcAft>
                <a:spcPts val="400"/>
              </a:spcAft>
            </a:pPr>
            <a:r>
              <a:rPr sz="4400" b="1">
                <a:solidFill>
                  <a:srgbClr val="7C3AED"/>
                </a:solidFill>
                <a:latin typeface="Arial"/>
              </a:rPr>
              <a:t>88.1%</a:t>
            </a:r>
          </a:p>
        </p:txBody>
      </p:sp>
      <p:sp>
        <p:nvSpPr>
          <p:cNvPr id="19" name="TextBox 18"/>
          <p:cNvSpPr txBox="1"/>
          <p:nvPr/>
        </p:nvSpPr>
        <p:spPr>
          <a:xfrm>
            <a:off x="8293608" y="3931920"/>
            <a:ext cx="2935224" cy="1005840"/>
          </a:xfrm>
          <a:prstGeom prst="rect">
            <a:avLst/>
          </a:prstGeom>
          <a:noFill/>
        </p:spPr>
        <p:txBody>
          <a:bodyPr wrap="square" anchor="t">
            <a:spAutoFit/>
          </a:bodyPr>
          <a:lstStyle/>
          <a:p>
            <a:pPr algn="ctr">
              <a:spcAft>
                <a:spcPts val="400"/>
              </a:spcAft>
            </a:pPr>
            <a:r>
              <a:rPr sz="1300" b="0">
                <a:solidFill>
                  <a:srgbClr val="161B26"/>
                </a:solidFill>
                <a:latin typeface="Arial"/>
              </a:rPr>
              <a:t>actively choose branded products over non-branded alternatives</a:t>
            </a:r>
          </a:p>
        </p:txBody>
      </p:sp>
      <p:sp>
        <p:nvSpPr>
          <p:cNvPr id="20" name="Rectangle 19"/>
          <p:cNvSpPr/>
          <p:nvPr/>
        </p:nvSpPr>
        <p:spPr>
          <a:xfrm>
            <a:off x="777240" y="5349240"/>
            <a:ext cx="10634472" cy="777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5349240"/>
            <a:ext cx="91440" cy="7772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97280" y="5349240"/>
            <a:ext cx="10058400" cy="777240"/>
          </a:xfrm>
          <a:prstGeom prst="rect">
            <a:avLst/>
          </a:prstGeom>
          <a:noFill/>
        </p:spPr>
        <p:txBody>
          <a:bodyPr wrap="square" anchor="ctr">
            <a:spAutoFit/>
          </a:bodyPr>
          <a:lstStyle/>
          <a:p>
            <a:pPr algn="l">
              <a:spcAft>
                <a:spcPts val="400"/>
              </a:spcAft>
            </a:pPr>
            <a:r>
              <a:rPr sz="1250" b="1">
                <a:solidFill>
                  <a:srgbClr val="161B26"/>
                </a:solidFill>
                <a:latin typeface="Arial"/>
              </a:rPr>
              <a:t>55% of loyalty is driven by quality — but 32% is driven entirely by customer service and emotional support.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29984"/>
            <a:ext cx="12191695" cy="128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468880"/>
            <a:ext cx="10332720" cy="2011680"/>
          </a:xfrm>
          <a:prstGeom prst="rect">
            <a:avLst/>
          </a:prstGeom>
          <a:noFill/>
        </p:spPr>
        <p:txBody>
          <a:bodyPr wrap="square" anchor="ctr">
            <a:spAutoFit/>
          </a:bodyPr>
          <a:lstStyle/>
          <a:p>
            <a:pPr algn="l">
              <a:spcAft>
                <a:spcPts val="400"/>
              </a:spcAft>
            </a:pPr>
            <a:r>
              <a:rPr sz="2500" b="1">
                <a:solidFill>
                  <a:srgbClr val="161B26"/>
                </a:solidFill>
                <a:latin typeface="Arial"/>
              </a:rPr>
              <a:t>Perceptions of customers of the brand, products and services</a:t>
            </a:r>
          </a:p>
        </p:txBody>
      </p:sp>
      <p:sp>
        <p:nvSpPr>
          <p:cNvPr id="6" name="TextBox 5"/>
          <p:cNvSpPr txBox="1"/>
          <p:nvPr/>
        </p:nvSpPr>
        <p:spPr>
          <a:xfrm>
            <a:off x="914400" y="1965960"/>
            <a:ext cx="10332720" cy="457200"/>
          </a:xfrm>
          <a:prstGeom prst="rect">
            <a:avLst/>
          </a:prstGeom>
          <a:noFill/>
        </p:spPr>
        <p:txBody>
          <a:bodyPr wrap="square" anchor="t">
            <a:spAutoFit/>
          </a:bodyPr>
          <a:lstStyle/>
          <a:p>
            <a:pPr algn="l">
              <a:spcAft>
                <a:spcPts val="400"/>
              </a:spcAft>
            </a:pPr>
            <a:r>
              <a:rPr sz="1500" b="1">
                <a:solidFill>
                  <a:srgbClr val="10B981"/>
                </a:solidFill>
                <a:latin typeface="Arial"/>
              </a:rPr>
              <a:t>LO2 · LU2 · T1</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What is Perceptions of customers of the brand, products and services?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Product View</a:t>
            </a:r>
          </a:p>
          <a:p>
            <a:pPr algn="l">
              <a:spcAft>
                <a:spcPts val="300"/>
              </a:spcAft>
            </a:pPr>
            <a:r>
              <a:rPr sz="1200" b="0">
                <a:solidFill>
                  <a:srgbClr val="5B6372"/>
                </a:solidFill>
                <a:latin typeface="Arial"/>
              </a:rPr>
              <a:t>Customer verdict on product quality</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Brand Identity</a:t>
            </a:r>
          </a:p>
          <a:p>
            <a:pPr algn="l">
              <a:spcAft>
                <a:spcPts val="300"/>
              </a:spcAft>
            </a:pPr>
            <a:r>
              <a:rPr sz="1200" b="0">
                <a:solidFill>
                  <a:srgbClr val="5B6372"/>
                </a:solidFill>
                <a:latin typeface="Arial"/>
              </a:rPr>
              <a:t>Customer grasp of core brand values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Service Quality</a:t>
            </a:r>
          </a:p>
          <a:p>
            <a:pPr algn="l">
              <a:spcAft>
                <a:spcPts val="300"/>
              </a:spcAft>
            </a:pPr>
            <a:r>
              <a:rPr sz="1200" b="0">
                <a:solidFill>
                  <a:srgbClr val="5B6372"/>
                </a:solidFill>
                <a:latin typeface="Arial"/>
              </a:rPr>
              <a:t>Perceived value of every interaction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Perception Gap</a:t>
            </a:r>
          </a:p>
          <a:p>
            <a:pPr algn="l">
              <a:spcAft>
                <a:spcPts val="300"/>
              </a:spcAft>
            </a:pPr>
            <a:r>
              <a:rPr sz="1200" b="0">
                <a:solidFill>
                  <a:srgbClr val="5B6372"/>
                </a:solidFill>
                <a:latin typeface="Arial"/>
              </a:rPr>
              <a:t>Gap between belief and reality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
        <p:nvSpPr>
          <p:cNvPr id="30" name="TextBox 29"/>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Qualtrics, 2024</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T1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Perception Management Process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74495"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7449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Gather Feedback</a:t>
            </a:r>
          </a:p>
        </p:txBody>
      </p:sp>
      <p:sp>
        <p:nvSpPr>
          <p:cNvPr id="12" name="TextBox 11"/>
          <p:cNvSpPr txBox="1"/>
          <p:nvPr/>
        </p:nvSpPr>
        <p:spPr>
          <a:xfrm>
            <a:off x="905256"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Collect systematic customer input, not just anecdotes.</a:t>
            </a:r>
          </a:p>
        </p:txBody>
      </p:sp>
      <p:sp>
        <p:nvSpPr>
          <p:cNvPr id="13" name="TextBox 12"/>
          <p:cNvSpPr txBox="1"/>
          <p:nvPr/>
        </p:nvSpPr>
        <p:spPr>
          <a:xfrm>
            <a:off x="3211830"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4" name="Rectangle 13"/>
          <p:cNvSpPr/>
          <p:nvPr/>
        </p:nvSpPr>
        <p:spPr>
          <a:xfrm>
            <a:off x="3504438"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504438"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01693"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0169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632454"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Analyse Gaps</a:t>
            </a:r>
          </a:p>
        </p:txBody>
      </p:sp>
      <p:sp>
        <p:nvSpPr>
          <p:cNvPr id="19" name="TextBox 18"/>
          <p:cNvSpPr txBox="1"/>
          <p:nvPr/>
        </p:nvSpPr>
        <p:spPr>
          <a:xfrm>
            <a:off x="3632454"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Identify where perception differs from reality.</a:t>
            </a:r>
          </a:p>
        </p:txBody>
      </p:sp>
      <p:sp>
        <p:nvSpPr>
          <p:cNvPr id="20" name="TextBox 19"/>
          <p:cNvSpPr txBox="1"/>
          <p:nvPr/>
        </p:nvSpPr>
        <p:spPr>
          <a:xfrm>
            <a:off x="5939028"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1" name="Rectangle 20"/>
          <p:cNvSpPr/>
          <p:nvPr/>
        </p:nvSpPr>
        <p:spPr>
          <a:xfrm>
            <a:off x="6231636"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128891"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288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6359652"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Align Values</a:t>
            </a:r>
          </a:p>
        </p:txBody>
      </p:sp>
      <p:sp>
        <p:nvSpPr>
          <p:cNvPr id="26" name="TextBox 25"/>
          <p:cNvSpPr txBox="1"/>
          <p:nvPr/>
        </p:nvSpPr>
        <p:spPr>
          <a:xfrm>
            <a:off x="6359652"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Match delivery to customer expectations.</a:t>
            </a:r>
          </a:p>
        </p:txBody>
      </p:sp>
      <p:sp>
        <p:nvSpPr>
          <p:cNvPr id="27" name="TextBox 26"/>
          <p:cNvSpPr txBox="1"/>
          <p:nvPr/>
        </p:nvSpPr>
        <p:spPr>
          <a:xfrm>
            <a:off x="8666226"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8" name="Rectangle 27"/>
          <p:cNvSpPr/>
          <p:nvPr/>
        </p:nvSpPr>
        <p:spPr>
          <a:xfrm>
            <a:off x="8958834"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958834"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856089"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5608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9086850"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Deliver Quality</a:t>
            </a:r>
          </a:p>
        </p:txBody>
      </p:sp>
      <p:sp>
        <p:nvSpPr>
          <p:cNvPr id="33" name="TextBox 32"/>
          <p:cNvSpPr txBox="1"/>
          <p:nvPr/>
        </p:nvSpPr>
        <p:spPr>
          <a:xfrm>
            <a:off x="9086850"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Make the brand experience consistent, every time.</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T1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Technical Quality vs Value Quality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Technical Quality</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Value Quality</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Specifications — what the product objectively does</a:t>
            </a:r>
          </a:p>
          <a:p>
            <a:pPr>
              <a:spcAft>
                <a:spcPts val="1000"/>
              </a:spcAft>
            </a:pPr>
            <a:r>
              <a:rPr sz="1600" b="0">
                <a:solidFill>
                  <a:srgbClr val="161B26"/>
                </a:solidFill>
                <a:latin typeface="Arial"/>
              </a:rPr>
              <a:t>•  Performance — how reliably it does it</a:t>
            </a:r>
          </a:p>
          <a:p>
            <a:pPr>
              <a:spcAft>
                <a:spcPts val="1000"/>
              </a:spcAft>
            </a:pPr>
            <a:r>
              <a:rPr sz="1600" b="0">
                <a:solidFill>
                  <a:srgbClr val="161B26"/>
                </a:solidFill>
                <a:latin typeface="Arial"/>
              </a:rPr>
              <a:t>•  Reliability — consistency over time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Brand Image — how the brand is perceived</a:t>
            </a:r>
          </a:p>
          <a:p>
            <a:pPr>
              <a:spcAft>
                <a:spcPts val="1000"/>
              </a:spcAft>
            </a:pPr>
            <a:r>
              <a:rPr sz="1600" b="0">
                <a:solidFill>
                  <a:srgbClr val="161B26"/>
                </a:solidFill>
                <a:latin typeface="Arial"/>
              </a:rPr>
              <a:t>•  Perception — the customer's subjective read</a:t>
            </a:r>
          </a:p>
          <a:p>
            <a:pPr>
              <a:spcAft>
                <a:spcPts val="1000"/>
              </a:spcAft>
            </a:pPr>
            <a:r>
              <a:rPr sz="1600" b="0">
                <a:solidFill>
                  <a:srgbClr val="161B26"/>
                </a:solidFill>
                <a:latin typeface="Arial"/>
              </a:rPr>
              <a:t>•  Experience — how it feels to interact with the brand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
        <p:nvSpPr>
          <p:cNvPr id="16" name="TextBox 15"/>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brand perception-gap research, CX practice</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T1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Nimbus Perception Gap Journey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Discovers Nimbus</a:t>
            </a:r>
          </a:p>
          <a:p>
            <a:pPr algn="l">
              <a:spcAft>
                <a:spcPts val="300"/>
              </a:spcAft>
            </a:pPr>
            <a:r>
              <a:rPr sz="1100" b="0">
                <a:solidFill>
                  <a:srgbClr val="5B6372"/>
                </a:solidFill>
                <a:latin typeface="Arial"/>
              </a:rPr>
              <a:t>Sees the anniversary relaunch teaser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Reads Reviews</a:t>
            </a:r>
          </a:p>
          <a:p>
            <a:pPr algn="l">
              <a:spcAft>
                <a:spcPts val="300"/>
              </a:spcAft>
            </a:pPr>
            <a:r>
              <a:rPr sz="1100" b="0">
                <a:solidFill>
                  <a:srgbClr val="5B6372"/>
                </a:solidFill>
                <a:latin typeface="Arial"/>
              </a:rPr>
              <a:t>Spots "doesn't feel personal" comments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Contacts Support</a:t>
            </a:r>
          </a:p>
          <a:p>
            <a:pPr algn="l">
              <a:spcAft>
                <a:spcPts val="300"/>
              </a:spcAft>
            </a:pPr>
            <a:r>
              <a:rPr sz="1100" b="0">
                <a:solidFill>
                  <a:srgbClr val="5B6372"/>
                </a:solidFill>
                <a:latin typeface="Arial"/>
              </a:rPr>
              <a:t>Fast reply, but feels scripted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Makes a Purchase</a:t>
            </a:r>
          </a:p>
          <a:p>
            <a:pPr algn="l">
              <a:spcAft>
                <a:spcPts val="300"/>
              </a:spcAft>
            </a:pPr>
            <a:r>
              <a:rPr sz="1100" b="0">
                <a:solidFill>
                  <a:srgbClr val="5B6372"/>
                </a:solidFill>
                <a:latin typeface="Arial"/>
              </a:rPr>
              <a:t>Product quality still meets expectations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Post-Purchase Follow-Up</a:t>
            </a:r>
          </a:p>
          <a:p>
            <a:pPr algn="l">
              <a:spcAft>
                <a:spcPts val="300"/>
              </a:spcAft>
            </a:pPr>
            <a:r>
              <a:rPr sz="1100" b="0">
                <a:solidFill>
                  <a:srgbClr val="5B6372"/>
                </a:solidFill>
                <a:latin typeface="Arial"/>
              </a:rPr>
              <a:t>A genuine, personal thank-you note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
        <p:nvSpPr>
          <p:cNvPr id="35" name="TextBox 34"/>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illustrative distribution, Qualtrics &amp; Zendesk 2024</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T1 · REAL-WORLD EXAMPLE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Radical Customer Focus Closes the Perception Gap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206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28016" cy="42062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97280" y="2103120"/>
            <a:ext cx="2834640"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103120"/>
            <a:ext cx="2834640" cy="502920"/>
          </a:xfrm>
          <a:prstGeom prst="rect">
            <a:avLst/>
          </a:prstGeom>
          <a:noFill/>
        </p:spPr>
        <p:txBody>
          <a:bodyPr wrap="square" anchor="ctr">
            <a:spAutoFit/>
          </a:bodyPr>
          <a:lstStyle/>
          <a:p>
            <a:pPr algn="ctr">
              <a:spcAft>
                <a:spcPts val="400"/>
              </a:spcAft>
            </a:pPr>
            <a:r>
              <a:rPr sz="1300" b="1">
                <a:solidFill>
                  <a:srgbClr val="FFFFFF"/>
                </a:solidFill>
                <a:latin typeface="Arial"/>
              </a:rPr>
              <a:t>REAL-WORLD EXAMPLE</a:t>
            </a:r>
          </a:p>
        </p:txBody>
      </p:sp>
      <p:sp>
        <p:nvSpPr>
          <p:cNvPr id="11" name="TextBox 10"/>
          <p:cNvSpPr txBox="1"/>
          <p:nvPr/>
        </p:nvSpPr>
        <p:spPr>
          <a:xfrm>
            <a:off x="1097280" y="2880360"/>
            <a:ext cx="9966960" cy="640080"/>
          </a:xfrm>
          <a:prstGeom prst="rect">
            <a:avLst/>
          </a:prstGeom>
          <a:noFill/>
        </p:spPr>
        <p:txBody>
          <a:bodyPr wrap="square" anchor="t">
            <a:spAutoFit/>
          </a:bodyPr>
          <a:lstStyle/>
          <a:p>
            <a:pPr algn="l">
              <a:spcAft>
                <a:spcPts val="400"/>
              </a:spcAft>
            </a:pPr>
            <a:r>
              <a:rPr sz="2600" b="1">
                <a:solidFill>
                  <a:srgbClr val="161B26"/>
                </a:solidFill>
                <a:latin typeface="Arial"/>
              </a:rPr>
              <a:t>Zappos</a:t>
            </a:r>
          </a:p>
        </p:txBody>
      </p:sp>
      <p:sp>
        <p:nvSpPr>
          <p:cNvPr id="12" name="TextBox 11"/>
          <p:cNvSpPr txBox="1"/>
          <p:nvPr/>
        </p:nvSpPr>
        <p:spPr>
          <a:xfrm>
            <a:off x="1097280" y="3611880"/>
            <a:ext cx="9966960" cy="2194560"/>
          </a:xfrm>
          <a:prstGeom prst="rect">
            <a:avLst/>
          </a:prstGeom>
          <a:noFill/>
        </p:spPr>
        <p:txBody>
          <a:bodyPr wrap="square" anchor="t">
            <a:spAutoFit/>
          </a:bodyPr>
          <a:lstStyle/>
          <a:p>
            <a:pPr algn="l">
              <a:spcAft>
                <a:spcPts val="400"/>
              </a:spcAft>
            </a:pPr>
            <a:r>
              <a:rPr sz="1600" b="0">
                <a:solidFill>
                  <a:srgbClr val="5B6372"/>
                </a:solidFill>
                <a:latin typeface="Arial"/>
              </a:rPr>
              <a:t>Zappos reps have no call-time targets and no scripts — one legendary call ran past ten hours because the goal was connection, not resolution. That is the instinct Nimbus's faster-but-generic chat macros are quietly losing: speed without warmth is still a gap.</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T1 · ACTIVITY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Brand Perception Audit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CASE STUDY</a:t>
            </a:r>
          </a:p>
        </p:txBody>
      </p:sp>
      <p:sp>
        <p:nvSpPr>
          <p:cNvPr id="9" name="Rectangle 8"/>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2" name="TextBox 11"/>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The Activity 4 reputation audit surfaced one theme again and again: customers say Nimbus Wellness "doesn't feel personal anymore." Marketing's official position is that nothing has changed — the formulas, ingredients and packaging are exactly what they were a year ago. If the product itself hasn't moved, something else has.</a:t>
            </a:r>
          </a:p>
          <a:p>
            <a:pPr algn="l">
              <a:spcAft>
                <a:spcPts val="800"/>
              </a:spcAft>
            </a:pPr>
            <a:r>
              <a:rPr sz="1450" b="0">
                <a:solidFill>
                  <a:srgbClr val="161B26"/>
                </a:solidFill>
                <a:latin typeface="Arial"/>
              </a:rPr>
              <a:t>A closer look at Customer Service's own numbers hints at where: average reply time has improved since two outlets added self-checkout kiosks and the contact-centre adopted faster chat macros. The technical quality — what the product does — looks unchanged on paper. But the value quality — how it feels to deal with Nimbus — may have quietly slipped underneath the metrics leadership actually tracks.</a:t>
            </a:r>
          </a:p>
          <a:p>
            <a:pPr algn="l">
              <a:spcAft>
                <a:spcPts val="800"/>
              </a:spcAft>
            </a:pPr>
            <a:r>
              <a:rPr sz="1450" b="0">
                <a:solidFill>
                  <a:srgbClr val="161B26"/>
                </a:solidFill>
                <a:latin typeface="Arial"/>
              </a:rPr>
              <a:t>Before the founder locks the relaunch brief, your table must compare what Marketing believes against what a sample of real customer feedback actually says, and turn the difference into a short, prioritised gap list leadership can act on this week.</a:t>
            </a:r>
          </a:p>
        </p:txBody>
      </p:sp>
      <p:sp>
        <p:nvSpPr>
          <p:cNvPr id="13" name="Rectangle 12"/>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 Nimbus perception-gap analysis comparing internal quality metrics with customer feedback, ranking the top 3 gaps with an action for each</a:t>
            </a:r>
          </a:p>
        </p:txBody>
      </p:sp>
      <p:sp>
        <p:nvSpPr>
          <p:cNvPr id="15" name="TextBox 14"/>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25 minutes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T1 · ACTIVITY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Brand Perception Audit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8" name="Rectangle 7"/>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2" name="TextBox 11"/>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Looking at the Activity 4 findings alongside what Marketing believes internally, where exactly does customer perception diverge from the company's own view of itself?</a:t>
            </a:r>
          </a:p>
        </p:txBody>
      </p:sp>
      <p:sp>
        <p:nvSpPr>
          <p:cNvPr id="13" name="Rectangle 12"/>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7" name="TextBox 16"/>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Is the drift really in Technical Quality (the product itself) or in Value Quality (the experience around it) — and what evidence from the audit supports that?</a:t>
            </a:r>
          </a:p>
        </p:txBody>
      </p:sp>
      <p:sp>
        <p:nvSpPr>
          <p:cNvPr id="18" name="Rectangle 17"/>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are the top 3 perception gaps your table would put in front of the founder, and which one is most urgent to close before the relaunch brief is finalised?</a:t>
            </a:r>
          </a:p>
        </p:txBody>
      </p:sp>
      <p:sp>
        <p:nvSpPr>
          <p:cNvPr id="23" name="Rectangle 22"/>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7" name="TextBox 26"/>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For each gap, what would "closed" actually look like, and which team would need to own fixing it?</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T1 · ACTIVITY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Brand Perception Audit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10" name="TextBox 9"/>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Did your table's top gap turn out to be about the product itself, or about how people are treated when they interact with the brand?</a:t>
            </a:r>
          </a:p>
          <a:p>
            <a:pPr>
              <a:spcAft>
                <a:spcPts val="900"/>
              </a:spcAft>
            </a:pPr>
            <a:r>
              <a:rPr sz="1450" b="0">
                <a:solidFill>
                  <a:srgbClr val="161B26"/>
                </a:solidFill>
                <a:latin typeface="Arial"/>
              </a:rPr>
              <a:t>•  Was there a gap the data supported that still felt uncomfortable to put in front of the founder — and why?</a:t>
            </a:r>
          </a:p>
          <a:p>
            <a:pPr>
              <a:spcAft>
                <a:spcPts val="900"/>
              </a:spcAft>
            </a:pPr>
            <a:r>
              <a:rPr sz="1450" b="0">
                <a:solidFill>
                  <a:srgbClr val="161B26"/>
                </a:solidFill>
                <a:latin typeface="Arial"/>
              </a:rPr>
              <a:t>•  If Marketing pushed back and insisted the product is the whole story, what evidence would you point to first?</a:t>
            </a:r>
          </a:p>
        </p:txBody>
      </p:sp>
      <p:sp>
        <p:nvSpPr>
          <p:cNvPr id="11" name="Rectangle 10"/>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3" name="TextBox 12"/>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Every group can show a gap-analysis table comparing Marketing's internal belief against real customer feedback, with the top 3 perception gaps ranked and one concrete action proposed for each.</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29984"/>
            <a:ext cx="12191695" cy="128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468880"/>
            <a:ext cx="10332720" cy="2011680"/>
          </a:xfrm>
          <a:prstGeom prst="rect">
            <a:avLst/>
          </a:prstGeom>
          <a:noFill/>
        </p:spPr>
        <p:txBody>
          <a:bodyPr wrap="square" anchor="ctr">
            <a:spAutoFit/>
          </a:bodyPr>
          <a:lstStyle/>
          <a:p>
            <a:pPr algn="l">
              <a:spcAft>
                <a:spcPts val="400"/>
              </a:spcAft>
            </a:pPr>
            <a:r>
              <a:rPr sz="2500" b="1">
                <a:solidFill>
                  <a:srgbClr val="161B26"/>
                </a:solidFill>
                <a:latin typeface="Arial"/>
              </a:rPr>
              <a:t>Importance of the customer in influencing the brand reputation</a:t>
            </a:r>
          </a:p>
        </p:txBody>
      </p:sp>
      <p:sp>
        <p:nvSpPr>
          <p:cNvPr id="6" name="TextBox 5"/>
          <p:cNvSpPr txBox="1"/>
          <p:nvPr/>
        </p:nvSpPr>
        <p:spPr>
          <a:xfrm>
            <a:off x="914400" y="1965960"/>
            <a:ext cx="10332720" cy="457200"/>
          </a:xfrm>
          <a:prstGeom prst="rect">
            <a:avLst/>
          </a:prstGeom>
          <a:noFill/>
        </p:spPr>
        <p:txBody>
          <a:bodyPr wrap="square" anchor="t">
            <a:spAutoFit/>
          </a:bodyPr>
          <a:lstStyle/>
          <a:p>
            <a:pPr algn="l">
              <a:spcAft>
                <a:spcPts val="400"/>
              </a:spcAft>
            </a:pPr>
            <a:r>
              <a:rPr sz="1500" b="1">
                <a:solidFill>
                  <a:srgbClr val="10B981"/>
                </a:solidFill>
                <a:latin typeface="Arial"/>
              </a:rPr>
              <a:t>LO2 · LU2 · T2</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What is Importance of the customer in influencing the brand reputation?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Trust Factor</a:t>
            </a:r>
          </a:p>
          <a:p>
            <a:pPr algn="l">
              <a:spcAft>
                <a:spcPts val="300"/>
              </a:spcAft>
            </a:pPr>
            <a:r>
              <a:rPr sz="1200" b="0">
                <a:solidFill>
                  <a:srgbClr val="5B6372"/>
                </a:solidFill>
                <a:latin typeface="Arial"/>
              </a:rPr>
              <a:t>Personal recommendations drive purchase decisions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Viral Spread</a:t>
            </a:r>
          </a:p>
          <a:p>
            <a:pPr algn="l">
              <a:spcAft>
                <a:spcPts val="300"/>
              </a:spcAft>
            </a:pPr>
            <a:r>
              <a:rPr sz="1200" b="0">
                <a:solidFill>
                  <a:srgbClr val="5B6372"/>
                </a:solidFill>
                <a:latin typeface="Arial"/>
              </a:rPr>
              <a:t>Positive experiences multiply through networks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Digital Voice</a:t>
            </a:r>
          </a:p>
          <a:p>
            <a:pPr algn="l">
              <a:spcAft>
                <a:spcPts val="300"/>
              </a:spcAft>
            </a:pPr>
            <a:r>
              <a:rPr sz="1200" b="0">
                <a:solidFill>
                  <a:srgbClr val="5B6372"/>
                </a:solidFill>
                <a:latin typeface="Arial"/>
              </a:rPr>
              <a:t>Online reviews equal family recommendations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Reputation Control</a:t>
            </a:r>
          </a:p>
          <a:p>
            <a:pPr algn="l">
              <a:spcAft>
                <a:spcPts val="300"/>
              </a:spcAft>
            </a:pPr>
            <a:r>
              <a:rPr sz="1200" b="0">
                <a:solidFill>
                  <a:srgbClr val="5B6372"/>
                </a:solidFill>
                <a:latin typeface="Arial"/>
              </a:rPr>
              <a:t>Customers actively shape the brand image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
        <p:nvSpPr>
          <p:cNvPr id="30" name="TextBox 29"/>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WebFX, Digital Silk 2024</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T2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Customer Advocacy Process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3361944"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129028"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29028"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429000"/>
            <a:ext cx="3105912" cy="365760"/>
          </a:xfrm>
          <a:prstGeom prst="rect">
            <a:avLst/>
          </a:prstGeom>
          <a:noFill/>
        </p:spPr>
        <p:txBody>
          <a:bodyPr wrap="square" anchor="t">
            <a:spAutoFit/>
          </a:bodyPr>
          <a:lstStyle/>
          <a:p>
            <a:pPr algn="ctr">
              <a:spcAft>
                <a:spcPts val="400"/>
              </a:spcAft>
            </a:pPr>
            <a:r>
              <a:rPr sz="1250" b="1">
                <a:solidFill>
                  <a:srgbClr val="161B26"/>
                </a:solidFill>
                <a:latin typeface="Arial"/>
              </a:rPr>
              <a:t>Experience</a:t>
            </a:r>
          </a:p>
        </p:txBody>
      </p:sp>
      <p:sp>
        <p:nvSpPr>
          <p:cNvPr id="12" name="TextBox 11"/>
          <p:cNvSpPr txBox="1"/>
          <p:nvPr/>
        </p:nvSpPr>
        <p:spPr>
          <a:xfrm>
            <a:off x="905256" y="3813048"/>
            <a:ext cx="3105912" cy="1280160"/>
          </a:xfrm>
          <a:prstGeom prst="rect">
            <a:avLst/>
          </a:prstGeom>
          <a:noFill/>
        </p:spPr>
        <p:txBody>
          <a:bodyPr wrap="square" anchor="t">
            <a:spAutoFit/>
          </a:bodyPr>
          <a:lstStyle/>
          <a:p>
            <a:pPr algn="ctr">
              <a:spcAft>
                <a:spcPts val="400"/>
              </a:spcAft>
            </a:pPr>
            <a:r>
              <a:rPr sz="1050" b="0">
                <a:solidFill>
                  <a:srgbClr val="5B6372"/>
                </a:solidFill>
                <a:latin typeface="Arial"/>
              </a:rPr>
              <a:t>The customer interacts with the brand.</a:t>
            </a:r>
          </a:p>
        </p:txBody>
      </p:sp>
      <p:sp>
        <p:nvSpPr>
          <p:cNvPr id="13" name="TextBox 12"/>
          <p:cNvSpPr txBox="1"/>
          <p:nvPr/>
        </p:nvSpPr>
        <p:spPr>
          <a:xfrm>
            <a:off x="4120896"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4" name="Rectangle 13"/>
          <p:cNvSpPr/>
          <p:nvPr/>
        </p:nvSpPr>
        <p:spPr>
          <a:xfrm>
            <a:off x="4413504" y="2331720"/>
            <a:ext cx="3361944"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13504" y="2331720"/>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765292"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765292"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4541520" y="3429000"/>
            <a:ext cx="3105912" cy="365760"/>
          </a:xfrm>
          <a:prstGeom prst="rect">
            <a:avLst/>
          </a:prstGeom>
          <a:noFill/>
        </p:spPr>
        <p:txBody>
          <a:bodyPr wrap="square" anchor="t">
            <a:spAutoFit/>
          </a:bodyPr>
          <a:lstStyle/>
          <a:p>
            <a:pPr algn="ctr">
              <a:spcAft>
                <a:spcPts val="400"/>
              </a:spcAft>
            </a:pPr>
            <a:r>
              <a:rPr sz="1250" b="1">
                <a:solidFill>
                  <a:srgbClr val="161B26"/>
                </a:solidFill>
                <a:latin typeface="Arial"/>
              </a:rPr>
              <a:t>Evaluate</a:t>
            </a:r>
          </a:p>
        </p:txBody>
      </p:sp>
      <p:sp>
        <p:nvSpPr>
          <p:cNvPr id="19" name="TextBox 18"/>
          <p:cNvSpPr txBox="1"/>
          <p:nvPr/>
        </p:nvSpPr>
        <p:spPr>
          <a:xfrm>
            <a:off x="4541520" y="3813048"/>
            <a:ext cx="3105912" cy="1280160"/>
          </a:xfrm>
          <a:prstGeom prst="rect">
            <a:avLst/>
          </a:prstGeom>
          <a:noFill/>
        </p:spPr>
        <p:txBody>
          <a:bodyPr wrap="square" anchor="t">
            <a:spAutoFit/>
          </a:bodyPr>
          <a:lstStyle/>
          <a:p>
            <a:pPr algn="ctr">
              <a:spcAft>
                <a:spcPts val="400"/>
              </a:spcAft>
            </a:pPr>
            <a:r>
              <a:rPr sz="1050" b="0">
                <a:solidFill>
                  <a:srgbClr val="5B6372"/>
                </a:solidFill>
                <a:latin typeface="Arial"/>
              </a:rPr>
              <a:t>The customer forms an emotional connection — or doesn't.</a:t>
            </a:r>
          </a:p>
        </p:txBody>
      </p:sp>
      <p:sp>
        <p:nvSpPr>
          <p:cNvPr id="20" name="TextBox 19"/>
          <p:cNvSpPr txBox="1"/>
          <p:nvPr/>
        </p:nvSpPr>
        <p:spPr>
          <a:xfrm>
            <a:off x="7757160"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1" name="Rectangle 20"/>
          <p:cNvSpPr/>
          <p:nvPr/>
        </p:nvSpPr>
        <p:spPr>
          <a:xfrm>
            <a:off x="8049768" y="2331720"/>
            <a:ext cx="3361944"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49768" y="2331720"/>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401556"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01556"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8177784" y="3429000"/>
            <a:ext cx="3105912" cy="365760"/>
          </a:xfrm>
          <a:prstGeom prst="rect">
            <a:avLst/>
          </a:prstGeom>
          <a:noFill/>
        </p:spPr>
        <p:txBody>
          <a:bodyPr wrap="square" anchor="t">
            <a:spAutoFit/>
          </a:bodyPr>
          <a:lstStyle/>
          <a:p>
            <a:pPr algn="ctr">
              <a:spcAft>
                <a:spcPts val="400"/>
              </a:spcAft>
            </a:pPr>
            <a:r>
              <a:rPr sz="1250" b="1">
                <a:solidFill>
                  <a:srgbClr val="161B26"/>
                </a:solidFill>
                <a:latin typeface="Arial"/>
              </a:rPr>
              <a:t>Share</a:t>
            </a:r>
          </a:p>
        </p:txBody>
      </p:sp>
      <p:sp>
        <p:nvSpPr>
          <p:cNvPr id="26" name="TextBox 25"/>
          <p:cNvSpPr txBox="1"/>
          <p:nvPr/>
        </p:nvSpPr>
        <p:spPr>
          <a:xfrm>
            <a:off x="8177784" y="3813048"/>
            <a:ext cx="3105912" cy="1280160"/>
          </a:xfrm>
          <a:prstGeom prst="rect">
            <a:avLst/>
          </a:prstGeom>
          <a:noFill/>
        </p:spPr>
        <p:txBody>
          <a:bodyPr wrap="square" anchor="t">
            <a:spAutoFit/>
          </a:bodyPr>
          <a:lstStyle/>
          <a:p>
            <a:pPr algn="ctr">
              <a:spcAft>
                <a:spcPts val="400"/>
              </a:spcAft>
            </a:pPr>
            <a:r>
              <a:rPr sz="1050" b="0">
                <a:solidFill>
                  <a:srgbClr val="5B6372"/>
                </a:solidFill>
                <a:latin typeface="Arial"/>
              </a:rPr>
              <a:t>The customer tells others about the experience.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T2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Positive vs Negative Word-of-Mouth Impact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Positive Experience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Negative Experience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Recommendation — 36% recommend within two weeks</a:t>
            </a:r>
          </a:p>
          <a:p>
            <a:pPr>
              <a:spcAft>
                <a:spcPts val="1000"/>
              </a:spcAft>
            </a:pPr>
            <a:r>
              <a:rPr sz="1600" b="0">
                <a:solidFill>
                  <a:srgbClr val="161B26"/>
                </a:solidFill>
                <a:latin typeface="Arial"/>
              </a:rPr>
              <a:t>•  Emotional Bond — 3x more word-of-mouth generated</a:t>
            </a:r>
          </a:p>
          <a:p>
            <a:pPr>
              <a:spcAft>
                <a:spcPts val="1000"/>
              </a:spcAft>
            </a:pPr>
            <a:r>
              <a:rPr sz="1600" b="0">
                <a:solidFill>
                  <a:srgbClr val="161B26"/>
                </a:solidFill>
                <a:latin typeface="Arial"/>
              </a:rPr>
              <a:t>•  Trust Building — builds lasting brand loyalty</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Share Bad — 45% share negative experiences</a:t>
            </a:r>
          </a:p>
          <a:p>
            <a:pPr>
              <a:spcAft>
                <a:spcPts val="1000"/>
              </a:spcAft>
            </a:pPr>
            <a:r>
              <a:rPr sz="1600" b="0">
                <a:solidFill>
                  <a:srgbClr val="161B26"/>
                </a:solidFill>
                <a:latin typeface="Arial"/>
              </a:rPr>
              <a:t>•  Brand Avoidance — 26% completely avoid the brand</a:t>
            </a:r>
          </a:p>
          <a:p>
            <a:pPr>
              <a:spcAft>
                <a:spcPts val="1000"/>
              </a:spcAft>
            </a:pPr>
            <a:r>
              <a:rPr sz="1600" b="0">
                <a:solidFill>
                  <a:srgbClr val="161B26"/>
                </a:solidFill>
                <a:latin typeface="Arial"/>
              </a:rPr>
              <a:t>•  Reputation Damage — long-term perception harm</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
        <p:nvSpPr>
          <p:cNvPr id="16" name="TextBox 15"/>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Trustmary, WiserReview 2024</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T2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Advocacy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Experience</a:t>
            </a:r>
          </a:p>
          <a:p>
            <a:pPr algn="l">
              <a:spcAft>
                <a:spcPts val="300"/>
              </a:spcAft>
            </a:pPr>
            <a:r>
              <a:rPr sz="1200" b="0">
                <a:solidFill>
                  <a:srgbClr val="5B6372"/>
                </a:solidFill>
                <a:latin typeface="Arial"/>
              </a:rPr>
              <a:t>A genuine, well-handled touchpoint with Nimbus — in store, online or on a call.</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Satisfaction</a:t>
            </a:r>
          </a:p>
          <a:p>
            <a:pPr algn="l">
              <a:spcAft>
                <a:spcPts val="300"/>
              </a:spcAft>
            </a:pPr>
            <a:r>
              <a:rPr sz="1200" b="0">
                <a:solidFill>
                  <a:srgbClr val="5B6372"/>
                </a:solidFill>
                <a:latin typeface="Arial"/>
              </a:rPr>
              <a:t>The customer's private verdict on that touchpoint, good or bad.</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Word-of-Mouth</a:t>
            </a:r>
          </a:p>
          <a:p>
            <a:pPr algn="l">
              <a:spcAft>
                <a:spcPts val="300"/>
              </a:spcAft>
            </a:pPr>
            <a:r>
              <a:rPr sz="1200" b="0">
                <a:solidFill>
                  <a:srgbClr val="5B6372"/>
                </a:solidFill>
                <a:latin typeface="Arial"/>
              </a:rPr>
              <a:t>A satisfied customer voluntarily tells others — a post, a tag, a conversation.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New-Customer Discovery</a:t>
            </a:r>
          </a:p>
          <a:p>
            <a:pPr algn="l">
              <a:spcAft>
                <a:spcPts val="300"/>
              </a:spcAft>
            </a:pPr>
            <a:r>
              <a:rPr sz="1200" b="0">
                <a:solidFill>
                  <a:srgbClr val="5B6372"/>
                </a:solidFill>
                <a:latin typeface="Arial"/>
              </a:rPr>
              <a:t>A prospect meets Nimbus through that story, restarting the loop.</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
        <p:nvSpPr>
          <p:cNvPr id="30" name="TextBox 29"/>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customer advocacy loop, adapted from WebFX / Digital Silk 2024</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T2 · REAL-WORLD EXAMPLE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Owners, Not Ads, Built the Tesla Brand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206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28016" cy="42062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97280" y="2103120"/>
            <a:ext cx="2834640"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103120"/>
            <a:ext cx="2834640" cy="502920"/>
          </a:xfrm>
          <a:prstGeom prst="rect">
            <a:avLst/>
          </a:prstGeom>
          <a:noFill/>
        </p:spPr>
        <p:txBody>
          <a:bodyPr wrap="square" anchor="ctr">
            <a:spAutoFit/>
          </a:bodyPr>
          <a:lstStyle/>
          <a:p>
            <a:pPr algn="ctr">
              <a:spcAft>
                <a:spcPts val="400"/>
              </a:spcAft>
            </a:pPr>
            <a:r>
              <a:rPr sz="1300" b="1">
                <a:solidFill>
                  <a:srgbClr val="FFFFFF"/>
                </a:solidFill>
                <a:latin typeface="Arial"/>
              </a:rPr>
              <a:t>REAL-WORLD EXAMPLE</a:t>
            </a:r>
          </a:p>
        </p:txBody>
      </p:sp>
      <p:sp>
        <p:nvSpPr>
          <p:cNvPr id="11" name="TextBox 10"/>
          <p:cNvSpPr txBox="1"/>
          <p:nvPr/>
        </p:nvSpPr>
        <p:spPr>
          <a:xfrm>
            <a:off x="1097280" y="2880360"/>
            <a:ext cx="9966960" cy="640080"/>
          </a:xfrm>
          <a:prstGeom prst="rect">
            <a:avLst/>
          </a:prstGeom>
          <a:noFill/>
        </p:spPr>
        <p:txBody>
          <a:bodyPr wrap="square" anchor="t">
            <a:spAutoFit/>
          </a:bodyPr>
          <a:lstStyle/>
          <a:p>
            <a:pPr algn="l">
              <a:spcAft>
                <a:spcPts val="400"/>
              </a:spcAft>
            </a:pPr>
            <a:r>
              <a:rPr sz="2600" b="1">
                <a:solidFill>
                  <a:srgbClr val="161B26"/>
                </a:solidFill>
                <a:latin typeface="Arial"/>
              </a:rPr>
              <a:t>Tesla</a:t>
            </a:r>
          </a:p>
        </p:txBody>
      </p:sp>
      <p:sp>
        <p:nvSpPr>
          <p:cNvPr id="12" name="TextBox 11"/>
          <p:cNvSpPr txBox="1"/>
          <p:nvPr/>
        </p:nvSpPr>
        <p:spPr>
          <a:xfrm>
            <a:off x="1097280" y="3611880"/>
            <a:ext cx="9966960" cy="2194560"/>
          </a:xfrm>
          <a:prstGeom prst="rect">
            <a:avLst/>
          </a:prstGeom>
          <a:noFill/>
        </p:spPr>
        <p:txBody>
          <a:bodyPr wrap="square" anchor="t">
            <a:spAutoFit/>
          </a:bodyPr>
          <a:lstStyle/>
          <a:p>
            <a:pPr algn="l">
              <a:spcAft>
                <a:spcPts val="400"/>
              </a:spcAft>
            </a:pPr>
            <a:r>
              <a:rPr sz="1600" b="0">
                <a:solidFill>
                  <a:srgbClr val="5B6372"/>
                </a:solidFill>
                <a:latin typeface="Arial"/>
              </a:rPr>
              <a:t>Tesla spends close to nothing on traditional advertising — owners self-organise meetups, share referral codes and post their own reviews instead. Nimbus's loyal Facebook community is the same asset already in hand, waiting to be invested in rather than replaced by paid media.</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T2 · ACTIVITY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Brand Advocacy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CASE STUDY</a:t>
            </a:r>
          </a:p>
        </p:txBody>
      </p:sp>
      <p:sp>
        <p:nvSpPr>
          <p:cNvPr id="9" name="Rectangle 8"/>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2" name="TextBox 11"/>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Activity 5 traced the perception gap mostly to Value Quality — the feeling of being known — rather than to the product itself. That is, in one sense, good news: it means Nimbus already has the raw material to fix it. The same loyal-customer Facebook community that has been asking "why hasn't Nimbus gone green sooner?" is still active, still buying, and still willing to talk about the brand.</a:t>
            </a:r>
          </a:p>
          <a:p>
            <a:pPr algn="l">
              <a:spcAft>
                <a:spcPts val="800"/>
              </a:spcAft>
            </a:pPr>
            <a:r>
              <a:rPr sz="1450" b="0">
                <a:solidFill>
                  <a:srgbClr val="161B26"/>
                </a:solidFill>
                <a:latin typeface="Arial"/>
              </a:rPr>
              <a:t>The founder now wants the relaunch to lean on these genuine advocates rather than paid media alone. But the online review picture is mixed — some customers are clearly still delighted, others are the ones driving the "doesn't feel personal anymore" narrative, and a few are firmly on the fence.</a:t>
            </a:r>
          </a:p>
          <a:p>
            <a:pPr algn="l">
              <a:spcAft>
                <a:spcPts val="800"/>
              </a:spcAft>
            </a:pPr>
            <a:r>
              <a:rPr sz="1450" b="0">
                <a:solidFill>
                  <a:srgbClr val="161B26"/>
                </a:solidFill>
                <a:latin typeface="Arial"/>
              </a:rPr>
              <a:t>Your table's job is to read the available feedback, identify who the real advocates are, and design an advocacy assessment and strategy that strengthens the loop before the anniversary campaign goes live — without ignoring the risk that a negative experience could restart the narrative that hurt Nimbus six months ago.</a:t>
            </a:r>
          </a:p>
        </p:txBody>
      </p:sp>
      <p:sp>
        <p:nvSpPr>
          <p:cNvPr id="13" name="Rectangle 12"/>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 customer-advocacy strategy mapped to the Advocacy Loop, with named target metrics and how each will be tracked</a:t>
            </a:r>
          </a:p>
        </p:txBody>
      </p:sp>
      <p:sp>
        <p:nvSpPr>
          <p:cNvPr id="15" name="TextBox 14"/>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25 minutes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T2 · ACTIVITY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Brand Advocacy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8" name="Rectangle 7"/>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2" name="TextBox 11"/>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Reading the mixed feedback, which customers are the strongest genuine candidates for an advocacy programme, and what evidence marks them out from a merely satisfied customer?</a:t>
            </a:r>
          </a:p>
        </p:txBody>
      </p:sp>
      <p:sp>
        <p:nvSpPr>
          <p:cNvPr id="13" name="Rectangle 12"/>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7" name="TextBox 16"/>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Using the Advocacy Loop, at which stage is Nimbus currently strongest, and at which stage does the loop most often break down before it reaches a new customer?</a:t>
            </a:r>
          </a:p>
        </p:txBody>
      </p:sp>
      <p:sp>
        <p:nvSpPr>
          <p:cNvPr id="18" name="Rectangle 17"/>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Given that a competitor's viral moment is what hurt Nimbus six months ago, how real is the risk that one bad experience among these advocates could restart the same narrative — and how would you guard against it?</a:t>
            </a:r>
          </a:p>
        </p:txBody>
      </p:sp>
      <p:sp>
        <p:nvSpPr>
          <p:cNvPr id="23" name="Rectangle 22"/>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7" name="TextBox 26"/>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would you actually ask advocates to do for the relaunch, and what would Nimbus need to give them in return for it to feel genuine rather than transactional?</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T2 · ACTIVITY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Brand Advocacy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10" name="TextBox 9"/>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Did your table pick advocates based on how loudly they post, or on how consistently satisfied they actually are?</a:t>
            </a:r>
          </a:p>
          <a:p>
            <a:pPr>
              <a:spcAft>
                <a:spcPts val="900"/>
              </a:spcAft>
            </a:pPr>
            <a:r>
              <a:rPr sz="1450" b="0">
                <a:solidFill>
                  <a:srgbClr val="161B26"/>
                </a:solidFill>
                <a:latin typeface="Arial"/>
              </a:rPr>
              <a:t>•  Which stage of the Advocacy Loop did your table find hardest to strengthen with the resources Nimbus realistically has?</a:t>
            </a:r>
          </a:p>
          <a:p>
            <a:pPr>
              <a:spcAft>
                <a:spcPts val="900"/>
              </a:spcAft>
            </a:pPr>
            <a:r>
              <a:rPr sz="1450" b="0">
                <a:solidFill>
                  <a:srgbClr val="161B26"/>
                </a:solidFill>
                <a:latin typeface="Arial"/>
              </a:rPr>
              <a:t>•  If one of your chosen advocates had a bad experience next week, would your strategy survive it?</a:t>
            </a:r>
          </a:p>
        </p:txBody>
      </p:sp>
      <p:sp>
        <p:nvSpPr>
          <p:cNvPr id="11" name="Rectangle 10"/>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3" name="TextBox 12"/>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Every group can show an advocacy strategy mapped onto the Advocacy Loop, naming which customers to engage, what stage of the loop it strengthens, and at least one target metric with how it will be tracked.</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29984"/>
            <a:ext cx="12191695" cy="128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468880"/>
            <a:ext cx="10332720" cy="2011680"/>
          </a:xfrm>
          <a:prstGeom prst="rect">
            <a:avLst/>
          </a:prstGeom>
          <a:noFill/>
        </p:spPr>
        <p:txBody>
          <a:bodyPr wrap="square" anchor="ctr">
            <a:spAutoFit/>
          </a:bodyPr>
          <a:lstStyle/>
          <a:p>
            <a:pPr algn="l">
              <a:spcAft>
                <a:spcPts val="400"/>
              </a:spcAft>
            </a:pPr>
            <a:r>
              <a:rPr sz="2500" b="1">
                <a:solidFill>
                  <a:srgbClr val="161B26"/>
                </a:solidFill>
                <a:latin typeface="Arial"/>
              </a:rPr>
              <a:t>Document customer reception to brand and outcome of branding campaigns</a:t>
            </a:r>
          </a:p>
        </p:txBody>
      </p:sp>
      <p:sp>
        <p:nvSpPr>
          <p:cNvPr id="6" name="TextBox 5"/>
          <p:cNvSpPr txBox="1"/>
          <p:nvPr/>
        </p:nvSpPr>
        <p:spPr>
          <a:xfrm>
            <a:off x="914400" y="1965960"/>
            <a:ext cx="10332720" cy="457200"/>
          </a:xfrm>
          <a:prstGeom prst="rect">
            <a:avLst/>
          </a:prstGeom>
          <a:noFill/>
        </p:spPr>
        <p:txBody>
          <a:bodyPr wrap="square" anchor="t">
            <a:spAutoFit/>
          </a:bodyPr>
          <a:lstStyle/>
          <a:p>
            <a:pPr algn="l">
              <a:spcAft>
                <a:spcPts val="400"/>
              </a:spcAft>
            </a:pPr>
            <a:r>
              <a:rPr sz="1500" b="1">
                <a:solidFill>
                  <a:srgbClr val="10B981"/>
                </a:solidFill>
                <a:latin typeface="Arial"/>
              </a:rPr>
              <a:t>LO2 · LU2 · T3</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What is Document customer reception to brand and outcome of branding campaigns?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Feedback Collection</a:t>
            </a:r>
          </a:p>
          <a:p>
            <a:pPr algn="l">
              <a:spcAft>
                <a:spcPts val="300"/>
              </a:spcAft>
            </a:pPr>
            <a:r>
              <a:rPr sz="1200" b="0">
                <a:solidFill>
                  <a:srgbClr val="5B6372"/>
                </a:solidFill>
                <a:latin typeface="Arial"/>
              </a:rPr>
              <a:t>Systematic recording of customer responses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Campaign Metrics</a:t>
            </a:r>
          </a:p>
          <a:p>
            <a:pPr algn="l">
              <a:spcAft>
                <a:spcPts val="300"/>
              </a:spcAft>
            </a:pPr>
            <a:r>
              <a:rPr sz="1200" b="0">
                <a:solidFill>
                  <a:srgbClr val="5B6372"/>
                </a:solidFill>
                <a:latin typeface="Arial"/>
              </a:rPr>
              <a:t>Measuring effectiveness through customer data</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Analysis Systems</a:t>
            </a:r>
          </a:p>
          <a:p>
            <a:pPr algn="l">
              <a:spcAft>
                <a:spcPts val="300"/>
              </a:spcAft>
            </a:pPr>
            <a:r>
              <a:rPr sz="1200" b="0">
                <a:solidFill>
                  <a:srgbClr val="5B6372"/>
                </a:solidFill>
                <a:latin typeface="Arial"/>
              </a:rPr>
              <a:t>Documentation frameworks for brand reception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Outcome Tracking</a:t>
            </a:r>
          </a:p>
          <a:p>
            <a:pPr algn="l">
              <a:spcAft>
                <a:spcPts val="300"/>
              </a:spcAft>
            </a:pPr>
            <a:r>
              <a:rPr sz="1200" b="0">
                <a:solidFill>
                  <a:srgbClr val="5B6372"/>
                </a:solidFill>
                <a:latin typeface="Arial"/>
              </a:rPr>
              <a:t>Recording measurable campaign results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
        <p:nvSpPr>
          <p:cNvPr id="30" name="TextBox 29"/>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Multiple branding studies, 2024-2026</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T3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Documentation Process Steps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3361944"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129028"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29028"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429000"/>
            <a:ext cx="3105912" cy="365760"/>
          </a:xfrm>
          <a:prstGeom prst="rect">
            <a:avLst/>
          </a:prstGeom>
          <a:noFill/>
        </p:spPr>
        <p:txBody>
          <a:bodyPr wrap="square" anchor="t">
            <a:spAutoFit/>
          </a:bodyPr>
          <a:lstStyle/>
          <a:p>
            <a:pPr algn="ctr">
              <a:spcAft>
                <a:spcPts val="400"/>
              </a:spcAft>
            </a:pPr>
            <a:r>
              <a:rPr sz="1250" b="1">
                <a:solidFill>
                  <a:srgbClr val="161B26"/>
                </a:solidFill>
                <a:latin typeface="Arial"/>
              </a:rPr>
              <a:t>Define Metrics</a:t>
            </a:r>
          </a:p>
        </p:txBody>
      </p:sp>
      <p:sp>
        <p:nvSpPr>
          <p:cNvPr id="12" name="TextBox 11"/>
          <p:cNvSpPr txBox="1"/>
          <p:nvPr/>
        </p:nvSpPr>
        <p:spPr>
          <a:xfrm>
            <a:off x="905256" y="3813048"/>
            <a:ext cx="3105912" cy="1280160"/>
          </a:xfrm>
          <a:prstGeom prst="rect">
            <a:avLst/>
          </a:prstGeom>
          <a:noFill/>
        </p:spPr>
        <p:txBody>
          <a:bodyPr wrap="square" anchor="t">
            <a:spAutoFit/>
          </a:bodyPr>
          <a:lstStyle/>
          <a:p>
            <a:pPr algn="ctr">
              <a:spcAft>
                <a:spcPts val="400"/>
              </a:spcAft>
            </a:pPr>
            <a:r>
              <a:rPr sz="1050" b="0">
                <a:solidFill>
                  <a:srgbClr val="5B6372"/>
                </a:solidFill>
                <a:latin typeface="Arial"/>
              </a:rPr>
              <a:t>Establish the measurement criteria up front.</a:t>
            </a:r>
          </a:p>
        </p:txBody>
      </p:sp>
      <p:sp>
        <p:nvSpPr>
          <p:cNvPr id="13" name="TextBox 12"/>
          <p:cNvSpPr txBox="1"/>
          <p:nvPr/>
        </p:nvSpPr>
        <p:spPr>
          <a:xfrm>
            <a:off x="4120896"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4" name="Rectangle 13"/>
          <p:cNvSpPr/>
          <p:nvPr/>
        </p:nvSpPr>
        <p:spPr>
          <a:xfrm>
            <a:off x="4413504" y="2331720"/>
            <a:ext cx="3361944"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13504" y="2331720"/>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765292"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765292"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4541520" y="3429000"/>
            <a:ext cx="3105912" cy="365760"/>
          </a:xfrm>
          <a:prstGeom prst="rect">
            <a:avLst/>
          </a:prstGeom>
          <a:noFill/>
        </p:spPr>
        <p:txBody>
          <a:bodyPr wrap="square" anchor="t">
            <a:spAutoFit/>
          </a:bodyPr>
          <a:lstStyle/>
          <a:p>
            <a:pPr algn="ctr">
              <a:spcAft>
                <a:spcPts val="400"/>
              </a:spcAft>
            </a:pPr>
            <a:r>
              <a:rPr sz="1250" b="1">
                <a:solidFill>
                  <a:srgbClr val="161B26"/>
                </a:solidFill>
                <a:latin typeface="Arial"/>
              </a:rPr>
              <a:t>Collect Feedback</a:t>
            </a:r>
          </a:p>
        </p:txBody>
      </p:sp>
      <p:sp>
        <p:nvSpPr>
          <p:cNvPr id="19" name="TextBox 18"/>
          <p:cNvSpPr txBox="1"/>
          <p:nvPr/>
        </p:nvSpPr>
        <p:spPr>
          <a:xfrm>
            <a:off x="4541520" y="3813048"/>
            <a:ext cx="3105912" cy="1280160"/>
          </a:xfrm>
          <a:prstGeom prst="rect">
            <a:avLst/>
          </a:prstGeom>
          <a:noFill/>
        </p:spPr>
        <p:txBody>
          <a:bodyPr wrap="square" anchor="t">
            <a:spAutoFit/>
          </a:bodyPr>
          <a:lstStyle/>
          <a:p>
            <a:pPr algn="ctr">
              <a:spcAft>
                <a:spcPts val="400"/>
              </a:spcAft>
            </a:pPr>
            <a:r>
              <a:rPr sz="1050" b="0">
                <a:solidFill>
                  <a:srgbClr val="5B6372"/>
                </a:solidFill>
                <a:latin typeface="Arial"/>
              </a:rPr>
              <a:t>Gather the customer-response data systematically.</a:t>
            </a:r>
          </a:p>
        </p:txBody>
      </p:sp>
      <p:sp>
        <p:nvSpPr>
          <p:cNvPr id="20" name="TextBox 19"/>
          <p:cNvSpPr txBox="1"/>
          <p:nvPr/>
        </p:nvSpPr>
        <p:spPr>
          <a:xfrm>
            <a:off x="7757160"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1" name="Rectangle 20"/>
          <p:cNvSpPr/>
          <p:nvPr/>
        </p:nvSpPr>
        <p:spPr>
          <a:xfrm>
            <a:off x="8049768" y="2331720"/>
            <a:ext cx="3361944"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49768" y="2331720"/>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401556"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01556"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8177784" y="3429000"/>
            <a:ext cx="3105912" cy="365760"/>
          </a:xfrm>
          <a:prstGeom prst="rect">
            <a:avLst/>
          </a:prstGeom>
          <a:noFill/>
        </p:spPr>
        <p:txBody>
          <a:bodyPr wrap="square" anchor="t">
            <a:spAutoFit/>
          </a:bodyPr>
          <a:lstStyle/>
          <a:p>
            <a:pPr algn="ctr">
              <a:spcAft>
                <a:spcPts val="400"/>
              </a:spcAft>
            </a:pPr>
            <a:r>
              <a:rPr sz="1250" b="1">
                <a:solidFill>
                  <a:srgbClr val="161B26"/>
                </a:solidFill>
                <a:latin typeface="Arial"/>
              </a:rPr>
              <a:t>Analyse Data</a:t>
            </a:r>
          </a:p>
        </p:txBody>
      </p:sp>
      <p:sp>
        <p:nvSpPr>
          <p:cNvPr id="26" name="TextBox 25"/>
          <p:cNvSpPr txBox="1"/>
          <p:nvPr/>
        </p:nvSpPr>
        <p:spPr>
          <a:xfrm>
            <a:off x="8177784" y="3813048"/>
            <a:ext cx="3105912" cy="1280160"/>
          </a:xfrm>
          <a:prstGeom prst="rect">
            <a:avLst/>
          </a:prstGeom>
          <a:noFill/>
        </p:spPr>
        <p:txBody>
          <a:bodyPr wrap="square" anchor="t">
            <a:spAutoFit/>
          </a:bodyPr>
          <a:lstStyle/>
          <a:p>
            <a:pPr algn="ctr">
              <a:spcAft>
                <a:spcPts val="400"/>
              </a:spcAft>
            </a:pPr>
            <a:r>
              <a:rPr sz="1050" b="0">
                <a:solidFill>
                  <a:srgbClr val="5B6372"/>
                </a:solidFill>
                <a:latin typeface="Arial"/>
              </a:rPr>
              <a:t>Process the collected information into findings.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T3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Traditional vs Modern Documentation Approaches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Traditional</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Modern</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Manual Surveys — paper-based feedback collection</a:t>
            </a:r>
          </a:p>
          <a:p>
            <a:pPr>
              <a:spcAft>
                <a:spcPts val="1000"/>
              </a:spcAft>
            </a:pPr>
            <a:r>
              <a:rPr sz="1600" b="0">
                <a:solidFill>
                  <a:srgbClr val="161B26"/>
                </a:solidFill>
                <a:latin typeface="Arial"/>
              </a:rPr>
              <a:t>•  Basic Analytics — simple metrics and reporting</a:t>
            </a:r>
          </a:p>
          <a:p>
            <a:pPr>
              <a:spcAft>
                <a:spcPts val="1000"/>
              </a:spcAft>
            </a:pPr>
            <a:r>
              <a:rPr sz="1600" b="0">
                <a:solidFill>
                  <a:srgbClr val="161B26"/>
                </a:solidFill>
                <a:latin typeface="Arial"/>
              </a:rPr>
              <a:t>•  Delayed Insights — weekly or monthly reporting cycles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Real-Time Monitoring — instant sentiment tracking</a:t>
            </a:r>
          </a:p>
          <a:p>
            <a:pPr>
              <a:spcAft>
                <a:spcPts val="1000"/>
              </a:spcAft>
            </a:pPr>
            <a:r>
              <a:rPr sz="1600" b="0">
                <a:solidFill>
                  <a:srgbClr val="161B26"/>
                </a:solidFill>
                <a:latin typeface="Arial"/>
              </a:rPr>
              <a:t>•  AI Insights — automated pattern recognition</a:t>
            </a:r>
          </a:p>
          <a:p>
            <a:pPr>
              <a:spcAft>
                <a:spcPts val="1000"/>
              </a:spcAft>
            </a:pPr>
            <a:r>
              <a:rPr sz="1600" b="0">
                <a:solidFill>
                  <a:srgbClr val="161B26"/>
                </a:solidFill>
                <a:latin typeface="Arial"/>
              </a:rPr>
              <a:t>•  Predictive Analytics — trend forecasting capability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
        <p:nvSpPr>
          <p:cNvPr id="16" name="TextBox 15"/>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Marketing technology evolution studies, 2024</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T3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PESO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Paid Media</a:t>
            </a:r>
          </a:p>
          <a:p>
            <a:pPr algn="l">
              <a:spcAft>
                <a:spcPts val="300"/>
              </a:spcAft>
            </a:pPr>
            <a:r>
              <a:rPr sz="1200" b="0">
                <a:solidFill>
                  <a:srgbClr val="5B6372"/>
                </a:solidFill>
                <a:latin typeface="Arial"/>
              </a:rPr>
              <a:t>Boosted posts and sponsored placements Nimbus paid to run.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Earned Media</a:t>
            </a:r>
          </a:p>
          <a:p>
            <a:pPr algn="l">
              <a:spcAft>
                <a:spcPts val="300"/>
              </a:spcAft>
            </a:pPr>
            <a:r>
              <a:rPr sz="1200" b="0">
                <a:solidFill>
                  <a:srgbClr val="5B6372"/>
                </a:solidFill>
                <a:latin typeface="Arial"/>
              </a:rPr>
              <a:t>Unprompted press coverage and mentions Nimbus didn't pay for.</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Shared Media</a:t>
            </a:r>
          </a:p>
          <a:p>
            <a:pPr algn="l">
              <a:spcAft>
                <a:spcPts val="300"/>
              </a:spcAft>
            </a:pPr>
            <a:r>
              <a:rPr sz="1200" b="0">
                <a:solidFill>
                  <a:srgbClr val="5B6372"/>
                </a:solidFill>
                <a:latin typeface="Arial"/>
              </a:rPr>
              <a:t>Reposts, tags and comments the community generated on its own.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Owned Media</a:t>
            </a:r>
          </a:p>
          <a:p>
            <a:pPr algn="l">
              <a:spcAft>
                <a:spcPts val="300"/>
              </a:spcAft>
            </a:pPr>
            <a:r>
              <a:rPr sz="1200" b="0">
                <a:solidFill>
                  <a:srgbClr val="5B6372"/>
                </a:solidFill>
                <a:latin typeface="Arial"/>
              </a:rPr>
              <a:t>The blog post, email newsletter and product page Nimbus fully controls.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
        <p:nvSpPr>
          <p:cNvPr id="30" name="TextBox 29"/>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PESO Model (Paid, Earned, Shared, Owned), Gini Dietrich / Spin Sucks</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T3 · REAL-WORLD EXAMPLE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Every Test Gets Measured, Every Time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206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28016" cy="42062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97280" y="2103120"/>
            <a:ext cx="2834640"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103120"/>
            <a:ext cx="2834640" cy="502920"/>
          </a:xfrm>
          <a:prstGeom prst="rect">
            <a:avLst/>
          </a:prstGeom>
          <a:noFill/>
        </p:spPr>
        <p:txBody>
          <a:bodyPr wrap="square" anchor="ctr">
            <a:spAutoFit/>
          </a:bodyPr>
          <a:lstStyle/>
          <a:p>
            <a:pPr algn="ctr">
              <a:spcAft>
                <a:spcPts val="400"/>
              </a:spcAft>
            </a:pPr>
            <a:r>
              <a:rPr sz="1300" b="1">
                <a:solidFill>
                  <a:srgbClr val="FFFFFF"/>
                </a:solidFill>
                <a:latin typeface="Arial"/>
              </a:rPr>
              <a:t>REAL-WORLD EXAMPLE</a:t>
            </a:r>
          </a:p>
        </p:txBody>
      </p:sp>
      <p:sp>
        <p:nvSpPr>
          <p:cNvPr id="11" name="TextBox 10"/>
          <p:cNvSpPr txBox="1"/>
          <p:nvPr/>
        </p:nvSpPr>
        <p:spPr>
          <a:xfrm>
            <a:off x="1097280" y="2880360"/>
            <a:ext cx="9966960" cy="640080"/>
          </a:xfrm>
          <a:prstGeom prst="rect">
            <a:avLst/>
          </a:prstGeom>
          <a:noFill/>
        </p:spPr>
        <p:txBody>
          <a:bodyPr wrap="square" anchor="t">
            <a:spAutoFit/>
          </a:bodyPr>
          <a:lstStyle/>
          <a:p>
            <a:pPr algn="l">
              <a:spcAft>
                <a:spcPts val="400"/>
              </a:spcAft>
            </a:pPr>
            <a:r>
              <a:rPr sz="2600" b="1">
                <a:solidFill>
                  <a:srgbClr val="161B26"/>
                </a:solidFill>
                <a:latin typeface="Arial"/>
              </a:rPr>
              <a:t>Netflix</a:t>
            </a:r>
          </a:p>
        </p:txBody>
      </p:sp>
      <p:sp>
        <p:nvSpPr>
          <p:cNvPr id="12" name="TextBox 11"/>
          <p:cNvSpPr txBox="1"/>
          <p:nvPr/>
        </p:nvSpPr>
        <p:spPr>
          <a:xfrm>
            <a:off x="1097280" y="3611880"/>
            <a:ext cx="9966960" cy="2194560"/>
          </a:xfrm>
          <a:prstGeom prst="rect">
            <a:avLst/>
          </a:prstGeom>
          <a:noFill/>
        </p:spPr>
        <p:txBody>
          <a:bodyPr wrap="square" anchor="t">
            <a:spAutoFit/>
          </a:bodyPr>
          <a:lstStyle/>
          <a:p>
            <a:pPr algn="l">
              <a:spcAft>
                <a:spcPts val="400"/>
              </a:spcAft>
            </a:pPr>
            <a:r>
              <a:rPr sz="1600" b="0">
                <a:solidFill>
                  <a:srgbClr val="5B6372"/>
                </a:solidFill>
                <a:latin typeface="Arial"/>
              </a:rPr>
              <a:t>Netflix documents disciplined A/B tests down to thumbnail images and runs every creative change against hard viewership data — nothing ships on a hunch. That documentation discipline is exactly what Nimbus's pilot campaign lacked: a record consistent enough to trust before scaling it up.</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T3 · ACTIVITY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Campaign Documentation Audit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CASE STUDY</a:t>
            </a:r>
          </a:p>
        </p:txBody>
      </p:sp>
      <p:sp>
        <p:nvSpPr>
          <p:cNvPr id="9" name="Rectangle 8"/>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2" name="TextBox 11"/>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Three months ago, before committing the full relaunch budget, the Marketing Lead quietly piloted a small "Behind the Jar" campaign — a short Instagram Stories series introducing the new sustainable-packaging story to a slice of the loyal-customer community, alongside one boosted post, a short unpaid write-up from a local lifestyle blog, and a supporting post on the Nimbus website.</a:t>
            </a:r>
          </a:p>
          <a:p>
            <a:pPr algn="l">
              <a:spcAft>
                <a:spcPts val="800"/>
              </a:spcAft>
            </a:pPr>
            <a:r>
              <a:rPr sz="1450" b="0">
                <a:solidFill>
                  <a:srgbClr val="161B26"/>
                </a:solidFill>
                <a:latin typeface="Arial"/>
              </a:rPr>
              <a:t>Nobody kept a single, consistent record of how it performed. Some numbers live in a Marketing team member's spreadsheet, some in a Notion page nobody else can find, and the rest is only in people's memory of "it went pretty well." With the Board wanting proof that the full relaunch campaign works — not just louder impressions — that will not be good enough this time.</a:t>
            </a:r>
          </a:p>
          <a:p>
            <a:pPr algn="l">
              <a:spcAft>
                <a:spcPts val="800"/>
              </a:spcAft>
            </a:pPr>
            <a:r>
              <a:rPr sz="1450" b="0">
                <a:solidFill>
                  <a:srgbClr val="161B26"/>
                </a:solidFill>
                <a:latin typeface="Arial"/>
              </a:rPr>
              <a:t>Your table's job is to reconstruct what actually happened to the pilot campaign across paid, earned, shared and owned media, and turn it into a documentation framework the team can reuse for the real relaunch three months from now.</a:t>
            </a:r>
          </a:p>
        </p:txBody>
      </p:sp>
      <p:sp>
        <p:nvSpPr>
          <p:cNvPr id="13" name="Rectangle 12"/>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 structured PESO-based campaign-reception report for the pilot, with metrics, gaps and a documentation framework the team can reuse for the full relaunch</a:t>
            </a:r>
          </a:p>
        </p:txBody>
      </p:sp>
      <p:sp>
        <p:nvSpPr>
          <p:cNvPr id="15" name="TextBox 14"/>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25 minutes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T3 · ACTIVITY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Campaign Documentation Audit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8" name="Rectangle 7"/>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2" name="TextBox 11"/>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Sorting the pilot's activity into Paid, Earned, Shared and Owned media, where did the strongest customer reception actually happen — and does that match where the team spent the most effort?</a:t>
            </a:r>
          </a:p>
        </p:txBody>
      </p:sp>
      <p:sp>
        <p:nvSpPr>
          <p:cNvPr id="13" name="Rectangle 12"/>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7" name="TextBox 16"/>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pieces of the pilot's story are you missing data for entirely, and how would you close that gap before the full relaunch campaign launches?</a:t>
            </a:r>
          </a:p>
        </p:txBody>
      </p:sp>
      <p:sp>
        <p:nvSpPr>
          <p:cNvPr id="18" name="Rectangle 17"/>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documentation framework would you standardise now, so results don't have to be reconstructed from memory again after the real relaunch?</a:t>
            </a:r>
          </a:p>
        </p:txBody>
      </p:sp>
      <p:sp>
        <p:nvSpPr>
          <p:cNvPr id="23" name="Rectangle 22"/>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7" name="TextBox 26"/>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Based on the pilot's results, what is the strongest evidence you would put in front of the Board to justify the relaunch's PR budget?</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T3 · ACTIVITY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Campaign Documentation Audit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10" name="TextBox 9"/>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Which of the four PESO categories was hardest to find any real data for — and what does that tell you about Nimbus's current documentation habits?</a:t>
            </a:r>
          </a:p>
          <a:p>
            <a:pPr>
              <a:spcAft>
                <a:spcPts val="900"/>
              </a:spcAft>
            </a:pPr>
            <a:r>
              <a:rPr sz="1450" b="0">
                <a:solidFill>
                  <a:srgbClr val="161B26"/>
                </a:solidFill>
                <a:latin typeface="Arial"/>
              </a:rPr>
              <a:t>•  Did the channel that felt most successful in the room match the channel the numbers actually supported?</a:t>
            </a:r>
          </a:p>
          <a:p>
            <a:pPr>
              <a:spcAft>
                <a:spcPts val="900"/>
              </a:spcAft>
            </a:pPr>
            <a:r>
              <a:rPr sz="1450" b="0">
                <a:solidFill>
                  <a:srgbClr val="161B26"/>
                </a:solidFill>
                <a:latin typeface="Arial"/>
              </a:rPr>
              <a:t>•  If the Board asked "how do we know this worked?" right now, could your documentation answer them convincingly?</a:t>
            </a:r>
          </a:p>
        </p:txBody>
      </p:sp>
      <p:sp>
        <p:nvSpPr>
          <p:cNvPr id="11" name="Rectangle 10"/>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3" name="TextBox 12"/>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Every group can show a PESO-sorted reception report for the pilot campaign with at least one metric per media type, the gaps in current data called out honestly, and a reusable documentation framework for the full relaunch.</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29984"/>
            <a:ext cx="12191695" cy="128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468880"/>
            <a:ext cx="10332720" cy="2011680"/>
          </a:xfrm>
          <a:prstGeom prst="rect">
            <a:avLst/>
          </a:prstGeom>
          <a:noFill/>
        </p:spPr>
        <p:txBody>
          <a:bodyPr wrap="square" anchor="ctr">
            <a:spAutoFit/>
          </a:bodyPr>
          <a:lstStyle/>
          <a:p>
            <a:pPr algn="l">
              <a:spcAft>
                <a:spcPts val="400"/>
              </a:spcAft>
            </a:pPr>
            <a:r>
              <a:rPr sz="2100" b="1">
                <a:solidFill>
                  <a:srgbClr val="161B26"/>
                </a:solidFill>
                <a:latin typeface="Arial"/>
              </a:rPr>
              <a:t>Perform active listening from customer to understand customer's perspective of the organisation</a:t>
            </a:r>
          </a:p>
        </p:txBody>
      </p:sp>
      <p:sp>
        <p:nvSpPr>
          <p:cNvPr id="6" name="TextBox 5"/>
          <p:cNvSpPr txBox="1"/>
          <p:nvPr/>
        </p:nvSpPr>
        <p:spPr>
          <a:xfrm>
            <a:off x="914400" y="1965960"/>
            <a:ext cx="10332720" cy="457200"/>
          </a:xfrm>
          <a:prstGeom prst="rect">
            <a:avLst/>
          </a:prstGeom>
          <a:noFill/>
        </p:spPr>
        <p:txBody>
          <a:bodyPr wrap="square" anchor="t">
            <a:spAutoFit/>
          </a:bodyPr>
          <a:lstStyle/>
          <a:p>
            <a:pPr algn="l">
              <a:spcAft>
                <a:spcPts val="400"/>
              </a:spcAft>
            </a:pPr>
            <a:r>
              <a:rPr sz="1500" b="1">
                <a:solidFill>
                  <a:srgbClr val="10B981"/>
                </a:solidFill>
                <a:latin typeface="Arial"/>
              </a:rPr>
              <a:t>LO2 · LU2 · T4</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What is Perform active listening from customer to understand customer's perspective of the organisation?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Full Attention</a:t>
            </a:r>
          </a:p>
          <a:p>
            <a:pPr algn="l">
              <a:spcAft>
                <a:spcPts val="300"/>
              </a:spcAft>
            </a:pPr>
            <a:r>
              <a:rPr sz="1200" b="0">
                <a:solidFill>
                  <a:srgbClr val="5B6372"/>
                </a:solidFill>
                <a:latin typeface="Arial"/>
              </a:rPr>
              <a:t>Eliminate distractions during customer interactions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3 P's Framework</a:t>
            </a:r>
          </a:p>
          <a:p>
            <a:pPr algn="l">
              <a:spcAft>
                <a:spcPts val="300"/>
              </a:spcAft>
            </a:pPr>
            <a:r>
              <a:rPr sz="1200" b="0">
                <a:solidFill>
                  <a:srgbClr val="5B6372"/>
                </a:solidFill>
                <a:latin typeface="Arial"/>
              </a:rPr>
              <a:t>Presence, Patience, and Paraphrasing approach</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Emotion Focus</a:t>
            </a:r>
          </a:p>
          <a:p>
            <a:pPr algn="l">
              <a:spcAft>
                <a:spcPts val="300"/>
              </a:spcAft>
            </a:pPr>
            <a:r>
              <a:rPr sz="1200" b="0">
                <a:solidFill>
                  <a:srgbClr val="5B6372"/>
                </a:solidFill>
                <a:latin typeface="Arial"/>
              </a:rPr>
              <a:t>Understanding the feelings behind customer words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Strategic Insight</a:t>
            </a:r>
          </a:p>
          <a:p>
            <a:pPr algn="l">
              <a:spcAft>
                <a:spcPts val="300"/>
              </a:spcAft>
            </a:pPr>
            <a:r>
              <a:rPr sz="1200" b="0">
                <a:solidFill>
                  <a:srgbClr val="5B6372"/>
                </a:solidFill>
                <a:latin typeface="Arial"/>
              </a:rPr>
              <a:t>Gather valuable customer perception data</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
        <p:nvSpPr>
          <p:cNvPr id="30" name="TextBox 29"/>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the 3 P's active-listening framework (Presence, Patience, Paraphrasing), customer-service training practice</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T4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Active Listening Implementation Steps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74495"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7449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Eliminate</a:t>
            </a:r>
          </a:p>
        </p:txBody>
      </p:sp>
      <p:sp>
        <p:nvSpPr>
          <p:cNvPr id="12" name="TextBox 11"/>
          <p:cNvSpPr txBox="1"/>
          <p:nvPr/>
        </p:nvSpPr>
        <p:spPr>
          <a:xfrm>
            <a:off x="905256"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Remove all distractions completely before you start.</a:t>
            </a:r>
          </a:p>
        </p:txBody>
      </p:sp>
      <p:sp>
        <p:nvSpPr>
          <p:cNvPr id="13" name="TextBox 12"/>
          <p:cNvSpPr txBox="1"/>
          <p:nvPr/>
        </p:nvSpPr>
        <p:spPr>
          <a:xfrm>
            <a:off x="3211830"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4" name="Rectangle 13"/>
          <p:cNvSpPr/>
          <p:nvPr/>
        </p:nvSpPr>
        <p:spPr>
          <a:xfrm>
            <a:off x="3504438"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504438"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01693"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0169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632454"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Focus</a:t>
            </a:r>
          </a:p>
        </p:txBody>
      </p:sp>
      <p:sp>
        <p:nvSpPr>
          <p:cNvPr id="19" name="TextBox 18"/>
          <p:cNvSpPr txBox="1"/>
          <p:nvPr/>
        </p:nvSpPr>
        <p:spPr>
          <a:xfrm>
            <a:off x="3632454"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Give the customer your full attention.</a:t>
            </a:r>
          </a:p>
        </p:txBody>
      </p:sp>
      <p:sp>
        <p:nvSpPr>
          <p:cNvPr id="20" name="TextBox 19"/>
          <p:cNvSpPr txBox="1"/>
          <p:nvPr/>
        </p:nvSpPr>
        <p:spPr>
          <a:xfrm>
            <a:off x="5939028"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1" name="Rectangle 20"/>
          <p:cNvSpPr/>
          <p:nvPr/>
        </p:nvSpPr>
        <p:spPr>
          <a:xfrm>
            <a:off x="6231636"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128891"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288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6359652"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Receive</a:t>
            </a:r>
          </a:p>
        </p:txBody>
      </p:sp>
      <p:sp>
        <p:nvSpPr>
          <p:cNvPr id="26" name="TextBox 25"/>
          <p:cNvSpPr txBox="1"/>
          <p:nvPr/>
        </p:nvSpPr>
        <p:spPr>
          <a:xfrm>
            <a:off x="6359652"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Gather all the information actively — don't half-listen.</a:t>
            </a:r>
          </a:p>
        </p:txBody>
      </p:sp>
      <p:sp>
        <p:nvSpPr>
          <p:cNvPr id="27" name="TextBox 26"/>
          <p:cNvSpPr txBox="1"/>
          <p:nvPr/>
        </p:nvSpPr>
        <p:spPr>
          <a:xfrm>
            <a:off x="8666226"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8" name="Rectangle 27"/>
          <p:cNvSpPr/>
          <p:nvPr/>
        </p:nvSpPr>
        <p:spPr>
          <a:xfrm>
            <a:off x="8958834"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958834"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856089"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5608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9086850"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Interpret</a:t>
            </a:r>
          </a:p>
        </p:txBody>
      </p:sp>
      <p:sp>
        <p:nvSpPr>
          <p:cNvPr id="33" name="TextBox 32"/>
          <p:cNvSpPr txBox="1"/>
          <p:nvPr/>
        </p:nvSpPr>
        <p:spPr>
          <a:xfrm>
            <a:off x="9086850"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Understand the customer's perspective deeply, not just their words.</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T4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Passive Hearing vs Active Listening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Passive Hearing</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The 3 P's — Active Listening</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Word Focus — Hearing only the literal words, missing the tone underneath them.</a:t>
            </a:r>
          </a:p>
          <a:p>
            <a:pPr>
              <a:spcAft>
                <a:spcPts val="1000"/>
              </a:spcAft>
            </a:pPr>
            <a:r>
              <a:rPr sz="1600" b="0">
                <a:solidFill>
                  <a:srgbClr val="161B26"/>
                </a:solidFill>
                <a:latin typeface="Arial"/>
              </a:rPr>
              <a:t>•  Response Ready — Mentally drafting the scripted reply while the customer is still talking.</a:t>
            </a:r>
          </a:p>
          <a:p>
            <a:pPr>
              <a:spcAft>
                <a:spcPts val="1000"/>
              </a:spcAft>
            </a:pPr>
            <a:r>
              <a:rPr sz="1600" b="0">
                <a:solidFill>
                  <a:srgbClr val="161B26"/>
                </a:solidFill>
                <a:latin typeface="Arial"/>
              </a:rPr>
              <a:t>•  Surface Level — Closing the call once the words stop, without checking the feeling behind them.</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Presence — Full attention, phone and scripts aside — genuinely there for the call.</a:t>
            </a:r>
          </a:p>
          <a:p>
            <a:pPr>
              <a:spcAft>
                <a:spcPts val="1000"/>
              </a:spcAft>
            </a:pPr>
            <a:r>
              <a:rPr sz="1600" b="0">
                <a:solidFill>
                  <a:srgbClr val="161B26"/>
                </a:solidFill>
                <a:latin typeface="Arial"/>
              </a:rPr>
              <a:t>•  Patience — Letting the customer finish completely before responding, without rushing.</a:t>
            </a:r>
          </a:p>
          <a:p>
            <a:pPr>
              <a:spcAft>
                <a:spcPts val="1000"/>
              </a:spcAft>
            </a:pPr>
            <a:r>
              <a:rPr sz="1600" b="0">
                <a:solidFill>
                  <a:srgbClr val="161B26"/>
                </a:solidFill>
                <a:latin typeface="Arial"/>
              </a:rPr>
              <a:t>•  Paraphrasing — Reflecting the concern back in your own words to confirm you understood it.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
        <p:nvSpPr>
          <p:cNvPr id="16" name="TextBox 15"/>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the 3 P's active-listening framework (Presence, Patience, Paraphrasing), customer-service training practice.</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T4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Customer Empathy Map — Priya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Says</a:t>
            </a:r>
          </a:p>
          <a:p>
            <a:pPr algn="l">
              <a:spcAft>
                <a:spcPts val="300"/>
              </a:spcAft>
            </a:pPr>
            <a:r>
              <a:rPr sz="1100" b="0">
                <a:solidFill>
                  <a:srgbClr val="5B6372"/>
                </a:solidFill>
                <a:latin typeface="Arial"/>
              </a:rPr>
              <a:t>"Why doesn't Nimbus feel personal anymore?"; "I've bought from you since year one."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Thinks</a:t>
            </a:r>
          </a:p>
          <a:p>
            <a:pPr algn="l">
              <a:spcAft>
                <a:spcPts val="300"/>
              </a:spcAft>
            </a:pPr>
            <a:r>
              <a:rPr sz="1100" b="0">
                <a:solidFill>
                  <a:srgbClr val="5B6372"/>
                </a:solidFill>
                <a:latin typeface="Arial"/>
              </a:rPr>
              <a:t>Does anyone here still actually care?; Maybe I'm just an order number now.</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Does</a:t>
            </a:r>
          </a:p>
          <a:p>
            <a:pPr algn="l">
              <a:spcAft>
                <a:spcPts val="300"/>
              </a:spcAft>
            </a:pPr>
            <a:r>
              <a:rPr sz="1100" b="0">
                <a:solidFill>
                  <a:srgbClr val="5B6372"/>
                </a:solidFill>
                <a:latin typeface="Arial"/>
              </a:rPr>
              <a:t>Calls Customer Service instead of emailing.; Reads the community Facebook thread nightly.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Feels</a:t>
            </a:r>
          </a:p>
          <a:p>
            <a:pPr algn="l">
              <a:spcAft>
                <a:spcPts val="300"/>
              </a:spcAft>
            </a:pPr>
            <a:r>
              <a:rPr sz="1100" b="0">
                <a:solidFill>
                  <a:srgbClr val="5B6372"/>
                </a:solidFill>
                <a:latin typeface="Arial"/>
              </a:rPr>
              <a:t>Frustrated and quietly disappointed.; Still hopeful Nimbus can win her back.</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
        <p:nvSpPr>
          <p:cNvPr id="30" name="TextBox 29"/>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empathy-mapping practice, adapted from the Activity 8 role-play</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LU2 · T4 · REAL-WORLD EXAMPLE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Empty Chair That Represents the Customer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206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28016" cy="42062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97280" y="2103120"/>
            <a:ext cx="2834640"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103120"/>
            <a:ext cx="2834640" cy="502920"/>
          </a:xfrm>
          <a:prstGeom prst="rect">
            <a:avLst/>
          </a:prstGeom>
          <a:noFill/>
        </p:spPr>
        <p:txBody>
          <a:bodyPr wrap="square" anchor="ctr">
            <a:spAutoFit/>
          </a:bodyPr>
          <a:lstStyle/>
          <a:p>
            <a:pPr algn="ctr">
              <a:spcAft>
                <a:spcPts val="400"/>
              </a:spcAft>
            </a:pPr>
            <a:r>
              <a:rPr sz="1300" b="1">
                <a:solidFill>
                  <a:srgbClr val="FFFFFF"/>
                </a:solidFill>
                <a:latin typeface="Arial"/>
              </a:rPr>
              <a:t>REAL-WORLD EXAMPLE</a:t>
            </a:r>
          </a:p>
        </p:txBody>
      </p:sp>
      <p:sp>
        <p:nvSpPr>
          <p:cNvPr id="11" name="TextBox 10"/>
          <p:cNvSpPr txBox="1"/>
          <p:nvPr/>
        </p:nvSpPr>
        <p:spPr>
          <a:xfrm>
            <a:off x="1097280" y="2880360"/>
            <a:ext cx="9966960" cy="640080"/>
          </a:xfrm>
          <a:prstGeom prst="rect">
            <a:avLst/>
          </a:prstGeom>
          <a:noFill/>
        </p:spPr>
        <p:txBody>
          <a:bodyPr wrap="square" anchor="t">
            <a:spAutoFit/>
          </a:bodyPr>
          <a:lstStyle/>
          <a:p>
            <a:pPr algn="l">
              <a:spcAft>
                <a:spcPts val="400"/>
              </a:spcAft>
            </a:pPr>
            <a:r>
              <a:rPr sz="2600" b="1">
                <a:solidFill>
                  <a:srgbClr val="161B26"/>
                </a:solidFill>
                <a:latin typeface="Arial"/>
              </a:rPr>
              <a:t>Amazon</a:t>
            </a:r>
          </a:p>
        </p:txBody>
      </p:sp>
      <p:sp>
        <p:nvSpPr>
          <p:cNvPr id="12" name="TextBox 11"/>
          <p:cNvSpPr txBox="1"/>
          <p:nvPr/>
        </p:nvSpPr>
        <p:spPr>
          <a:xfrm>
            <a:off x="1097280" y="3611880"/>
            <a:ext cx="9966960" cy="2194560"/>
          </a:xfrm>
          <a:prstGeom prst="rect">
            <a:avLst/>
          </a:prstGeom>
          <a:noFill/>
        </p:spPr>
        <p:txBody>
          <a:bodyPr wrap="square" anchor="t">
            <a:spAutoFit/>
          </a:bodyPr>
          <a:lstStyle/>
          <a:p>
            <a:pPr algn="l">
              <a:spcAft>
                <a:spcPts val="400"/>
              </a:spcAft>
            </a:pPr>
            <a:r>
              <a:rPr sz="1600" b="0">
                <a:solidFill>
                  <a:srgbClr val="5B6372"/>
                </a:solidFill>
                <a:latin typeface="Arial"/>
              </a:rPr>
              <a:t>Amazon famously keeps an empty chair in meetings to represent the customer whose voice isn't otherwise in the room — a physical reminder to listen before deciding. The 3 P's do the same work on a live call: they force Presence, Patience and Paraphrasing instead of assumption.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T4 · ACTIVITY 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Customer Perspective Analysis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ROLE PLAY</a:t>
            </a:r>
          </a:p>
        </p:txBody>
      </p:sp>
      <p:sp>
        <p:nvSpPr>
          <p:cNvPr id="9" name="Rectangle 8"/>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2" name="TextBox 11"/>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Priya has bought from Nimbus Wellness since its first year. Last night she read the same community Facebook thread the Activity 4 audit flagged — customers saying Nimbus "doesn't feel personal anymore" — and she agrees. This morning she calls Customer Service, frustrated, wanting to know why the brand she used to feel loyal to now treats her like any other order number.</a:t>
            </a:r>
          </a:p>
          <a:p>
            <a:pPr algn="l">
              <a:spcAft>
                <a:spcPts val="800"/>
              </a:spcAft>
            </a:pPr>
            <a:r>
              <a:rPr sz="1450" b="0">
                <a:solidFill>
                  <a:srgbClr val="161B26"/>
                </a:solidFill>
                <a:latin typeface="Arial"/>
              </a:rPr>
              <a:t>The rep taking the call has a real average-handle-time target and a bank of quick-reply macros that would close this call in under two minutes. But leadership has asked every Customer Service call this week to be an active-listening opportunity, not just a resolution — because this exact situation is what the relaunch's active-listening approach will need to prove it can handle.</a:t>
            </a:r>
          </a:p>
          <a:p>
            <a:pPr algn="l">
              <a:spcAft>
                <a:spcPts val="800"/>
              </a:spcAft>
            </a:pPr>
            <a:r>
              <a:rPr sz="1450" b="0">
                <a:solidFill>
                  <a:srgbClr val="161B26"/>
                </a:solidFill>
                <a:latin typeface="Arial"/>
              </a:rPr>
              <a:t>Your group of three will run this call as a role play, coached in real time against the 3 P's, then turn what was actually said — not just what was resolved — into a documented customer-perspective insight for the relaunch team.</a:t>
            </a:r>
          </a:p>
        </p:txBody>
      </p:sp>
      <p:sp>
        <p:nvSpPr>
          <p:cNvPr id="13" name="Rectangle 12"/>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 completed customer-perspective analysis report — the emotion behind the words, a coaching note against the 3 P's, and one actionable insight for the relaunch team</a:t>
            </a:r>
          </a:p>
        </p:txBody>
      </p:sp>
      <p:sp>
        <p:nvSpPr>
          <p:cNvPr id="15" name="TextBox 14"/>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25 minutes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T4 · ACTIVITY 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Customer Perspective Analysis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ASSIGN THE ROLES</a:t>
            </a:r>
          </a:p>
        </p:txBody>
      </p:sp>
      <p:sp>
        <p:nvSpPr>
          <p:cNvPr id="8" name="Rectangle 7"/>
          <p:cNvSpPr/>
          <p:nvPr/>
        </p:nvSpPr>
        <p:spPr>
          <a:xfrm>
            <a:off x="777240" y="2194560"/>
            <a:ext cx="3361944" cy="3886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194560"/>
            <a:ext cx="3361944"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194560"/>
            <a:ext cx="3361944" cy="457200"/>
          </a:xfrm>
          <a:prstGeom prst="rect">
            <a:avLst/>
          </a:prstGeom>
          <a:noFill/>
        </p:spPr>
        <p:txBody>
          <a:bodyPr wrap="square" anchor="ctr">
            <a:spAutoFit/>
          </a:bodyPr>
          <a:lstStyle/>
          <a:p>
            <a:pPr algn="ctr">
              <a:spcAft>
                <a:spcPts val="400"/>
              </a:spcAft>
            </a:pPr>
            <a:r>
              <a:rPr sz="1500" b="1">
                <a:solidFill>
                  <a:srgbClr val="FFFFFF"/>
                </a:solidFill>
                <a:latin typeface="Arial"/>
              </a:rPr>
              <a:t>The Customer (Priya)</a:t>
            </a:r>
          </a:p>
        </p:txBody>
      </p:sp>
      <p:sp>
        <p:nvSpPr>
          <p:cNvPr id="11" name="TextBox 10"/>
          <p:cNvSpPr txBox="1"/>
          <p:nvPr/>
        </p:nvSpPr>
        <p:spPr>
          <a:xfrm>
            <a:off x="978408" y="2816352"/>
            <a:ext cx="2959608" cy="548640"/>
          </a:xfrm>
          <a:prstGeom prst="rect">
            <a:avLst/>
          </a:prstGeom>
          <a:noFill/>
        </p:spPr>
        <p:txBody>
          <a:bodyPr wrap="square" anchor="t">
            <a:spAutoFit/>
          </a:bodyPr>
          <a:lstStyle/>
          <a:p>
            <a:pPr algn="l">
              <a:spcAft>
                <a:spcPts val="400"/>
              </a:spcAft>
            </a:pPr>
            <a:r>
              <a:rPr sz="1100" b="1">
                <a:solidFill>
                  <a:srgbClr val="1F6FEB"/>
                </a:solidFill>
                <a:latin typeface="Arial"/>
              </a:rPr>
              <a:t>GOAL</a:t>
            </a:r>
          </a:p>
        </p:txBody>
      </p:sp>
      <p:sp>
        <p:nvSpPr>
          <p:cNvPr id="12" name="TextBox 11"/>
          <p:cNvSpPr txBox="1"/>
          <p:nvPr/>
        </p:nvSpPr>
        <p:spPr>
          <a:xfrm>
            <a:off x="978408" y="3090672"/>
            <a:ext cx="2959608" cy="822960"/>
          </a:xfrm>
          <a:prstGeom prst="rect">
            <a:avLst/>
          </a:prstGeom>
          <a:noFill/>
        </p:spPr>
        <p:txBody>
          <a:bodyPr wrap="square" anchor="t">
            <a:spAutoFit/>
          </a:bodyPr>
          <a:lstStyle/>
          <a:p>
            <a:pPr algn="l">
              <a:spcAft>
                <a:spcPts val="400"/>
              </a:spcAft>
            </a:pPr>
            <a:r>
              <a:rPr sz="1250" b="1">
                <a:solidFill>
                  <a:srgbClr val="161B26"/>
                </a:solidFill>
                <a:latin typeface="Arial"/>
              </a:rPr>
              <a:t>Be heard and taken seriously, not just processed</a:t>
            </a:r>
          </a:p>
        </p:txBody>
      </p:sp>
      <p:sp>
        <p:nvSpPr>
          <p:cNvPr id="13" name="TextBox 12"/>
          <p:cNvSpPr txBox="1"/>
          <p:nvPr/>
        </p:nvSpPr>
        <p:spPr>
          <a:xfrm>
            <a:off x="978408" y="3977640"/>
            <a:ext cx="2959608" cy="2011680"/>
          </a:xfrm>
          <a:prstGeom prst="rect">
            <a:avLst/>
          </a:prstGeom>
          <a:noFill/>
        </p:spPr>
        <p:txBody>
          <a:bodyPr wrap="square" anchor="t">
            <a:spAutoFit/>
          </a:bodyPr>
          <a:lstStyle/>
          <a:p>
            <a:pPr algn="l">
              <a:spcAft>
                <a:spcPts val="400"/>
              </a:spcAft>
            </a:pPr>
            <a:r>
              <a:rPr sz="1200" b="0">
                <a:solidFill>
                  <a:srgbClr val="5B6372"/>
                </a:solidFill>
                <a:latin typeface="Arial"/>
              </a:rPr>
              <a:t>A five-year loyal customer who feels increasingly like a transaction. She isn't asking for a refund — she wants to know if anyone at Nimbus still cares.</a:t>
            </a:r>
          </a:p>
        </p:txBody>
      </p:sp>
      <p:sp>
        <p:nvSpPr>
          <p:cNvPr id="14" name="Rectangle 13"/>
          <p:cNvSpPr/>
          <p:nvPr/>
        </p:nvSpPr>
        <p:spPr>
          <a:xfrm>
            <a:off x="4413504" y="2194560"/>
            <a:ext cx="3361944" cy="3886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13504" y="2194560"/>
            <a:ext cx="3361944"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13504" y="2194560"/>
            <a:ext cx="3361944" cy="457200"/>
          </a:xfrm>
          <a:prstGeom prst="rect">
            <a:avLst/>
          </a:prstGeom>
          <a:noFill/>
        </p:spPr>
        <p:txBody>
          <a:bodyPr wrap="square" anchor="ctr">
            <a:spAutoFit/>
          </a:bodyPr>
          <a:lstStyle/>
          <a:p>
            <a:pPr algn="ctr">
              <a:spcAft>
                <a:spcPts val="400"/>
              </a:spcAft>
            </a:pPr>
            <a:r>
              <a:rPr sz="1500" b="1">
                <a:solidFill>
                  <a:srgbClr val="FFFFFF"/>
                </a:solidFill>
                <a:latin typeface="Arial"/>
              </a:rPr>
              <a:t>Nimbus Service Rep</a:t>
            </a:r>
          </a:p>
        </p:txBody>
      </p:sp>
      <p:sp>
        <p:nvSpPr>
          <p:cNvPr id="17" name="TextBox 16"/>
          <p:cNvSpPr txBox="1"/>
          <p:nvPr/>
        </p:nvSpPr>
        <p:spPr>
          <a:xfrm>
            <a:off x="4614672" y="2816352"/>
            <a:ext cx="2959608" cy="548640"/>
          </a:xfrm>
          <a:prstGeom prst="rect">
            <a:avLst/>
          </a:prstGeom>
          <a:noFill/>
        </p:spPr>
        <p:txBody>
          <a:bodyPr wrap="square" anchor="t">
            <a:spAutoFit/>
          </a:bodyPr>
          <a:lstStyle/>
          <a:p>
            <a:pPr algn="l">
              <a:spcAft>
                <a:spcPts val="400"/>
              </a:spcAft>
            </a:pPr>
            <a:r>
              <a:rPr sz="1100" b="1">
                <a:solidFill>
                  <a:srgbClr val="10B981"/>
                </a:solidFill>
                <a:latin typeface="Arial"/>
              </a:rPr>
              <a:t>GOAL</a:t>
            </a:r>
          </a:p>
        </p:txBody>
      </p:sp>
      <p:sp>
        <p:nvSpPr>
          <p:cNvPr id="18" name="TextBox 17"/>
          <p:cNvSpPr txBox="1"/>
          <p:nvPr/>
        </p:nvSpPr>
        <p:spPr>
          <a:xfrm>
            <a:off x="4614672" y="3090672"/>
            <a:ext cx="2959608" cy="822960"/>
          </a:xfrm>
          <a:prstGeom prst="rect">
            <a:avLst/>
          </a:prstGeom>
          <a:noFill/>
        </p:spPr>
        <p:txBody>
          <a:bodyPr wrap="square" anchor="t">
            <a:spAutoFit/>
          </a:bodyPr>
          <a:lstStyle/>
          <a:p>
            <a:pPr algn="l">
              <a:spcAft>
                <a:spcPts val="400"/>
              </a:spcAft>
            </a:pPr>
            <a:r>
              <a:rPr sz="1250" b="1">
                <a:solidFill>
                  <a:srgbClr val="161B26"/>
                </a:solidFill>
                <a:latin typeface="Arial"/>
              </a:rPr>
              <a:t>Resolve the call by genuinely listening, not by closing it fast</a:t>
            </a:r>
          </a:p>
        </p:txBody>
      </p:sp>
      <p:sp>
        <p:nvSpPr>
          <p:cNvPr id="19" name="TextBox 18"/>
          <p:cNvSpPr txBox="1"/>
          <p:nvPr/>
        </p:nvSpPr>
        <p:spPr>
          <a:xfrm>
            <a:off x="4614672" y="3977640"/>
            <a:ext cx="2959608" cy="2011680"/>
          </a:xfrm>
          <a:prstGeom prst="rect">
            <a:avLst/>
          </a:prstGeom>
          <a:noFill/>
        </p:spPr>
        <p:txBody>
          <a:bodyPr wrap="square" anchor="t">
            <a:spAutoFit/>
          </a:bodyPr>
          <a:lstStyle/>
          <a:p>
            <a:pPr algn="l">
              <a:spcAft>
                <a:spcPts val="400"/>
              </a:spcAft>
            </a:pPr>
            <a:r>
              <a:rPr sz="1200" b="0">
                <a:solidFill>
                  <a:srgbClr val="5B6372"/>
                </a:solidFill>
                <a:latin typeface="Arial"/>
              </a:rPr>
              <a:t>Under real pressure to keep the call short, but has been told this week that how the call feels matters as much as how quickly it ends.</a:t>
            </a:r>
          </a:p>
        </p:txBody>
      </p:sp>
      <p:sp>
        <p:nvSpPr>
          <p:cNvPr id="20" name="Rectangle 19"/>
          <p:cNvSpPr/>
          <p:nvPr/>
        </p:nvSpPr>
        <p:spPr>
          <a:xfrm>
            <a:off x="8049768" y="2194560"/>
            <a:ext cx="3361944" cy="3886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49768" y="2194560"/>
            <a:ext cx="3361944"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9768" y="2194560"/>
            <a:ext cx="3361944" cy="457200"/>
          </a:xfrm>
          <a:prstGeom prst="rect">
            <a:avLst/>
          </a:prstGeom>
          <a:noFill/>
        </p:spPr>
        <p:txBody>
          <a:bodyPr wrap="square" anchor="ctr">
            <a:spAutoFit/>
          </a:bodyPr>
          <a:lstStyle/>
          <a:p>
            <a:pPr algn="ctr">
              <a:spcAft>
                <a:spcPts val="400"/>
              </a:spcAft>
            </a:pPr>
            <a:r>
              <a:rPr sz="1500" b="1">
                <a:solidFill>
                  <a:srgbClr val="FFFFFF"/>
                </a:solidFill>
                <a:latin typeface="Arial"/>
              </a:rPr>
              <a:t>Observer / Coach</a:t>
            </a:r>
          </a:p>
        </p:txBody>
      </p:sp>
      <p:sp>
        <p:nvSpPr>
          <p:cNvPr id="23" name="TextBox 22"/>
          <p:cNvSpPr txBox="1"/>
          <p:nvPr/>
        </p:nvSpPr>
        <p:spPr>
          <a:xfrm>
            <a:off x="8250936" y="2816352"/>
            <a:ext cx="2959608" cy="548640"/>
          </a:xfrm>
          <a:prstGeom prst="rect">
            <a:avLst/>
          </a:prstGeom>
          <a:noFill/>
        </p:spPr>
        <p:txBody>
          <a:bodyPr wrap="square" anchor="t">
            <a:spAutoFit/>
          </a:bodyPr>
          <a:lstStyle/>
          <a:p>
            <a:pPr algn="l">
              <a:spcAft>
                <a:spcPts val="400"/>
              </a:spcAft>
            </a:pPr>
            <a:r>
              <a:rPr sz="1100" b="1">
                <a:solidFill>
                  <a:srgbClr val="7C3AED"/>
                </a:solidFill>
                <a:latin typeface="Arial"/>
              </a:rPr>
              <a:t>GOAL</a:t>
            </a:r>
          </a:p>
        </p:txBody>
      </p:sp>
      <p:sp>
        <p:nvSpPr>
          <p:cNvPr id="24" name="TextBox 23"/>
          <p:cNvSpPr txBox="1"/>
          <p:nvPr/>
        </p:nvSpPr>
        <p:spPr>
          <a:xfrm>
            <a:off x="8250936" y="3090672"/>
            <a:ext cx="2959608" cy="822960"/>
          </a:xfrm>
          <a:prstGeom prst="rect">
            <a:avLst/>
          </a:prstGeom>
          <a:noFill/>
        </p:spPr>
        <p:txBody>
          <a:bodyPr wrap="square" anchor="t">
            <a:spAutoFit/>
          </a:bodyPr>
          <a:lstStyle/>
          <a:p>
            <a:pPr algn="l">
              <a:spcAft>
                <a:spcPts val="400"/>
              </a:spcAft>
            </a:pPr>
            <a:r>
              <a:rPr sz="1250" b="1">
                <a:solidFill>
                  <a:srgbClr val="161B26"/>
                </a:solidFill>
                <a:latin typeface="Arial"/>
              </a:rPr>
              <a:t>Apply the 3 P's framework as a coaching lens on the call</a:t>
            </a:r>
          </a:p>
        </p:txBody>
      </p:sp>
      <p:sp>
        <p:nvSpPr>
          <p:cNvPr id="25" name="TextBox 24"/>
          <p:cNvSpPr txBox="1"/>
          <p:nvPr/>
        </p:nvSpPr>
        <p:spPr>
          <a:xfrm>
            <a:off x="8250936" y="3977640"/>
            <a:ext cx="2959608" cy="2011680"/>
          </a:xfrm>
          <a:prstGeom prst="rect">
            <a:avLst/>
          </a:prstGeom>
          <a:noFill/>
        </p:spPr>
        <p:txBody>
          <a:bodyPr wrap="square" anchor="t">
            <a:spAutoFit/>
          </a:bodyPr>
          <a:lstStyle/>
          <a:p>
            <a:pPr algn="l">
              <a:spcAft>
                <a:spcPts val="400"/>
              </a:spcAft>
            </a:pPr>
            <a:r>
              <a:rPr sz="1200" b="0">
                <a:solidFill>
                  <a:srgbClr val="5B6372"/>
                </a:solidFill>
                <a:latin typeface="Arial"/>
              </a:rPr>
              <a:t>Says nothing during the role play itself, but tracks exactly where Presence, Patience and Paraphrasing show up — or don't — to coach the Rep afterwards.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T4 · ACTIVITY 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Customer Perspective Analysis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8" name="Rectangle 7"/>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2" name="TextBox 11"/>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As the call plays out, where does the Rep genuinely apply Presence, Patience and Paraphrasing — and where do they slip back into passive hearing?</a:t>
            </a:r>
          </a:p>
        </p:txBody>
      </p:sp>
      <p:sp>
        <p:nvSpPr>
          <p:cNvPr id="13" name="Rectangle 12"/>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7" name="TextBox 16"/>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emotion is actually behind Priya's words, as distinct from the literal complaint she's making?</a:t>
            </a:r>
          </a:p>
        </p:txBody>
      </p:sp>
      <p:sp>
        <p:nvSpPr>
          <p:cNvPr id="18" name="Rectangle 17"/>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How would the Observer paraphrase Priya's perspective back in one honest sentence, without judgement and without minimising it?</a:t>
            </a:r>
          </a:p>
        </p:txBody>
      </p:sp>
      <p:sp>
        <p:nvSpPr>
          <p:cNvPr id="23" name="Rectangle 22"/>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7" name="TextBox 26"/>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Beyond "the customer was upset," what concrete, actionable insight should this call generate for the relaunch team?</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transition spd="med">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LU2 · T4 · ACTIVITY 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Customer Perspective Analysis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10" name="TextBox 9"/>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As the Customer, at what point in the call did you feel genuinely heard — or feel yourself give up on being heard?</a:t>
            </a:r>
          </a:p>
          <a:p>
            <a:pPr>
              <a:spcAft>
                <a:spcPts val="900"/>
              </a:spcAft>
            </a:pPr>
            <a:r>
              <a:rPr sz="1450" b="0">
                <a:solidFill>
                  <a:srgbClr val="161B26"/>
                </a:solidFill>
                <a:latin typeface="Arial"/>
              </a:rPr>
              <a:t>•  As the Rep, was it harder to stay patient, or harder to paraphrase without sounding scripted?</a:t>
            </a:r>
          </a:p>
          <a:p>
            <a:pPr>
              <a:spcAft>
                <a:spcPts val="900"/>
              </a:spcAft>
            </a:pPr>
            <a:r>
              <a:rPr sz="1450" b="0">
                <a:solidFill>
                  <a:srgbClr val="161B26"/>
                </a:solidFill>
                <a:latin typeface="Arial"/>
              </a:rPr>
              <a:t>•  As the Observer, which of the 3 P's was missing most often, and what would you coach first?</a:t>
            </a:r>
          </a:p>
        </p:txBody>
      </p:sp>
      <p:sp>
        <p:nvSpPr>
          <p:cNvPr id="11" name="Rectangle 10"/>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3" name="TextBox 12"/>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Every group can show a completed customer-perspective analysis that names the emotion behind Priya's words (not just the words themselves), cites a specific moment where a P was applied or missed, and closes with one actionable insight for the relaunch team.</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transition spd="med">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LU2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Recap — Customer Influence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Brand Perception Audit</a:t>
            </a:r>
          </a:p>
          <a:p>
            <a:pPr algn="l">
              <a:spcAft>
                <a:spcPts val="300"/>
              </a:spcAft>
            </a:pPr>
            <a:r>
              <a:rPr sz="1200" b="0">
                <a:solidFill>
                  <a:srgbClr val="5B6372"/>
                </a:solidFill>
                <a:latin typeface="Arial"/>
              </a:rPr>
              <a:t>You can now: Assess customer perceptions of the brand, products and services.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Brand Advocacy Assessment</a:t>
            </a:r>
          </a:p>
          <a:p>
            <a:pPr algn="l">
              <a:spcAft>
                <a:spcPts val="300"/>
              </a:spcAft>
            </a:pPr>
            <a:r>
              <a:rPr sz="1200" b="0">
                <a:solidFill>
                  <a:srgbClr val="5B6372"/>
                </a:solidFill>
                <a:latin typeface="Arial"/>
              </a:rPr>
              <a:t>You can now: Recognise the importance of the customer in influencing brand reputation.</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Campaign Documentation Audit</a:t>
            </a:r>
          </a:p>
          <a:p>
            <a:pPr algn="l">
              <a:spcAft>
                <a:spcPts val="300"/>
              </a:spcAft>
            </a:pPr>
            <a:r>
              <a:rPr sz="1200" b="0">
                <a:solidFill>
                  <a:srgbClr val="5B6372"/>
                </a:solidFill>
                <a:latin typeface="Arial"/>
              </a:rPr>
              <a:t>You can now: Document customer reception to the brand and the outcome of branding campaigns.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Customer Perspective Analysis</a:t>
            </a:r>
          </a:p>
          <a:p>
            <a:pPr algn="l">
              <a:spcAft>
                <a:spcPts val="300"/>
              </a:spcAft>
            </a:pPr>
            <a:r>
              <a:rPr sz="1200" b="0">
                <a:solidFill>
                  <a:srgbClr val="5B6372"/>
                </a:solidFill>
                <a:latin typeface="Arial"/>
              </a:rPr>
              <a:t>You can now: Perform active listening from the customer to understand the customer's perspective of the organisation.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transition spd="med">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LU2 · WHY IT MATTERS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gap between what you believe about your brand and what customers feel is where reputations are won or lost.</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 Closing thought, LU2: Customer Influence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transition spd="med">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LU3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Branding in Marketing</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Branding Basics · Role in Marketing · Awareness Campaigns · PR Execution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LU3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LU3 · KEY CONCEPTS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Key Concepts — Branding in Marketing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Branding basics — visual identity, brand values, brand voice and brand guidelines — give a business a consistent, recognisable presence.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Branding plays a central role in marketing: it builds trust, differentiates from competitors and creates the emotional connection that drives loyalty.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Executing branding campaigns, events and activities — from social pushes to experiential pop-ups — raises brand awareness across the target audience.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Public-relations campaigns must align to the brand positioning strategy, the operational plan and the marketing budget to stay credible and sustainable.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transition spd="med">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LU3 · AUTHENTICITY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Anatomy of Brand Authenticity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Authenticity is engineered through four repeatable practices.</a:t>
            </a:r>
          </a:p>
        </p:txBody>
      </p:sp>
      <p:sp>
        <p:nvSpPr>
          <p:cNvPr id="8" name="Rectangle 7"/>
          <p:cNvSpPr/>
          <p:nvPr/>
        </p:nvSpPr>
        <p:spPr>
          <a:xfrm>
            <a:off x="777240" y="2057400"/>
            <a:ext cx="5180076" cy="19156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57400"/>
            <a:ext cx="91440" cy="19156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2221992"/>
            <a:ext cx="4677156" cy="365760"/>
          </a:xfrm>
          <a:prstGeom prst="rect">
            <a:avLst/>
          </a:prstGeom>
          <a:noFill/>
        </p:spPr>
        <p:txBody>
          <a:bodyPr wrap="square" anchor="t">
            <a:spAutoFit/>
          </a:bodyPr>
          <a:lstStyle/>
          <a:p>
            <a:pPr algn="l">
              <a:spcAft>
                <a:spcPts val="400"/>
              </a:spcAft>
            </a:pPr>
            <a:r>
              <a:rPr sz="1600" b="1">
                <a:solidFill>
                  <a:srgbClr val="1F6FEB"/>
                </a:solidFill>
                <a:latin typeface="Arial"/>
              </a:rPr>
              <a:t>Radical Transparency</a:t>
            </a:r>
          </a:p>
        </p:txBody>
      </p:sp>
      <p:sp>
        <p:nvSpPr>
          <p:cNvPr id="11" name="TextBox 10"/>
          <p:cNvSpPr txBox="1"/>
          <p:nvPr/>
        </p:nvSpPr>
        <p:spPr>
          <a:xfrm>
            <a:off x="1051560" y="2624328"/>
            <a:ext cx="4677156" cy="1229868"/>
          </a:xfrm>
          <a:prstGeom prst="rect">
            <a:avLst/>
          </a:prstGeom>
          <a:noFill/>
        </p:spPr>
        <p:txBody>
          <a:bodyPr wrap="square" anchor="t">
            <a:spAutoFit/>
          </a:bodyPr>
          <a:lstStyle/>
          <a:p>
            <a:pPr algn="l">
              <a:spcAft>
                <a:spcPts val="400"/>
              </a:spcAft>
            </a:pPr>
            <a:r>
              <a:rPr sz="1200" b="0">
                <a:solidFill>
                  <a:srgbClr val="161B26"/>
                </a:solidFill>
                <a:latin typeface="Arial"/>
              </a:rPr>
              <a:t>Open communication about business practices and product origins — e.g. Patagonia's Footprint Chronicles detailing supply-chain realities.</a:t>
            </a:r>
          </a:p>
        </p:txBody>
      </p:sp>
      <p:sp>
        <p:nvSpPr>
          <p:cNvPr id="12" name="Rectangle 11"/>
          <p:cNvSpPr/>
          <p:nvPr/>
        </p:nvSpPr>
        <p:spPr>
          <a:xfrm>
            <a:off x="6231636" y="2057400"/>
            <a:ext cx="5180076" cy="19156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2057400"/>
            <a:ext cx="91440" cy="19156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05956" y="2221992"/>
            <a:ext cx="4677156" cy="365760"/>
          </a:xfrm>
          <a:prstGeom prst="rect">
            <a:avLst/>
          </a:prstGeom>
          <a:noFill/>
        </p:spPr>
        <p:txBody>
          <a:bodyPr wrap="square" anchor="t">
            <a:spAutoFit/>
          </a:bodyPr>
          <a:lstStyle/>
          <a:p>
            <a:pPr algn="l">
              <a:spcAft>
                <a:spcPts val="400"/>
              </a:spcAft>
            </a:pPr>
            <a:r>
              <a:rPr sz="1600" b="1">
                <a:solidFill>
                  <a:srgbClr val="10B981"/>
                </a:solidFill>
                <a:latin typeface="Arial"/>
              </a:rPr>
              <a:t>Value Alignment</a:t>
            </a:r>
          </a:p>
        </p:txBody>
      </p:sp>
      <p:sp>
        <p:nvSpPr>
          <p:cNvPr id="15" name="TextBox 14"/>
          <p:cNvSpPr txBox="1"/>
          <p:nvPr/>
        </p:nvSpPr>
        <p:spPr>
          <a:xfrm>
            <a:off x="6505956" y="2624328"/>
            <a:ext cx="4677156" cy="1229868"/>
          </a:xfrm>
          <a:prstGeom prst="rect">
            <a:avLst/>
          </a:prstGeom>
          <a:noFill/>
        </p:spPr>
        <p:txBody>
          <a:bodyPr wrap="square" anchor="t">
            <a:spAutoFit/>
          </a:bodyPr>
          <a:lstStyle/>
          <a:p>
            <a:pPr algn="l">
              <a:spcAft>
                <a:spcPts val="400"/>
              </a:spcAft>
            </a:pPr>
            <a:r>
              <a:rPr sz="1200" b="0">
                <a:solidFill>
                  <a:srgbClr val="161B26"/>
                </a:solidFill>
                <a:latin typeface="Arial"/>
              </a:rPr>
              <a:t>Emotional connection forged through shared beliefs and societal commitment — e.g. Ben &amp; Jerry's integration of social justice into core operations.</a:t>
            </a:r>
          </a:p>
        </p:txBody>
      </p:sp>
      <p:sp>
        <p:nvSpPr>
          <p:cNvPr id="16" name="Rectangle 15"/>
          <p:cNvSpPr/>
          <p:nvPr/>
        </p:nvSpPr>
        <p:spPr>
          <a:xfrm>
            <a:off x="777240" y="4210812"/>
            <a:ext cx="5180076" cy="19156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210812"/>
            <a:ext cx="91440" cy="19156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4375404"/>
            <a:ext cx="4677156" cy="365760"/>
          </a:xfrm>
          <a:prstGeom prst="rect">
            <a:avLst/>
          </a:prstGeom>
          <a:noFill/>
        </p:spPr>
        <p:txBody>
          <a:bodyPr wrap="square" anchor="t">
            <a:spAutoFit/>
          </a:bodyPr>
          <a:lstStyle/>
          <a:p>
            <a:pPr algn="l">
              <a:spcAft>
                <a:spcPts val="400"/>
              </a:spcAft>
            </a:pPr>
            <a:r>
              <a:rPr sz="1600" b="1">
                <a:solidFill>
                  <a:srgbClr val="7C3AED"/>
                </a:solidFill>
                <a:latin typeface="Arial"/>
              </a:rPr>
              <a:t>Authentic Storytelling</a:t>
            </a:r>
          </a:p>
        </p:txBody>
      </p:sp>
      <p:sp>
        <p:nvSpPr>
          <p:cNvPr id="19" name="TextBox 18"/>
          <p:cNvSpPr txBox="1"/>
          <p:nvPr/>
        </p:nvSpPr>
        <p:spPr>
          <a:xfrm>
            <a:off x="1051560" y="4777740"/>
            <a:ext cx="4677156" cy="1229868"/>
          </a:xfrm>
          <a:prstGeom prst="rect">
            <a:avLst/>
          </a:prstGeom>
          <a:noFill/>
        </p:spPr>
        <p:txBody>
          <a:bodyPr wrap="square" anchor="t">
            <a:spAutoFit/>
          </a:bodyPr>
          <a:lstStyle/>
          <a:p>
            <a:pPr algn="l">
              <a:spcAft>
                <a:spcPts val="400"/>
              </a:spcAft>
            </a:pPr>
            <a:r>
              <a:rPr sz="1200" b="0">
                <a:solidFill>
                  <a:srgbClr val="161B26"/>
                </a:solidFill>
                <a:latin typeface="Arial"/>
              </a:rPr>
              <a:t>Humanising the brand through relatable, non-fabricated narratives — e.g. Nike highlighting genuine struggles and triumphs of real athletes.</a:t>
            </a:r>
          </a:p>
        </p:txBody>
      </p:sp>
      <p:sp>
        <p:nvSpPr>
          <p:cNvPr id="20" name="Rectangle 19"/>
          <p:cNvSpPr/>
          <p:nvPr/>
        </p:nvSpPr>
        <p:spPr>
          <a:xfrm>
            <a:off x="6231636" y="4210812"/>
            <a:ext cx="5180076" cy="19156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31636" y="4210812"/>
            <a:ext cx="91440" cy="19156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05956" y="4375404"/>
            <a:ext cx="4677156" cy="365760"/>
          </a:xfrm>
          <a:prstGeom prst="rect">
            <a:avLst/>
          </a:prstGeom>
          <a:noFill/>
        </p:spPr>
        <p:txBody>
          <a:bodyPr wrap="square" anchor="t">
            <a:spAutoFit/>
          </a:bodyPr>
          <a:lstStyle/>
          <a:p>
            <a:pPr algn="l">
              <a:spcAft>
                <a:spcPts val="400"/>
              </a:spcAft>
            </a:pPr>
            <a:r>
              <a:rPr sz="1600" b="1">
                <a:solidFill>
                  <a:srgbClr val="F59E0B"/>
                </a:solidFill>
                <a:latin typeface="Arial"/>
              </a:rPr>
              <a:t>Quality Assurance</a:t>
            </a:r>
          </a:p>
        </p:txBody>
      </p:sp>
      <p:sp>
        <p:nvSpPr>
          <p:cNvPr id="23" name="TextBox 22"/>
          <p:cNvSpPr txBox="1"/>
          <p:nvPr/>
        </p:nvSpPr>
        <p:spPr>
          <a:xfrm>
            <a:off x="6505956" y="4777740"/>
            <a:ext cx="4677156" cy="1229868"/>
          </a:xfrm>
          <a:prstGeom prst="rect">
            <a:avLst/>
          </a:prstGeom>
          <a:noFill/>
        </p:spPr>
        <p:txBody>
          <a:bodyPr wrap="square" anchor="t">
            <a:spAutoFit/>
          </a:bodyPr>
          <a:lstStyle/>
          <a:p>
            <a:pPr algn="l">
              <a:spcAft>
                <a:spcPts val="400"/>
              </a:spcAft>
            </a:pPr>
            <a:r>
              <a:rPr sz="1200" b="0">
                <a:solidFill>
                  <a:srgbClr val="161B26"/>
                </a:solidFill>
                <a:latin typeface="Arial"/>
              </a:rPr>
              <a:t>Trust earned through unwavering consistency and reliability — e.g. Toyota's rigorous quality control building global dependability.</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transition spd="med">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LU3 · WHAT BREAKS TRUST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Trust Fracture: the Say-Do Gap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How trust fractures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Case: the Volkswagen emissions scandal</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Brand authenticity is destroyed by inauthentic practices — when a company's actions contradict its stated promises.</a:t>
            </a:r>
          </a:p>
          <a:p>
            <a:pPr>
              <a:spcAft>
                <a:spcPts val="1000"/>
              </a:spcAft>
            </a:pPr>
            <a:r>
              <a:rPr sz="1600" b="0">
                <a:solidFill>
                  <a:srgbClr val="161B26"/>
                </a:solidFill>
                <a:latin typeface="Arial"/>
              </a:rPr>
              <a:t>•  Discrepancies between marketing claims and operational reality create a trust fracture that severs the customer journey loop permanently.</a:t>
            </a:r>
          </a:p>
          <a:p>
            <a:pPr>
              <a:spcAft>
                <a:spcPts val="1000"/>
              </a:spcAft>
            </a:pPr>
            <a:r>
              <a:rPr sz="1600" b="0">
                <a:solidFill>
                  <a:srgbClr val="161B26"/>
                </a:solidFill>
                <a:latin typeface="Arial"/>
              </a:rPr>
              <a:t>•  PR campaigns can only amplify what operations can prove.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Software was installed to cheat emissions tests.</a:t>
            </a:r>
          </a:p>
          <a:p>
            <a:pPr>
              <a:spcAft>
                <a:spcPts val="1000"/>
              </a:spcAft>
            </a:pPr>
            <a:r>
              <a:rPr sz="1600" b="0">
                <a:solidFill>
                  <a:srgbClr val="161B26"/>
                </a:solidFill>
                <a:latin typeface="Arial"/>
              </a:rPr>
              <a:t>•  The deception directly contradicted public claims of environmental responsibility.</a:t>
            </a:r>
          </a:p>
          <a:p>
            <a:pPr>
              <a:spcAft>
                <a:spcPts val="1000"/>
              </a:spcAft>
            </a:pPr>
            <a:r>
              <a:rPr sz="1600" b="0">
                <a:solidFill>
                  <a:srgbClr val="161B26"/>
                </a:solidFill>
                <a:latin typeface="Arial"/>
              </a:rPr>
              <a:t>•  Result: immediate, catastrophic loss of consumer trust — a say-do gap no campaign could repair.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transition spd="med">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29984"/>
            <a:ext cx="12191695" cy="128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468880"/>
            <a:ext cx="10332720" cy="2011680"/>
          </a:xfrm>
          <a:prstGeom prst="rect">
            <a:avLst/>
          </a:prstGeom>
          <a:noFill/>
        </p:spPr>
        <p:txBody>
          <a:bodyPr wrap="square" anchor="ctr">
            <a:spAutoFit/>
          </a:bodyPr>
          <a:lstStyle/>
          <a:p>
            <a:pPr algn="l">
              <a:spcAft>
                <a:spcPts val="400"/>
              </a:spcAft>
            </a:pPr>
            <a:r>
              <a:rPr sz="3200" b="1">
                <a:solidFill>
                  <a:srgbClr val="161B26"/>
                </a:solidFill>
                <a:latin typeface="Arial"/>
              </a:rPr>
              <a:t>Basics in branding</a:t>
            </a:r>
          </a:p>
        </p:txBody>
      </p:sp>
      <p:sp>
        <p:nvSpPr>
          <p:cNvPr id="6" name="TextBox 5"/>
          <p:cNvSpPr txBox="1"/>
          <p:nvPr/>
        </p:nvSpPr>
        <p:spPr>
          <a:xfrm>
            <a:off x="914400" y="1965960"/>
            <a:ext cx="10332720" cy="457200"/>
          </a:xfrm>
          <a:prstGeom prst="rect">
            <a:avLst/>
          </a:prstGeom>
          <a:noFill/>
        </p:spPr>
        <p:txBody>
          <a:bodyPr wrap="square" anchor="t">
            <a:spAutoFit/>
          </a:bodyPr>
          <a:lstStyle/>
          <a:p>
            <a:pPr algn="l">
              <a:spcAft>
                <a:spcPts val="400"/>
              </a:spcAft>
            </a:pPr>
            <a:r>
              <a:rPr sz="1500" b="1">
                <a:solidFill>
                  <a:srgbClr val="10B981"/>
                </a:solidFill>
                <a:latin typeface="Arial"/>
              </a:rPr>
              <a:t>LO3 · LU3 · T1</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transition spd="med">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What is Basics in branding?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Visual Identity</a:t>
            </a:r>
          </a:p>
          <a:p>
            <a:pPr algn="l">
              <a:spcAft>
                <a:spcPts val="300"/>
              </a:spcAft>
            </a:pPr>
            <a:r>
              <a:rPr sz="1200" b="0">
                <a:solidFill>
                  <a:srgbClr val="5B6372"/>
                </a:solidFill>
                <a:latin typeface="Arial"/>
              </a:rPr>
              <a:t>Logo, colours and typography, defined once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Brand Values</a:t>
            </a:r>
          </a:p>
          <a:p>
            <a:pPr algn="l">
              <a:spcAft>
                <a:spcPts val="300"/>
              </a:spcAft>
            </a:pPr>
            <a:r>
              <a:rPr sz="1200" b="0">
                <a:solidFill>
                  <a:srgbClr val="5B6372"/>
                </a:solidFill>
                <a:latin typeface="Arial"/>
              </a:rPr>
              <a:t>The mission every decision should reflect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Brand Voice</a:t>
            </a:r>
          </a:p>
          <a:p>
            <a:pPr algn="l">
              <a:spcAft>
                <a:spcPts val="300"/>
              </a:spcAft>
            </a:pPr>
            <a:r>
              <a:rPr sz="1200" b="0">
                <a:solidFill>
                  <a:srgbClr val="5B6372"/>
                </a:solidFill>
                <a:latin typeface="Arial"/>
              </a:rPr>
              <a:t>One tone, consistently written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Brand Guidelines</a:t>
            </a:r>
          </a:p>
          <a:p>
            <a:pPr algn="l">
              <a:spcAft>
                <a:spcPts val="300"/>
              </a:spcAft>
            </a:pPr>
            <a:r>
              <a:rPr sz="1200" b="0">
                <a:solidFill>
                  <a:srgbClr val="5B6372"/>
                </a:solidFill>
                <a:latin typeface="Arial"/>
              </a:rPr>
              <a:t>The standard every team applies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
        <p:nvSpPr>
          <p:cNvPr id="30" name="TextBox 29"/>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brand guidelines / brand identity system practice</a:t>
            </a:r>
          </a:p>
        </p:txBody>
      </p:sp>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T1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Brand Development Process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3361944"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129028"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29028"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429000"/>
            <a:ext cx="3105912" cy="365760"/>
          </a:xfrm>
          <a:prstGeom prst="rect">
            <a:avLst/>
          </a:prstGeom>
          <a:noFill/>
        </p:spPr>
        <p:txBody>
          <a:bodyPr wrap="square" anchor="t">
            <a:spAutoFit/>
          </a:bodyPr>
          <a:lstStyle/>
          <a:p>
            <a:pPr algn="ctr">
              <a:spcAft>
                <a:spcPts val="400"/>
              </a:spcAft>
            </a:pPr>
            <a:r>
              <a:rPr sz="1250" b="1">
                <a:solidFill>
                  <a:srgbClr val="161B26"/>
                </a:solidFill>
                <a:latin typeface="Arial"/>
              </a:rPr>
              <a:t>Define Mission</a:t>
            </a:r>
          </a:p>
        </p:txBody>
      </p:sp>
      <p:sp>
        <p:nvSpPr>
          <p:cNvPr id="12" name="TextBox 11"/>
          <p:cNvSpPr txBox="1"/>
          <p:nvPr/>
        </p:nvSpPr>
        <p:spPr>
          <a:xfrm>
            <a:off x="905256" y="3813048"/>
            <a:ext cx="3105912" cy="1280160"/>
          </a:xfrm>
          <a:prstGeom prst="rect">
            <a:avLst/>
          </a:prstGeom>
          <a:noFill/>
        </p:spPr>
        <p:txBody>
          <a:bodyPr wrap="square" anchor="t">
            <a:spAutoFit/>
          </a:bodyPr>
          <a:lstStyle/>
          <a:p>
            <a:pPr algn="ctr">
              <a:spcAft>
                <a:spcPts val="400"/>
              </a:spcAft>
            </a:pPr>
            <a:r>
              <a:rPr sz="1050" b="0">
                <a:solidFill>
                  <a:srgbClr val="5B6372"/>
                </a:solidFill>
                <a:latin typeface="Arial"/>
              </a:rPr>
              <a:t>Establish the brand's purpose and core values.</a:t>
            </a:r>
          </a:p>
        </p:txBody>
      </p:sp>
      <p:sp>
        <p:nvSpPr>
          <p:cNvPr id="13" name="TextBox 12"/>
          <p:cNvSpPr txBox="1"/>
          <p:nvPr/>
        </p:nvSpPr>
        <p:spPr>
          <a:xfrm>
            <a:off x="4120896"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4" name="Rectangle 13"/>
          <p:cNvSpPr/>
          <p:nvPr/>
        </p:nvSpPr>
        <p:spPr>
          <a:xfrm>
            <a:off x="4413504" y="2331720"/>
            <a:ext cx="3361944"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13504" y="2331720"/>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765292"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765292"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4541520" y="3429000"/>
            <a:ext cx="3105912" cy="365760"/>
          </a:xfrm>
          <a:prstGeom prst="rect">
            <a:avLst/>
          </a:prstGeom>
          <a:noFill/>
        </p:spPr>
        <p:txBody>
          <a:bodyPr wrap="square" anchor="t">
            <a:spAutoFit/>
          </a:bodyPr>
          <a:lstStyle/>
          <a:p>
            <a:pPr algn="ctr">
              <a:spcAft>
                <a:spcPts val="400"/>
              </a:spcAft>
            </a:pPr>
            <a:r>
              <a:rPr sz="1250" b="1">
                <a:solidFill>
                  <a:srgbClr val="161B26"/>
                </a:solidFill>
                <a:latin typeface="Arial"/>
              </a:rPr>
              <a:t>Create Visual ID</a:t>
            </a:r>
          </a:p>
        </p:txBody>
      </p:sp>
      <p:sp>
        <p:nvSpPr>
          <p:cNvPr id="19" name="TextBox 18"/>
          <p:cNvSpPr txBox="1"/>
          <p:nvPr/>
        </p:nvSpPr>
        <p:spPr>
          <a:xfrm>
            <a:off x="4541520" y="3813048"/>
            <a:ext cx="3105912" cy="1280160"/>
          </a:xfrm>
          <a:prstGeom prst="rect">
            <a:avLst/>
          </a:prstGeom>
          <a:noFill/>
        </p:spPr>
        <p:txBody>
          <a:bodyPr wrap="square" anchor="t">
            <a:spAutoFit/>
          </a:bodyPr>
          <a:lstStyle/>
          <a:p>
            <a:pPr algn="ctr">
              <a:spcAft>
                <a:spcPts val="400"/>
              </a:spcAft>
            </a:pPr>
            <a:r>
              <a:rPr sz="1050" b="0">
                <a:solidFill>
                  <a:srgbClr val="5B6372"/>
                </a:solidFill>
                <a:latin typeface="Arial"/>
              </a:rPr>
              <a:t>Design the logo and colour palette.</a:t>
            </a:r>
          </a:p>
        </p:txBody>
      </p:sp>
      <p:sp>
        <p:nvSpPr>
          <p:cNvPr id="20" name="TextBox 19"/>
          <p:cNvSpPr txBox="1"/>
          <p:nvPr/>
        </p:nvSpPr>
        <p:spPr>
          <a:xfrm>
            <a:off x="7757160"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1" name="Rectangle 20"/>
          <p:cNvSpPr/>
          <p:nvPr/>
        </p:nvSpPr>
        <p:spPr>
          <a:xfrm>
            <a:off x="8049768" y="2331720"/>
            <a:ext cx="3361944"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49768" y="2331720"/>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401556"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01556"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8177784" y="3429000"/>
            <a:ext cx="3105912" cy="365760"/>
          </a:xfrm>
          <a:prstGeom prst="rect">
            <a:avLst/>
          </a:prstGeom>
          <a:noFill/>
        </p:spPr>
        <p:txBody>
          <a:bodyPr wrap="square" anchor="t">
            <a:spAutoFit/>
          </a:bodyPr>
          <a:lstStyle/>
          <a:p>
            <a:pPr algn="ctr">
              <a:spcAft>
                <a:spcPts val="400"/>
              </a:spcAft>
            </a:pPr>
            <a:r>
              <a:rPr sz="1250" b="1">
                <a:solidFill>
                  <a:srgbClr val="161B26"/>
                </a:solidFill>
                <a:latin typeface="Arial"/>
              </a:rPr>
              <a:t>Develop Guidelines</a:t>
            </a:r>
          </a:p>
        </p:txBody>
      </p:sp>
      <p:sp>
        <p:nvSpPr>
          <p:cNvPr id="26" name="TextBox 25"/>
          <p:cNvSpPr txBox="1"/>
          <p:nvPr/>
        </p:nvSpPr>
        <p:spPr>
          <a:xfrm>
            <a:off x="8177784" y="3813048"/>
            <a:ext cx="3105912" cy="1280160"/>
          </a:xfrm>
          <a:prstGeom prst="rect">
            <a:avLst/>
          </a:prstGeom>
          <a:noFill/>
        </p:spPr>
        <p:txBody>
          <a:bodyPr wrap="square" anchor="t">
            <a:spAutoFit/>
          </a:bodyPr>
          <a:lstStyle/>
          <a:p>
            <a:pPr algn="ctr">
              <a:spcAft>
                <a:spcPts val="400"/>
              </a:spcAft>
            </a:pPr>
            <a:r>
              <a:rPr sz="1050" b="0">
                <a:solidFill>
                  <a:srgbClr val="5B6372"/>
                </a:solidFill>
                <a:latin typeface="Arial"/>
              </a:rPr>
              <a:t>Document the standards and specifications.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transition spd="med">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T1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Consistent vs Inconsistent Branding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Consistent Brand</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Inconsistent Brand</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Revenue Boost — measurably higher financial performance</a:t>
            </a:r>
          </a:p>
          <a:p>
            <a:pPr>
              <a:spcAft>
                <a:spcPts val="1000"/>
              </a:spcAft>
            </a:pPr>
            <a:r>
              <a:rPr sz="1600" b="0">
                <a:solidFill>
                  <a:srgbClr val="161B26"/>
                </a:solidFill>
                <a:latin typeface="Arial"/>
              </a:rPr>
              <a:t>•  Recognition — a single colour/voice system customers recall</a:t>
            </a:r>
          </a:p>
          <a:p>
            <a:pPr>
              <a:spcAft>
                <a:spcPts val="1000"/>
              </a:spcAft>
            </a:pPr>
            <a:r>
              <a:rPr sz="1600" b="0">
                <a:solidFill>
                  <a:srgbClr val="161B26"/>
                </a:solidFill>
                <a:latin typeface="Arial"/>
              </a:rPr>
              <a:t>•  Trust Building — stronger consumer confidence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Lower Trust — reduced consumer confidence</a:t>
            </a:r>
          </a:p>
          <a:p>
            <a:pPr>
              <a:spcAft>
                <a:spcPts val="1000"/>
              </a:spcAft>
            </a:pPr>
            <a:r>
              <a:rPr sz="1600" b="0">
                <a:solidFill>
                  <a:srgbClr val="161B26"/>
                </a:solidFill>
                <a:latin typeface="Arial"/>
              </a:rPr>
              <a:t>•  Weak Recognition — confused brand identity across teams</a:t>
            </a:r>
          </a:p>
          <a:p>
            <a:pPr>
              <a:spcAft>
                <a:spcPts val="1000"/>
              </a:spcAft>
            </a:pPr>
            <a:r>
              <a:rPr sz="1600" b="0">
                <a:solidFill>
                  <a:srgbClr val="161B26"/>
                </a:solidFill>
                <a:latin typeface="Arial"/>
              </a:rPr>
              <a:t>•  Market Confusion — unclear value proposition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
        <p:nvSpPr>
          <p:cNvPr id="16" name="TextBox 15"/>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brand guidelines / brand identity system practice</a:t>
            </a:r>
          </a:p>
        </p:txBody>
      </p:sp>
    </p:spTree>
  </p:cSld>
  <p:clrMapOvr>
    <a:masterClrMapping/>
  </p:clrMapOvr>
  <p:transition spd="med">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T1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Brand Guidelines System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Visual Identity</a:t>
            </a:r>
          </a:p>
          <a:p>
            <a:pPr algn="l">
              <a:spcAft>
                <a:spcPts val="300"/>
              </a:spcAft>
            </a:pPr>
            <a:r>
              <a:rPr sz="1200" b="0">
                <a:solidFill>
                  <a:srgbClr val="5B6372"/>
                </a:solidFill>
                <a:latin typeface="Arial"/>
              </a:rPr>
              <a:t>The logo, colour palette and typography every touchpoint must use.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Brand Values</a:t>
            </a:r>
          </a:p>
          <a:p>
            <a:pPr algn="l">
              <a:spcAft>
                <a:spcPts val="300"/>
              </a:spcAft>
            </a:pPr>
            <a:r>
              <a:rPr sz="1200" b="0">
                <a:solidFill>
                  <a:srgbClr val="5B6372"/>
                </a:solidFill>
                <a:latin typeface="Arial"/>
              </a:rPr>
              <a:t>The mission and principles the brand concept line is built on.</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Brand Voice</a:t>
            </a:r>
          </a:p>
          <a:p>
            <a:pPr algn="l">
              <a:spcAft>
                <a:spcPts val="300"/>
              </a:spcAft>
            </a:pPr>
            <a:r>
              <a:rPr sz="1200" b="0">
                <a:solidFill>
                  <a:srgbClr val="5B6372"/>
                </a:solidFill>
                <a:latin typeface="Arial"/>
              </a:rPr>
              <a:t>The tone — friendly, expert, warm — every team writes in.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Usage Guidelines</a:t>
            </a:r>
          </a:p>
          <a:p>
            <a:pPr algn="l">
              <a:spcAft>
                <a:spcPts val="300"/>
              </a:spcAft>
            </a:pPr>
            <a:r>
              <a:rPr sz="1200" b="0">
                <a:solidFill>
                  <a:srgbClr val="5B6372"/>
                </a:solidFill>
                <a:latin typeface="Arial"/>
              </a:rPr>
              <a:t>Concrete do's and don'ts so the standard survives contact with real work.</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
        <p:nvSpPr>
          <p:cNvPr id="30" name="TextBox 29"/>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brand guidelines / brand identity system practice</a:t>
            </a:r>
          </a:p>
        </p:txBody>
      </p:sp>
    </p:spTree>
  </p:cSld>
  <p:clrMapOvr>
    <a:masterClrMapping/>
  </p:clrMapOvr>
  <p:transition spd="med">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T1 · REAL-WORLD EXAMPLE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One Guidelines System, 60+ Markets, Zero Guesswork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206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28016" cy="42062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97280" y="2103120"/>
            <a:ext cx="2834640"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103120"/>
            <a:ext cx="2834640" cy="502920"/>
          </a:xfrm>
          <a:prstGeom prst="rect">
            <a:avLst/>
          </a:prstGeom>
          <a:noFill/>
        </p:spPr>
        <p:txBody>
          <a:bodyPr wrap="square" anchor="ctr">
            <a:spAutoFit/>
          </a:bodyPr>
          <a:lstStyle/>
          <a:p>
            <a:pPr algn="ctr">
              <a:spcAft>
                <a:spcPts val="400"/>
              </a:spcAft>
            </a:pPr>
            <a:r>
              <a:rPr sz="1300" b="1">
                <a:solidFill>
                  <a:srgbClr val="FFFFFF"/>
                </a:solidFill>
                <a:latin typeface="Arial"/>
              </a:rPr>
              <a:t>REAL-WORLD EXAMPLE</a:t>
            </a:r>
          </a:p>
        </p:txBody>
      </p:sp>
      <p:sp>
        <p:nvSpPr>
          <p:cNvPr id="11" name="TextBox 10"/>
          <p:cNvSpPr txBox="1"/>
          <p:nvPr/>
        </p:nvSpPr>
        <p:spPr>
          <a:xfrm>
            <a:off x="1097280" y="2880360"/>
            <a:ext cx="9966960" cy="640080"/>
          </a:xfrm>
          <a:prstGeom prst="rect">
            <a:avLst/>
          </a:prstGeom>
          <a:noFill/>
        </p:spPr>
        <p:txBody>
          <a:bodyPr wrap="square" anchor="t">
            <a:spAutoFit/>
          </a:bodyPr>
          <a:lstStyle/>
          <a:p>
            <a:pPr algn="l">
              <a:spcAft>
                <a:spcPts val="400"/>
              </a:spcAft>
            </a:pPr>
            <a:r>
              <a:rPr sz="2600" b="1">
                <a:solidFill>
                  <a:srgbClr val="161B26"/>
                </a:solidFill>
                <a:latin typeface="Arial"/>
              </a:rPr>
              <a:t>IKEA</a:t>
            </a:r>
          </a:p>
        </p:txBody>
      </p:sp>
      <p:sp>
        <p:nvSpPr>
          <p:cNvPr id="12" name="TextBox 11"/>
          <p:cNvSpPr txBox="1"/>
          <p:nvPr/>
        </p:nvSpPr>
        <p:spPr>
          <a:xfrm>
            <a:off x="1097280" y="3611880"/>
            <a:ext cx="9966960" cy="2194560"/>
          </a:xfrm>
          <a:prstGeom prst="rect">
            <a:avLst/>
          </a:prstGeom>
          <a:noFill/>
        </p:spPr>
        <p:txBody>
          <a:bodyPr wrap="square" anchor="t">
            <a:spAutoFit/>
          </a:bodyPr>
          <a:lstStyle/>
          <a:p>
            <a:pPr algn="l">
              <a:spcAft>
                <a:spcPts val="400"/>
              </a:spcAft>
            </a:pPr>
            <a:r>
              <a:rPr sz="1600" b="0">
                <a:solidFill>
                  <a:srgbClr val="5B6372"/>
                </a:solidFill>
                <a:latin typeface="Arial"/>
              </a:rPr>
              <a:t>IKEA's showroom logic, product naming and flat-pack identity read as unmistakably IKEA whether you're in Singapore or Stockholm — proof a written standard, not local instinct, is what keeps a brand recognisable at scale. It's exactly the gap Nimbus's differing Retail, Marketing and Customer Service descriptions expose today.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transition spd="med">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T1 · ACTIVITY 9</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Brand Audit Workshop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CASE STUDY</a:t>
            </a:r>
          </a:p>
        </p:txBody>
      </p:sp>
      <p:sp>
        <p:nvSpPr>
          <p:cNvPr id="9" name="Rectangle 8"/>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2" name="TextBox 11"/>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Nimbus Wellness now has an approved brand concept line from the LU1 attribute-mapping work — but the founder has noticed that the website, the in-store signage and the Instagram bio still each describe the brand slightly differently. Nothing has actually been written down as a standard.</a:t>
            </a:r>
          </a:p>
          <a:p>
            <a:pPr algn="l">
              <a:spcAft>
                <a:spcPts val="800"/>
              </a:spcAft>
            </a:pPr>
            <a:r>
              <a:rPr sz="1450" b="0">
                <a:solidFill>
                  <a:srgbClr val="161B26"/>
                </a:solidFill>
                <a:latin typeface="Arial"/>
              </a:rPr>
              <a:t>With the 5th-anniversary relaunch three months away, the founder wants one brand-guidelines document that Retail, Marketing and Customer Service can all point to — before a single relaunch asset (banner, caption, staff script) gets produced.</a:t>
            </a:r>
          </a:p>
          <a:p>
            <a:pPr algn="l">
              <a:spcAft>
                <a:spcPts val="800"/>
              </a:spcAft>
            </a:pPr>
            <a:r>
              <a:rPr sz="1450" b="0">
                <a:solidFill>
                  <a:srgbClr val="161B26"/>
                </a:solidFill>
                <a:latin typeface="Arial"/>
              </a:rPr>
              <a:t>Your table has been asked to draft that guidelines document from the brand concept line Nimbus already approved.</a:t>
            </a:r>
          </a:p>
        </p:txBody>
      </p:sp>
      <p:sp>
        <p:nvSpPr>
          <p:cNvPr id="13" name="Rectangle 12"/>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 brand-guidelines document — visual standards, voice guidelines and an implementation roadmap</a:t>
            </a:r>
          </a:p>
        </p:txBody>
      </p:sp>
      <p:sp>
        <p:nvSpPr>
          <p:cNvPr id="15" name="TextBox 14"/>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30 minutes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transition spd="med">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T1 · ACTIVITY 9</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Brand Audit Workshop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8" name="Rectangle 7"/>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2" name="TextBox 11"/>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Starting from Nimbus's approved brand concept line, what visual-identity specifications (logo usage, colour palette, typography) actually protect that concept?</a:t>
            </a:r>
          </a:p>
        </p:txBody>
      </p:sp>
      <p:sp>
        <p:nvSpPr>
          <p:cNvPr id="13" name="Rectangle 12"/>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7" name="TextBox 16"/>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brand values and mission statement belong in the guidelines so all three teams can restate them the same way?</a:t>
            </a:r>
          </a:p>
        </p:txBody>
      </p:sp>
      <p:sp>
        <p:nvSpPr>
          <p:cNvPr id="18" name="Rectangle 17"/>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does "Nimbus's voice" sound like in a customer email versus an Instagram caption — where should the tone flex, and where must it stay fixed?</a:t>
            </a:r>
          </a:p>
        </p:txBody>
      </p:sp>
      <p:sp>
        <p:nvSpPr>
          <p:cNvPr id="23" name="Rectangle 22"/>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7" name="TextBox 26"/>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is one concrete usage example (a do/don't pair) that would stop the inconsistency the founder has already noticed?</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transition spd="med">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T1 · ACTIVITY 9</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Brand Audit Workshop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10" name="TextBox 9"/>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Which building block — visual identity, values, voice or usage rules — was hardest for your table to pin down in concrete terms?</a:t>
            </a:r>
          </a:p>
          <a:p>
            <a:pPr>
              <a:spcAft>
                <a:spcPts val="900"/>
              </a:spcAft>
            </a:pPr>
            <a:r>
              <a:rPr sz="1450" b="0">
                <a:solidFill>
                  <a:srgbClr val="161B26"/>
                </a:solidFill>
                <a:latin typeface="Arial"/>
              </a:rPr>
              <a:t>•  Did your voice guideline actually sound different from a generic "friendly and professional" brand, or could it apply to any wellness company?</a:t>
            </a:r>
          </a:p>
          <a:p>
            <a:pPr>
              <a:spcAft>
                <a:spcPts val="900"/>
              </a:spcAft>
            </a:pPr>
            <a:r>
              <a:rPr sz="1450" b="0">
                <a:solidFill>
                  <a:srgbClr val="161B26"/>
                </a:solidFill>
                <a:latin typeface="Arial"/>
              </a:rPr>
              <a:t>•  If a new hire in Customer Service only ever read your guidelines document, would they write in Nimbus's voice by the end of week one?</a:t>
            </a:r>
          </a:p>
        </p:txBody>
      </p:sp>
      <p:sp>
        <p:nvSpPr>
          <p:cNvPr id="11" name="Rectangle 10"/>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3" name="TextBox 12"/>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Every group can show a one-page brand-guidelines draft — visual identity spec, brand values, a voice description with an example, and at least one concrete usage do/don't — that Retail, Marketing and Customer Service could each apply without further clarification.</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transition spd="med">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29984"/>
            <a:ext cx="12191695" cy="128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468880"/>
            <a:ext cx="10332720" cy="2011680"/>
          </a:xfrm>
          <a:prstGeom prst="rect">
            <a:avLst/>
          </a:prstGeom>
          <a:noFill/>
        </p:spPr>
        <p:txBody>
          <a:bodyPr wrap="square" anchor="ctr">
            <a:spAutoFit/>
          </a:bodyPr>
          <a:lstStyle/>
          <a:p>
            <a:pPr algn="l">
              <a:spcAft>
                <a:spcPts val="400"/>
              </a:spcAft>
            </a:pPr>
            <a:r>
              <a:rPr sz="3200" b="1">
                <a:solidFill>
                  <a:srgbClr val="161B26"/>
                </a:solidFill>
                <a:latin typeface="Arial"/>
              </a:rPr>
              <a:t>Role of branding in marketing</a:t>
            </a:r>
          </a:p>
        </p:txBody>
      </p:sp>
      <p:sp>
        <p:nvSpPr>
          <p:cNvPr id="6" name="TextBox 5"/>
          <p:cNvSpPr txBox="1"/>
          <p:nvPr/>
        </p:nvSpPr>
        <p:spPr>
          <a:xfrm>
            <a:off x="914400" y="1965960"/>
            <a:ext cx="10332720" cy="457200"/>
          </a:xfrm>
          <a:prstGeom prst="rect">
            <a:avLst/>
          </a:prstGeom>
          <a:noFill/>
        </p:spPr>
        <p:txBody>
          <a:bodyPr wrap="square" anchor="t">
            <a:spAutoFit/>
          </a:bodyPr>
          <a:lstStyle/>
          <a:p>
            <a:pPr algn="l">
              <a:spcAft>
                <a:spcPts val="400"/>
              </a:spcAft>
            </a:pPr>
            <a:r>
              <a:rPr sz="1500" b="1">
                <a:solidFill>
                  <a:srgbClr val="10B981"/>
                </a:solidFill>
                <a:latin typeface="Arial"/>
              </a:rPr>
              <a:t>LO3 · LU3 · T2</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transition spd="med">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What is Role of branding in marketing?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Brand Identity</a:t>
            </a:r>
          </a:p>
          <a:p>
            <a:pPr algn="l">
              <a:spcAft>
                <a:spcPts val="300"/>
              </a:spcAft>
            </a:pPr>
            <a:r>
              <a:rPr sz="1200" b="0">
                <a:solidFill>
                  <a:srgbClr val="5B6372"/>
                </a:solidFill>
                <a:latin typeface="Arial"/>
              </a:rPr>
              <a:t>A unique, recognisable set of values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Trust Building</a:t>
            </a:r>
          </a:p>
          <a:p>
            <a:pPr algn="l">
              <a:spcAft>
                <a:spcPts val="300"/>
              </a:spcAft>
            </a:pPr>
            <a:r>
              <a:rPr sz="1200" b="0">
                <a:solidFill>
                  <a:srgbClr val="5B6372"/>
                </a:solidFill>
                <a:latin typeface="Arial"/>
              </a:rPr>
              <a:t>Confidence that compounds over time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Differentiation</a:t>
            </a:r>
          </a:p>
          <a:p>
            <a:pPr algn="l">
              <a:spcAft>
                <a:spcPts val="300"/>
              </a:spcAft>
            </a:pPr>
            <a:r>
              <a:rPr sz="1200" b="0">
                <a:solidFill>
                  <a:srgbClr val="5B6372"/>
                </a:solidFill>
                <a:latin typeface="Arial"/>
              </a:rPr>
              <a:t>A clear stand-out from competitors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Emotional Connection</a:t>
            </a:r>
          </a:p>
          <a:p>
            <a:pPr algn="l">
              <a:spcAft>
                <a:spcPts val="300"/>
              </a:spcAft>
            </a:pPr>
            <a:r>
              <a:rPr sz="1200" b="0">
                <a:solidFill>
                  <a:srgbClr val="5B6372"/>
                </a:solidFill>
                <a:latin typeface="Arial"/>
              </a:rPr>
              <a:t>A relationship, not just a purchase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
        <p:nvSpPr>
          <p:cNvPr id="30" name="TextBox 29"/>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brand marketing practice synthesis</a:t>
            </a:r>
          </a:p>
        </p:txBody>
      </p:sp>
    </p:spTree>
  </p:cSld>
  <p:clrMapOvr>
    <a:masterClrMapping/>
  </p:clrMapOvr>
  <p:transition spd="med">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T2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Brand-Marketing Integration Process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74495"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7449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Define Identity</a:t>
            </a:r>
          </a:p>
        </p:txBody>
      </p:sp>
      <p:sp>
        <p:nvSpPr>
          <p:cNvPr id="12" name="TextBox 11"/>
          <p:cNvSpPr txBox="1"/>
          <p:nvPr/>
        </p:nvSpPr>
        <p:spPr>
          <a:xfrm>
            <a:off x="905256"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Establish the brand's purpose and values.</a:t>
            </a:r>
          </a:p>
        </p:txBody>
      </p:sp>
      <p:sp>
        <p:nvSpPr>
          <p:cNvPr id="13" name="TextBox 12"/>
          <p:cNvSpPr txBox="1"/>
          <p:nvPr/>
        </p:nvSpPr>
        <p:spPr>
          <a:xfrm>
            <a:off x="3211830"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4" name="Rectangle 13"/>
          <p:cNvSpPr/>
          <p:nvPr/>
        </p:nvSpPr>
        <p:spPr>
          <a:xfrm>
            <a:off x="3504438"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504438"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01693"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0169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632454"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Align Objectives</a:t>
            </a:r>
          </a:p>
        </p:txBody>
      </p:sp>
      <p:sp>
        <p:nvSpPr>
          <p:cNvPr id="19" name="TextBox 18"/>
          <p:cNvSpPr txBox="1"/>
          <p:nvPr/>
        </p:nvSpPr>
        <p:spPr>
          <a:xfrm>
            <a:off x="3632454"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Match brand goals with marketing objectives.</a:t>
            </a:r>
          </a:p>
        </p:txBody>
      </p:sp>
      <p:sp>
        <p:nvSpPr>
          <p:cNvPr id="20" name="TextBox 19"/>
          <p:cNvSpPr txBox="1"/>
          <p:nvPr/>
        </p:nvSpPr>
        <p:spPr>
          <a:xfrm>
            <a:off x="5939028"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1" name="Rectangle 20"/>
          <p:cNvSpPr/>
          <p:nvPr/>
        </p:nvSpPr>
        <p:spPr>
          <a:xfrm>
            <a:off x="6231636"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128891"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288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6359652"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Create Messaging</a:t>
            </a:r>
          </a:p>
        </p:txBody>
      </p:sp>
      <p:sp>
        <p:nvSpPr>
          <p:cNvPr id="26" name="TextBox 25"/>
          <p:cNvSpPr txBox="1"/>
          <p:nvPr/>
        </p:nvSpPr>
        <p:spPr>
          <a:xfrm>
            <a:off x="6359652"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Develop a consistent brand voice.</a:t>
            </a:r>
          </a:p>
        </p:txBody>
      </p:sp>
      <p:sp>
        <p:nvSpPr>
          <p:cNvPr id="27" name="TextBox 26"/>
          <p:cNvSpPr txBox="1"/>
          <p:nvPr/>
        </p:nvSpPr>
        <p:spPr>
          <a:xfrm>
            <a:off x="8666226"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8" name="Rectangle 27"/>
          <p:cNvSpPr/>
          <p:nvPr/>
        </p:nvSpPr>
        <p:spPr>
          <a:xfrm>
            <a:off x="8958834"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958834"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856089"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5608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9086850"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Go Multi-Channel</a:t>
            </a:r>
          </a:p>
        </p:txBody>
      </p:sp>
      <p:sp>
        <p:nvSpPr>
          <p:cNvPr id="33" name="TextBox 32"/>
          <p:cNvSpPr txBox="1"/>
          <p:nvPr/>
        </p:nvSpPr>
        <p:spPr>
          <a:xfrm>
            <a:off x="9086850"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Implement that voice across every touchpoint.</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transition spd="med">
    <p:fade/>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T2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Traditional Marketing vs Brand Marketing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Traditional Marketing</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Brand Marketing</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Product Focus — sells features</a:t>
            </a:r>
          </a:p>
          <a:p>
            <a:pPr>
              <a:spcAft>
                <a:spcPts val="1000"/>
              </a:spcAft>
            </a:pPr>
            <a:r>
              <a:rPr sz="1600" b="0">
                <a:solidFill>
                  <a:srgbClr val="161B26"/>
                </a:solidFill>
                <a:latin typeface="Arial"/>
              </a:rPr>
              <a:t>•  Short-term — campaign by campaign</a:t>
            </a:r>
          </a:p>
          <a:p>
            <a:pPr>
              <a:spcAft>
                <a:spcPts val="1000"/>
              </a:spcAft>
            </a:pPr>
            <a:r>
              <a:rPr sz="1600" b="0">
                <a:solidFill>
                  <a:srgbClr val="161B26"/>
                </a:solidFill>
                <a:latin typeface="Arial"/>
              </a:rPr>
              <a:t>•  Transactional — one purchase at a time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Identity Focus — sells what the brand stands for</a:t>
            </a:r>
          </a:p>
          <a:p>
            <a:pPr>
              <a:spcAft>
                <a:spcPts val="1000"/>
              </a:spcAft>
            </a:pPr>
            <a:r>
              <a:rPr sz="1600" b="0">
                <a:solidFill>
                  <a:srgbClr val="161B26"/>
                </a:solidFill>
                <a:latin typeface="Arial"/>
              </a:rPr>
              <a:t>•  Long-term — builds equity over years</a:t>
            </a:r>
          </a:p>
          <a:p>
            <a:pPr>
              <a:spcAft>
                <a:spcPts val="1000"/>
              </a:spcAft>
            </a:pPr>
            <a:r>
              <a:rPr sz="1600" b="0">
                <a:solidFill>
                  <a:srgbClr val="161B26"/>
                </a:solidFill>
                <a:latin typeface="Arial"/>
              </a:rPr>
              <a:t>•  Emotional — builds a relationship with the customer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
        <p:nvSpPr>
          <p:cNvPr id="16" name="TextBox 15"/>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brand marketing practice synthesis</a:t>
            </a:r>
          </a:p>
        </p:txBody>
      </p:sp>
    </p:spTree>
  </p:cSld>
  <p:clrMapOvr>
    <a:masterClrMapping/>
  </p:clrMapOvr>
  <p:transition spd="med">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T2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From Transactional Funnel to Brand Loyalty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2384298" cy="2834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40280"/>
            <a:ext cx="2384298"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651760"/>
            <a:ext cx="2384298" cy="1188720"/>
          </a:xfrm>
          <a:prstGeom prst="rect">
            <a:avLst/>
          </a:prstGeom>
          <a:noFill/>
        </p:spPr>
        <p:txBody>
          <a:bodyPr wrap="square" anchor="t">
            <a:spAutoFit/>
          </a:bodyPr>
          <a:lstStyle/>
          <a:p>
            <a:pPr algn="ctr">
              <a:spcAft>
                <a:spcPts val="400"/>
              </a:spcAft>
            </a:pPr>
            <a:r>
              <a:rPr sz="4400" b="1">
                <a:solidFill>
                  <a:srgbClr val="1F6FEB"/>
                </a:solidFill>
                <a:latin typeface="Arial"/>
              </a:rPr>
              <a:t>100%</a:t>
            </a:r>
          </a:p>
        </p:txBody>
      </p:sp>
      <p:sp>
        <p:nvSpPr>
          <p:cNvPr id="10" name="TextBox 9"/>
          <p:cNvSpPr txBox="1"/>
          <p:nvPr/>
        </p:nvSpPr>
        <p:spPr>
          <a:xfrm>
            <a:off x="960120" y="3931920"/>
            <a:ext cx="2018538" cy="1005840"/>
          </a:xfrm>
          <a:prstGeom prst="rect">
            <a:avLst/>
          </a:prstGeom>
          <a:noFill/>
        </p:spPr>
        <p:txBody>
          <a:bodyPr wrap="square" anchor="t">
            <a:spAutoFit/>
          </a:bodyPr>
          <a:lstStyle/>
          <a:p>
            <a:pPr algn="ctr">
              <a:spcAft>
                <a:spcPts val="400"/>
              </a:spcAft>
            </a:pPr>
            <a:r>
              <a:rPr sz="1300" b="0">
                <a:solidFill>
                  <a:srgbClr val="161B26"/>
                </a:solidFill>
                <a:latin typeface="Arial"/>
              </a:rPr>
              <a:t>Awareness — Notices the brand exists — a traditional-marketing win</a:t>
            </a:r>
          </a:p>
        </p:txBody>
      </p:sp>
      <p:sp>
        <p:nvSpPr>
          <p:cNvPr id="11" name="Rectangle 10"/>
          <p:cNvSpPr/>
          <p:nvPr/>
        </p:nvSpPr>
        <p:spPr>
          <a:xfrm>
            <a:off x="3527298" y="2240280"/>
            <a:ext cx="2384298" cy="2834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527298" y="2240280"/>
            <a:ext cx="2384298"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27298" y="2651760"/>
            <a:ext cx="2384298" cy="1188720"/>
          </a:xfrm>
          <a:prstGeom prst="rect">
            <a:avLst/>
          </a:prstGeom>
          <a:noFill/>
        </p:spPr>
        <p:txBody>
          <a:bodyPr wrap="square" anchor="t">
            <a:spAutoFit/>
          </a:bodyPr>
          <a:lstStyle/>
          <a:p>
            <a:pPr algn="ctr">
              <a:spcAft>
                <a:spcPts val="400"/>
              </a:spcAft>
            </a:pPr>
            <a:r>
              <a:rPr sz="4400" b="1">
                <a:solidFill>
                  <a:srgbClr val="10B981"/>
                </a:solidFill>
                <a:latin typeface="Arial"/>
              </a:rPr>
              <a:t>55%</a:t>
            </a:r>
          </a:p>
        </p:txBody>
      </p:sp>
      <p:sp>
        <p:nvSpPr>
          <p:cNvPr id="14" name="TextBox 13"/>
          <p:cNvSpPr txBox="1"/>
          <p:nvPr/>
        </p:nvSpPr>
        <p:spPr>
          <a:xfrm>
            <a:off x="3710178" y="3931920"/>
            <a:ext cx="2018538" cy="1005840"/>
          </a:xfrm>
          <a:prstGeom prst="rect">
            <a:avLst/>
          </a:prstGeom>
          <a:noFill/>
        </p:spPr>
        <p:txBody>
          <a:bodyPr wrap="square" anchor="t">
            <a:spAutoFit/>
          </a:bodyPr>
          <a:lstStyle/>
          <a:p>
            <a:pPr algn="ctr">
              <a:spcAft>
                <a:spcPts val="400"/>
              </a:spcAft>
            </a:pPr>
            <a:r>
              <a:rPr sz="1300" b="0">
                <a:solidFill>
                  <a:srgbClr val="161B26"/>
                </a:solidFill>
                <a:latin typeface="Arial"/>
              </a:rPr>
              <a:t>Consideration — Weighs Nimbus against alternatives</a:t>
            </a:r>
          </a:p>
        </p:txBody>
      </p:sp>
      <p:sp>
        <p:nvSpPr>
          <p:cNvPr id="15" name="Rectangle 14"/>
          <p:cNvSpPr/>
          <p:nvPr/>
        </p:nvSpPr>
        <p:spPr>
          <a:xfrm>
            <a:off x="6277356" y="2240280"/>
            <a:ext cx="2384298" cy="2834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77356" y="2240280"/>
            <a:ext cx="2384298"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77356" y="2651760"/>
            <a:ext cx="2384298" cy="1188720"/>
          </a:xfrm>
          <a:prstGeom prst="rect">
            <a:avLst/>
          </a:prstGeom>
          <a:noFill/>
        </p:spPr>
        <p:txBody>
          <a:bodyPr wrap="square" anchor="t">
            <a:spAutoFit/>
          </a:bodyPr>
          <a:lstStyle/>
          <a:p>
            <a:pPr algn="ctr">
              <a:spcAft>
                <a:spcPts val="400"/>
              </a:spcAft>
            </a:pPr>
            <a:r>
              <a:rPr sz="4400" b="1">
                <a:solidFill>
                  <a:srgbClr val="7C3AED"/>
                </a:solidFill>
                <a:latin typeface="Arial"/>
              </a:rPr>
              <a:t>28%</a:t>
            </a:r>
          </a:p>
        </p:txBody>
      </p:sp>
      <p:sp>
        <p:nvSpPr>
          <p:cNvPr id="18" name="TextBox 17"/>
          <p:cNvSpPr txBox="1"/>
          <p:nvPr/>
        </p:nvSpPr>
        <p:spPr>
          <a:xfrm>
            <a:off x="6460236" y="3931920"/>
            <a:ext cx="2018538" cy="1005840"/>
          </a:xfrm>
          <a:prstGeom prst="rect">
            <a:avLst/>
          </a:prstGeom>
          <a:noFill/>
        </p:spPr>
        <p:txBody>
          <a:bodyPr wrap="square" anchor="t">
            <a:spAutoFit/>
          </a:bodyPr>
          <a:lstStyle/>
          <a:p>
            <a:pPr algn="ctr">
              <a:spcAft>
                <a:spcPts val="400"/>
              </a:spcAft>
            </a:pPr>
            <a:r>
              <a:rPr sz="1300" b="0">
                <a:solidFill>
                  <a:srgbClr val="161B26"/>
                </a:solidFill>
                <a:latin typeface="Arial"/>
              </a:rPr>
              <a:t>Preference — Chooses Nimbus specifically, not just an option</a:t>
            </a:r>
          </a:p>
        </p:txBody>
      </p:sp>
      <p:sp>
        <p:nvSpPr>
          <p:cNvPr id="19" name="Rectangle 18"/>
          <p:cNvSpPr/>
          <p:nvPr/>
        </p:nvSpPr>
        <p:spPr>
          <a:xfrm>
            <a:off x="9027414" y="2240280"/>
            <a:ext cx="2384298" cy="2834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27414" y="2240280"/>
            <a:ext cx="2384298"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27414" y="2651760"/>
            <a:ext cx="2384298" cy="1188720"/>
          </a:xfrm>
          <a:prstGeom prst="rect">
            <a:avLst/>
          </a:prstGeom>
          <a:noFill/>
        </p:spPr>
        <p:txBody>
          <a:bodyPr wrap="square" anchor="t">
            <a:spAutoFit/>
          </a:bodyPr>
          <a:lstStyle/>
          <a:p>
            <a:pPr algn="ctr">
              <a:spcAft>
                <a:spcPts val="400"/>
              </a:spcAft>
            </a:pPr>
            <a:r>
              <a:rPr sz="4400" b="1">
                <a:solidFill>
                  <a:srgbClr val="F59E0B"/>
                </a:solidFill>
                <a:latin typeface="Arial"/>
              </a:rPr>
              <a:t>12%</a:t>
            </a:r>
          </a:p>
        </p:txBody>
      </p:sp>
      <p:sp>
        <p:nvSpPr>
          <p:cNvPr id="22" name="TextBox 21"/>
          <p:cNvSpPr txBox="1"/>
          <p:nvPr/>
        </p:nvSpPr>
        <p:spPr>
          <a:xfrm>
            <a:off x="9210294" y="3931920"/>
            <a:ext cx="2018538" cy="1005840"/>
          </a:xfrm>
          <a:prstGeom prst="rect">
            <a:avLst/>
          </a:prstGeom>
          <a:noFill/>
        </p:spPr>
        <p:txBody>
          <a:bodyPr wrap="square" anchor="t">
            <a:spAutoFit/>
          </a:bodyPr>
          <a:lstStyle/>
          <a:p>
            <a:pPr algn="ctr">
              <a:spcAft>
                <a:spcPts val="400"/>
              </a:spcAft>
            </a:pPr>
            <a:r>
              <a:rPr sz="1300" b="0">
                <a:solidFill>
                  <a:srgbClr val="161B26"/>
                </a:solidFill>
                <a:latin typeface="Arial"/>
              </a:rPr>
              <a:t>Loyalty — Returns and advocates without comparing again</a:t>
            </a:r>
          </a:p>
        </p:txBody>
      </p:sp>
      <p:sp>
        <p:nvSpPr>
          <p:cNvPr id="23" name="Rectangle 22"/>
          <p:cNvSpPr/>
          <p:nvPr/>
        </p:nvSpPr>
        <p:spPr>
          <a:xfrm>
            <a:off x="777240" y="5349240"/>
            <a:ext cx="10634472" cy="777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349240"/>
            <a:ext cx="91440" cy="7772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97280" y="5349240"/>
            <a:ext cx="10058400" cy="777240"/>
          </a:xfrm>
          <a:prstGeom prst="rect">
            <a:avLst/>
          </a:prstGeom>
          <a:noFill/>
        </p:spPr>
        <p:txBody>
          <a:bodyPr wrap="square" anchor="ctr">
            <a:spAutoFit/>
          </a:bodyPr>
          <a:lstStyle/>
          <a:p>
            <a:pPr algn="l">
              <a:spcAft>
                <a:spcPts val="400"/>
              </a:spcAft>
            </a:pPr>
            <a:r>
              <a:rPr sz="1250" b="1">
                <a:solidFill>
                  <a:srgbClr val="161B26"/>
                </a:solidFill>
                <a:latin typeface="Arial"/>
              </a:rPr>
              <a:t>Source: illustrative narrowing, brand-marketing funnel synthesis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transition spd="med">
    <p:fade/>
  </p:transition>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T2 · REAL-WORLD EXAMPLE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One Theme-Park Trip, a Lifetime of Loyalty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206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28016" cy="42062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97280" y="2103120"/>
            <a:ext cx="2834640"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103120"/>
            <a:ext cx="2834640" cy="502920"/>
          </a:xfrm>
          <a:prstGeom prst="rect">
            <a:avLst/>
          </a:prstGeom>
          <a:noFill/>
        </p:spPr>
        <p:txBody>
          <a:bodyPr wrap="square" anchor="ctr">
            <a:spAutoFit/>
          </a:bodyPr>
          <a:lstStyle/>
          <a:p>
            <a:pPr algn="ctr">
              <a:spcAft>
                <a:spcPts val="400"/>
              </a:spcAft>
            </a:pPr>
            <a:r>
              <a:rPr sz="1300" b="1">
                <a:solidFill>
                  <a:srgbClr val="FFFFFF"/>
                </a:solidFill>
                <a:latin typeface="Arial"/>
              </a:rPr>
              <a:t>REAL-WORLD EXAMPLE</a:t>
            </a:r>
          </a:p>
        </p:txBody>
      </p:sp>
      <p:sp>
        <p:nvSpPr>
          <p:cNvPr id="11" name="TextBox 10"/>
          <p:cNvSpPr txBox="1"/>
          <p:nvPr/>
        </p:nvSpPr>
        <p:spPr>
          <a:xfrm>
            <a:off x="1097280" y="2880360"/>
            <a:ext cx="9966960" cy="640080"/>
          </a:xfrm>
          <a:prstGeom prst="rect">
            <a:avLst/>
          </a:prstGeom>
          <a:noFill/>
        </p:spPr>
        <p:txBody>
          <a:bodyPr wrap="square" anchor="t">
            <a:spAutoFit/>
          </a:bodyPr>
          <a:lstStyle/>
          <a:p>
            <a:pPr algn="l">
              <a:spcAft>
                <a:spcPts val="400"/>
              </a:spcAft>
            </a:pPr>
            <a:r>
              <a:rPr sz="2600" b="1">
                <a:solidFill>
                  <a:srgbClr val="161B26"/>
                </a:solidFill>
                <a:latin typeface="Arial"/>
              </a:rPr>
              <a:t>Disney</a:t>
            </a:r>
          </a:p>
        </p:txBody>
      </p:sp>
      <p:sp>
        <p:nvSpPr>
          <p:cNvPr id="12" name="TextBox 11"/>
          <p:cNvSpPr txBox="1"/>
          <p:nvPr/>
        </p:nvSpPr>
        <p:spPr>
          <a:xfrm>
            <a:off x="1097280" y="3611880"/>
            <a:ext cx="9966960" cy="2194560"/>
          </a:xfrm>
          <a:prstGeom prst="rect">
            <a:avLst/>
          </a:prstGeom>
          <a:noFill/>
        </p:spPr>
        <p:txBody>
          <a:bodyPr wrap="square" anchor="t">
            <a:spAutoFit/>
          </a:bodyPr>
          <a:lstStyle/>
          <a:p>
            <a:pPr algn="l">
              <a:spcAft>
                <a:spcPts val="400"/>
              </a:spcAft>
            </a:pPr>
            <a:r>
              <a:rPr sz="1600" b="0">
                <a:solidFill>
                  <a:srgbClr val="5B6372"/>
                </a:solidFill>
                <a:latin typeface="Arial"/>
              </a:rPr>
              <a:t>Disney never markets a single visit — every touchpoint is built to turn one trip into decades of return visits, merchandise and generational loyalty. It's the Brand Marketing column in action: identity and emotion compounding, not a transaction closed and forgotten.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transition spd="med">
    <p:fade/>
  </p:transition>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T2 · ACTIVITY 10</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Brand-Marketing Audit Exercise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CASE STUDY</a:t>
            </a:r>
          </a:p>
        </p:txBody>
      </p:sp>
      <p:sp>
        <p:nvSpPr>
          <p:cNvPr id="9" name="Rectangle 8"/>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2" name="TextBox 11"/>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The Marketing Lead has just shown your table Nimbus's most recent campaign: a two-week discount push on the best-selling serum, promoted purely on price. It performed well on sales, but the founder is uneasy — it never once mentioned the brand values from the LU1 attribute map, and a few loyal customers commented that it "felt like any other skincare sale."</a:t>
            </a:r>
          </a:p>
          <a:p>
            <a:pPr algn="l">
              <a:spcAft>
                <a:spcPts val="800"/>
              </a:spcAft>
            </a:pPr>
            <a:r>
              <a:rPr sz="1450" b="0">
                <a:solidFill>
                  <a:srgbClr val="161B26"/>
                </a:solidFill>
                <a:latin typeface="Arial"/>
              </a:rPr>
              <a:t>Before the relaunch campaign is greenlit, leadership wants proof that Nimbus's marketing activity is actually building the brand, not just borrowing short-term attention from it. Your table has been asked to audit the discount campaign against Nimbus's approved brand identity.</a:t>
            </a:r>
          </a:p>
        </p:txBody>
      </p:sp>
      <p:sp>
        <p:nvSpPr>
          <p:cNvPr id="13" name="Rectangle 12"/>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 brand-audit report with a consistency assessment and recommendations</a:t>
            </a:r>
          </a:p>
        </p:txBody>
      </p:sp>
      <p:sp>
        <p:nvSpPr>
          <p:cNvPr id="15" name="TextBox 14"/>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20 minutes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transition spd="med">
    <p:fade/>
  </p:transition>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T2 · ACTIVITY 10</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Brand-Marketing Audit Exercise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8" name="Rectangle 7"/>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2" name="TextBox 11"/>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core identity elements from Nimbus's approved brand concept should this campaign have reflected — and which of them actually appeared in the discount push?</a:t>
            </a:r>
          </a:p>
        </p:txBody>
      </p:sp>
      <p:sp>
        <p:nvSpPr>
          <p:cNvPr id="13" name="Rectangle 12"/>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7" name="TextBox 16"/>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Was the discount campaign's messaging aligned with the brand's identity, or did it lean on price alone the way a generic competitor would?</a:t>
            </a:r>
          </a:p>
        </p:txBody>
      </p:sp>
      <p:sp>
        <p:nvSpPr>
          <p:cNvPr id="18" name="Rectangle 17"/>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Where exactly is the gap between what the campaign said and what the brand stands for — and how wide is it?</a:t>
            </a:r>
          </a:p>
        </p:txBody>
      </p:sp>
      <p:sp>
        <p:nvSpPr>
          <p:cNvPr id="23" name="Rectangle 22"/>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7" name="TextBox 26"/>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two or three concrete changes would make the next relaunch-adjacent campaign build brand equity instead of just moving stock?</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transition spd="med">
    <p:fade/>
  </p:transition>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T2 · ACTIVITY 10</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Brand-Marketing Audit Exercise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10" name="TextBox 9"/>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Did your table's consistency score match what the loyal-customer comments already hinted at?</a:t>
            </a:r>
          </a:p>
          <a:p>
            <a:pPr>
              <a:spcAft>
                <a:spcPts val="900"/>
              </a:spcAft>
            </a:pPr>
            <a:r>
              <a:rPr sz="1450" b="0">
                <a:solidFill>
                  <a:srgbClr val="161B26"/>
                </a:solidFill>
                <a:latin typeface="Arial"/>
              </a:rPr>
              <a:t>•  Was the gap you found about the message itself, or about which channel carried it?</a:t>
            </a:r>
          </a:p>
          <a:p>
            <a:pPr>
              <a:spcAft>
                <a:spcPts val="900"/>
              </a:spcAft>
            </a:pPr>
            <a:r>
              <a:rPr sz="1450" b="0">
                <a:solidFill>
                  <a:srgbClr val="161B26"/>
                </a:solidFill>
                <a:latin typeface="Arial"/>
              </a:rPr>
              <a:t>•  If every future Nimbus campaign scored this low on brand alignment, what would that do to the 5th-anniversary relaunch's credibility?</a:t>
            </a:r>
          </a:p>
        </p:txBody>
      </p:sp>
      <p:sp>
        <p:nvSpPr>
          <p:cNvPr id="11" name="Rectangle 10"/>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3" name="TextBox 12"/>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Every group can show a brand-audit report with a consistency assessment score for the discount campaign, the specific identity elements that were missing, and two or three concrete recommendations for better brand-marketing integration.</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transition spd="med">
    <p:fade/>
  </p:transition>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29984"/>
            <a:ext cx="12191695" cy="128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468880"/>
            <a:ext cx="10332720" cy="2011680"/>
          </a:xfrm>
          <a:prstGeom prst="rect">
            <a:avLst/>
          </a:prstGeom>
          <a:noFill/>
        </p:spPr>
        <p:txBody>
          <a:bodyPr wrap="square" anchor="ctr">
            <a:spAutoFit/>
          </a:bodyPr>
          <a:lstStyle/>
          <a:p>
            <a:pPr algn="l">
              <a:spcAft>
                <a:spcPts val="400"/>
              </a:spcAft>
            </a:pPr>
            <a:r>
              <a:rPr sz="2500" b="1">
                <a:solidFill>
                  <a:srgbClr val="161B26"/>
                </a:solidFill>
                <a:latin typeface="Arial"/>
              </a:rPr>
              <a:t>Execute branding campaigns, events and activities to increase brand awareness</a:t>
            </a:r>
          </a:p>
        </p:txBody>
      </p:sp>
      <p:sp>
        <p:nvSpPr>
          <p:cNvPr id="6" name="TextBox 5"/>
          <p:cNvSpPr txBox="1"/>
          <p:nvPr/>
        </p:nvSpPr>
        <p:spPr>
          <a:xfrm>
            <a:off x="914400" y="1965960"/>
            <a:ext cx="10332720" cy="457200"/>
          </a:xfrm>
          <a:prstGeom prst="rect">
            <a:avLst/>
          </a:prstGeom>
          <a:noFill/>
        </p:spPr>
        <p:txBody>
          <a:bodyPr wrap="square" anchor="t">
            <a:spAutoFit/>
          </a:bodyPr>
          <a:lstStyle/>
          <a:p>
            <a:pPr algn="l">
              <a:spcAft>
                <a:spcPts val="400"/>
              </a:spcAft>
            </a:pPr>
            <a:r>
              <a:rPr sz="1500" b="1">
                <a:solidFill>
                  <a:srgbClr val="10B981"/>
                </a:solidFill>
                <a:latin typeface="Arial"/>
              </a:rPr>
              <a:t>LO3 · LU3 · T3</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transition spd="med">
    <p:fade/>
  </p:transition>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What is Execute branding campaigns, events and activities to increase brand awareness?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Campaign Planning</a:t>
            </a:r>
          </a:p>
          <a:p>
            <a:pPr algn="l">
              <a:spcAft>
                <a:spcPts val="300"/>
              </a:spcAft>
            </a:pPr>
            <a:r>
              <a:rPr sz="1200" b="0">
                <a:solidFill>
                  <a:srgbClr val="5B6372"/>
                </a:solidFill>
                <a:latin typeface="Arial"/>
              </a:rPr>
              <a:t>A multi-channel strategy, built before launch</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Event Activation</a:t>
            </a:r>
          </a:p>
          <a:p>
            <a:pPr algn="l">
              <a:spcAft>
                <a:spcPts val="300"/>
              </a:spcAft>
            </a:pPr>
            <a:r>
              <a:rPr sz="1200" b="0">
                <a:solidFill>
                  <a:srgbClr val="5B6372"/>
                </a:solidFill>
                <a:latin typeface="Arial"/>
              </a:rPr>
              <a:t>An experiential, interactive brand moment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Channel Coordination</a:t>
            </a:r>
          </a:p>
          <a:p>
            <a:pPr algn="l">
              <a:spcAft>
                <a:spcPts val="300"/>
              </a:spcAft>
            </a:pPr>
            <a:r>
              <a:rPr sz="1200" b="0">
                <a:solidFill>
                  <a:srgbClr val="5B6372"/>
                </a:solidFill>
                <a:latin typeface="Arial"/>
              </a:rPr>
              <a:t>One consistent message across platforms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Performance Measurement</a:t>
            </a:r>
          </a:p>
          <a:p>
            <a:pPr algn="l">
              <a:spcAft>
                <a:spcPts val="300"/>
              </a:spcAft>
            </a:pPr>
            <a:r>
              <a:rPr sz="1200" b="0">
                <a:solidFill>
                  <a:srgbClr val="5B6372"/>
                </a:solidFill>
                <a:latin typeface="Arial"/>
              </a:rPr>
              <a:t>Brand recall and recognition tracked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
        <p:nvSpPr>
          <p:cNvPr id="30" name="TextBox 29"/>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experiential-marketing / brand-activation practice, Singapore 2025</a:t>
            </a:r>
          </a:p>
        </p:txBody>
      </p:sp>
    </p:spTree>
  </p:cSld>
  <p:clrMapOvr>
    <a:masterClrMapping/>
  </p:clrMapOvr>
  <p:transition spd="med">
    <p:fade/>
  </p:transition>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T3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Campaign Execution Process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74495"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7449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Define Audience</a:t>
            </a:r>
          </a:p>
        </p:txBody>
      </p:sp>
      <p:sp>
        <p:nvSpPr>
          <p:cNvPr id="12" name="TextBox 11"/>
          <p:cNvSpPr txBox="1"/>
          <p:nvPr/>
        </p:nvSpPr>
        <p:spPr>
          <a:xfrm>
            <a:off x="905256"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Identify the target demographics precisely.</a:t>
            </a:r>
          </a:p>
        </p:txBody>
      </p:sp>
      <p:sp>
        <p:nvSpPr>
          <p:cNvPr id="13" name="TextBox 12"/>
          <p:cNvSpPr txBox="1"/>
          <p:nvPr/>
        </p:nvSpPr>
        <p:spPr>
          <a:xfrm>
            <a:off x="3211830"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4" name="Rectangle 13"/>
          <p:cNvSpPr/>
          <p:nvPr/>
        </p:nvSpPr>
        <p:spPr>
          <a:xfrm>
            <a:off x="3504438"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504438"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01693"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0169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632454"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Core Message</a:t>
            </a:r>
          </a:p>
        </p:txBody>
      </p:sp>
      <p:sp>
        <p:nvSpPr>
          <p:cNvPr id="19" name="TextBox 18"/>
          <p:cNvSpPr txBox="1"/>
          <p:nvPr/>
        </p:nvSpPr>
        <p:spPr>
          <a:xfrm>
            <a:off x="3632454"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Develop the unique selling proposition.</a:t>
            </a:r>
          </a:p>
        </p:txBody>
      </p:sp>
      <p:sp>
        <p:nvSpPr>
          <p:cNvPr id="20" name="TextBox 19"/>
          <p:cNvSpPr txBox="1"/>
          <p:nvPr/>
        </p:nvSpPr>
        <p:spPr>
          <a:xfrm>
            <a:off x="5939028"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1" name="Rectangle 20"/>
          <p:cNvSpPr/>
          <p:nvPr/>
        </p:nvSpPr>
        <p:spPr>
          <a:xfrm>
            <a:off x="6231636"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128891"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288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6359652"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Channel Selection</a:t>
            </a:r>
          </a:p>
        </p:txBody>
      </p:sp>
      <p:sp>
        <p:nvSpPr>
          <p:cNvPr id="26" name="TextBox 25"/>
          <p:cNvSpPr txBox="1"/>
          <p:nvPr/>
        </p:nvSpPr>
        <p:spPr>
          <a:xfrm>
            <a:off x="6359652"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Choose the optimal marketing platforms.</a:t>
            </a:r>
          </a:p>
        </p:txBody>
      </p:sp>
      <p:sp>
        <p:nvSpPr>
          <p:cNvPr id="27" name="TextBox 26"/>
          <p:cNvSpPr txBox="1"/>
          <p:nvPr/>
        </p:nvSpPr>
        <p:spPr>
          <a:xfrm>
            <a:off x="8666226"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8" name="Rectangle 27"/>
          <p:cNvSpPr/>
          <p:nvPr/>
        </p:nvSpPr>
        <p:spPr>
          <a:xfrm>
            <a:off x="8958834"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958834"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856089"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5608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9086850"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Visual Consistency</a:t>
            </a:r>
          </a:p>
        </p:txBody>
      </p:sp>
      <p:sp>
        <p:nvSpPr>
          <p:cNvPr id="33" name="TextBox 32"/>
          <p:cNvSpPr txBox="1"/>
          <p:nvPr/>
        </p:nvSpPr>
        <p:spPr>
          <a:xfrm>
            <a:off x="9086850"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Create unified brand assets across channels.</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transition spd="med">
    <p:fade/>
  </p:transition>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T3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Traditional Campaign vs Experiential Activation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Traditional</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Experiential</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Print &amp; Press Ads — One-way placements in newspapers and lifestyle magazines</a:t>
            </a:r>
          </a:p>
          <a:p>
            <a:pPr>
              <a:spcAft>
                <a:spcPts val="1000"/>
              </a:spcAft>
            </a:pPr>
            <a:r>
              <a:rPr sz="1600" b="0">
                <a:solidFill>
                  <a:srgbClr val="161B26"/>
                </a:solidFill>
                <a:latin typeface="Arial"/>
              </a:rPr>
              <a:t>•  Radio Spots — Audio commercial broadcasts with no direct interaction</a:t>
            </a:r>
          </a:p>
          <a:p>
            <a:pPr>
              <a:spcAft>
                <a:spcPts val="1000"/>
              </a:spcAft>
            </a:pPr>
            <a:r>
              <a:rPr sz="1600" b="0">
                <a:solidFill>
                  <a:srgbClr val="161B26"/>
                </a:solidFill>
                <a:latin typeface="Arial"/>
              </a:rPr>
              <a:t>•  Digital Banner Ads — Passive display advertising customers scroll past</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Interactive Pop-Up — A gamified, multi-sensory space customers step into and explore</a:t>
            </a:r>
          </a:p>
          <a:p>
            <a:pPr>
              <a:spcAft>
                <a:spcPts val="1000"/>
              </a:spcAft>
            </a:pPr>
            <a:r>
              <a:rPr sz="1600" b="0">
                <a:solidFill>
                  <a:srgbClr val="161B26"/>
                </a:solidFill>
                <a:latin typeface="Arial"/>
              </a:rPr>
              <a:t>•  Live Brand Event — A hands-on activation built around the anniversary story</a:t>
            </a:r>
          </a:p>
          <a:p>
            <a:pPr>
              <a:spcAft>
                <a:spcPts val="1000"/>
              </a:spcAft>
            </a:pPr>
            <a:r>
              <a:rPr sz="1600" b="0">
                <a:solidFill>
                  <a:srgbClr val="161B26"/>
                </a:solidFill>
                <a:latin typeface="Arial"/>
              </a:rPr>
              <a:t>•  UGC-Ready Moments — Social-share-ready touchpoints designed for guests to post themselves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
        <p:nvSpPr>
          <p:cNvPr id="16" name="TextBox 15"/>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experiential-marketing / brand-activation practice, Singapore 2025</a:t>
            </a:r>
          </a:p>
        </p:txBody>
      </p:sp>
    </p:spTree>
  </p:cSld>
  <p:clrMapOvr>
    <a:masterClrMapping/>
  </p:clrMapOvr>
  <p:transition spd="med">
    <p:fade/>
  </p:transition>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T3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Relaunch Pop-Up — Illustrative Activation KPIs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2384298" cy="2834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40280"/>
            <a:ext cx="2384298"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651760"/>
            <a:ext cx="2384298" cy="1188720"/>
          </a:xfrm>
          <a:prstGeom prst="rect">
            <a:avLst/>
          </a:prstGeom>
          <a:noFill/>
        </p:spPr>
        <p:txBody>
          <a:bodyPr wrap="square" anchor="t">
            <a:spAutoFit/>
          </a:bodyPr>
          <a:lstStyle/>
          <a:p>
            <a:pPr algn="ctr">
              <a:spcAft>
                <a:spcPts val="400"/>
              </a:spcAft>
            </a:pPr>
            <a:r>
              <a:rPr sz="4400" b="1">
                <a:solidFill>
                  <a:srgbClr val="1F6FEB"/>
                </a:solidFill>
                <a:latin typeface="Arial"/>
              </a:rPr>
              <a:t>+42%</a:t>
            </a:r>
          </a:p>
        </p:txBody>
      </p:sp>
      <p:sp>
        <p:nvSpPr>
          <p:cNvPr id="10" name="TextBox 9"/>
          <p:cNvSpPr txBox="1"/>
          <p:nvPr/>
        </p:nvSpPr>
        <p:spPr>
          <a:xfrm>
            <a:off x="960120" y="3931920"/>
            <a:ext cx="2018538" cy="1005840"/>
          </a:xfrm>
          <a:prstGeom prst="rect">
            <a:avLst/>
          </a:prstGeom>
          <a:noFill/>
        </p:spPr>
        <p:txBody>
          <a:bodyPr wrap="square" anchor="t">
            <a:spAutoFit/>
          </a:bodyPr>
          <a:lstStyle/>
          <a:p>
            <a:pPr algn="ctr">
              <a:spcAft>
                <a:spcPts val="400"/>
              </a:spcAft>
            </a:pPr>
            <a:r>
              <a:rPr sz="1300" b="0">
                <a:solidFill>
                  <a:srgbClr val="161B26"/>
                </a:solidFill>
                <a:latin typeface="Arial"/>
              </a:rPr>
              <a:t>Pop-Up Foot Traffic — vs an average retail week</a:t>
            </a:r>
          </a:p>
        </p:txBody>
      </p:sp>
      <p:sp>
        <p:nvSpPr>
          <p:cNvPr id="11" name="Rectangle 10"/>
          <p:cNvSpPr/>
          <p:nvPr/>
        </p:nvSpPr>
        <p:spPr>
          <a:xfrm>
            <a:off x="3527298" y="2240280"/>
            <a:ext cx="2384298" cy="2834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527298" y="2240280"/>
            <a:ext cx="2384298"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27298" y="2651760"/>
            <a:ext cx="2384298" cy="1188720"/>
          </a:xfrm>
          <a:prstGeom prst="rect">
            <a:avLst/>
          </a:prstGeom>
          <a:noFill/>
        </p:spPr>
        <p:txBody>
          <a:bodyPr wrap="square" anchor="t">
            <a:spAutoFit/>
          </a:bodyPr>
          <a:lstStyle/>
          <a:p>
            <a:pPr algn="ctr">
              <a:spcAft>
                <a:spcPts val="400"/>
              </a:spcAft>
            </a:pPr>
            <a:r>
              <a:rPr sz="4400" b="1">
                <a:solidFill>
                  <a:srgbClr val="10B981"/>
                </a:solidFill>
                <a:latin typeface="Arial"/>
              </a:rPr>
              <a:t>1,850</a:t>
            </a:r>
          </a:p>
        </p:txBody>
      </p:sp>
      <p:sp>
        <p:nvSpPr>
          <p:cNvPr id="14" name="TextBox 13"/>
          <p:cNvSpPr txBox="1"/>
          <p:nvPr/>
        </p:nvSpPr>
        <p:spPr>
          <a:xfrm>
            <a:off x="3710178" y="3931920"/>
            <a:ext cx="2018538" cy="1005840"/>
          </a:xfrm>
          <a:prstGeom prst="rect">
            <a:avLst/>
          </a:prstGeom>
          <a:noFill/>
        </p:spPr>
        <p:txBody>
          <a:bodyPr wrap="square" anchor="t">
            <a:spAutoFit/>
          </a:bodyPr>
          <a:lstStyle/>
          <a:p>
            <a:pPr algn="ctr">
              <a:spcAft>
                <a:spcPts val="400"/>
              </a:spcAft>
            </a:pPr>
            <a:r>
              <a:rPr sz="1300" b="0">
                <a:solidFill>
                  <a:srgbClr val="161B26"/>
                </a:solidFill>
                <a:latin typeface="Arial"/>
              </a:rPr>
              <a:t>Social Mentions — UGC-tagged posts, launch week</a:t>
            </a:r>
          </a:p>
        </p:txBody>
      </p:sp>
      <p:sp>
        <p:nvSpPr>
          <p:cNvPr id="15" name="Rectangle 14"/>
          <p:cNvSpPr/>
          <p:nvPr/>
        </p:nvSpPr>
        <p:spPr>
          <a:xfrm>
            <a:off x="6277356" y="2240280"/>
            <a:ext cx="2384298" cy="2834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77356" y="2240280"/>
            <a:ext cx="2384298"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77356" y="2651760"/>
            <a:ext cx="2384298" cy="1188720"/>
          </a:xfrm>
          <a:prstGeom prst="rect">
            <a:avLst/>
          </a:prstGeom>
          <a:noFill/>
        </p:spPr>
        <p:txBody>
          <a:bodyPr wrap="square" anchor="t">
            <a:spAutoFit/>
          </a:bodyPr>
          <a:lstStyle/>
          <a:p>
            <a:pPr algn="ctr">
              <a:spcAft>
                <a:spcPts val="400"/>
              </a:spcAft>
            </a:pPr>
            <a:r>
              <a:rPr sz="4400" b="1">
                <a:solidFill>
                  <a:srgbClr val="7C3AED"/>
                </a:solidFill>
                <a:latin typeface="Arial"/>
              </a:rPr>
              <a:t>18%</a:t>
            </a:r>
          </a:p>
        </p:txBody>
      </p:sp>
      <p:sp>
        <p:nvSpPr>
          <p:cNvPr id="18" name="TextBox 17"/>
          <p:cNvSpPr txBox="1"/>
          <p:nvPr/>
        </p:nvSpPr>
        <p:spPr>
          <a:xfrm>
            <a:off x="6460236" y="3931920"/>
            <a:ext cx="2018538" cy="1005840"/>
          </a:xfrm>
          <a:prstGeom prst="rect">
            <a:avLst/>
          </a:prstGeom>
          <a:noFill/>
        </p:spPr>
        <p:txBody>
          <a:bodyPr wrap="square" anchor="t">
            <a:spAutoFit/>
          </a:bodyPr>
          <a:lstStyle/>
          <a:p>
            <a:pPr algn="ctr">
              <a:spcAft>
                <a:spcPts val="400"/>
              </a:spcAft>
            </a:pPr>
            <a:r>
              <a:rPr sz="1300" b="0">
                <a:solidFill>
                  <a:srgbClr val="161B26"/>
                </a:solidFill>
                <a:latin typeface="Arial"/>
              </a:rPr>
              <a:t>Sample-to-Purchase — Conversion rate at the pop-up</a:t>
            </a:r>
          </a:p>
        </p:txBody>
      </p:sp>
      <p:sp>
        <p:nvSpPr>
          <p:cNvPr id="19" name="Rectangle 18"/>
          <p:cNvSpPr/>
          <p:nvPr/>
        </p:nvSpPr>
        <p:spPr>
          <a:xfrm>
            <a:off x="9027414" y="2240280"/>
            <a:ext cx="2384298" cy="2834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27414" y="2240280"/>
            <a:ext cx="2384298"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27414" y="2651760"/>
            <a:ext cx="2384298" cy="1188720"/>
          </a:xfrm>
          <a:prstGeom prst="rect">
            <a:avLst/>
          </a:prstGeom>
          <a:noFill/>
        </p:spPr>
        <p:txBody>
          <a:bodyPr wrap="square" anchor="t">
            <a:spAutoFit/>
          </a:bodyPr>
          <a:lstStyle/>
          <a:p>
            <a:pPr algn="ctr">
              <a:spcAft>
                <a:spcPts val="400"/>
              </a:spcAft>
            </a:pPr>
            <a:r>
              <a:rPr sz="4400" b="1">
                <a:solidFill>
                  <a:srgbClr val="F59E0B"/>
                </a:solidFill>
                <a:latin typeface="Arial"/>
              </a:rPr>
              <a:t>31%</a:t>
            </a:r>
          </a:p>
        </p:txBody>
      </p:sp>
      <p:sp>
        <p:nvSpPr>
          <p:cNvPr id="22" name="TextBox 21"/>
          <p:cNvSpPr txBox="1"/>
          <p:nvPr/>
        </p:nvSpPr>
        <p:spPr>
          <a:xfrm>
            <a:off x="9210294" y="3931920"/>
            <a:ext cx="2018538" cy="1005840"/>
          </a:xfrm>
          <a:prstGeom prst="rect">
            <a:avLst/>
          </a:prstGeom>
          <a:noFill/>
        </p:spPr>
        <p:txBody>
          <a:bodyPr wrap="square" anchor="t">
            <a:spAutoFit/>
          </a:bodyPr>
          <a:lstStyle/>
          <a:p>
            <a:pPr algn="ctr">
              <a:spcAft>
                <a:spcPts val="400"/>
              </a:spcAft>
            </a:pPr>
            <a:r>
              <a:rPr sz="1300" b="0">
                <a:solidFill>
                  <a:srgbClr val="161B26"/>
                </a:solidFill>
                <a:latin typeface="Arial"/>
              </a:rPr>
              <a:t>Follow-Up Email Opens — vs a 22% baseline average</a:t>
            </a:r>
          </a:p>
        </p:txBody>
      </p:sp>
      <p:sp>
        <p:nvSpPr>
          <p:cNvPr id="23" name="Rectangle 22"/>
          <p:cNvSpPr/>
          <p:nvPr/>
        </p:nvSpPr>
        <p:spPr>
          <a:xfrm>
            <a:off x="777240" y="5349240"/>
            <a:ext cx="10634472" cy="777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349240"/>
            <a:ext cx="91440" cy="7772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97280" y="5349240"/>
            <a:ext cx="10058400" cy="777240"/>
          </a:xfrm>
          <a:prstGeom prst="rect">
            <a:avLst/>
          </a:prstGeom>
          <a:noFill/>
        </p:spPr>
        <p:txBody>
          <a:bodyPr wrap="square" anchor="ctr">
            <a:spAutoFit/>
          </a:bodyPr>
          <a:lstStyle/>
          <a:p>
            <a:pPr algn="l">
              <a:spcAft>
                <a:spcPts val="400"/>
              </a:spcAft>
            </a:pPr>
            <a:r>
              <a:rPr sz="1250" b="1">
                <a:solidFill>
                  <a:srgbClr val="161B26"/>
                </a:solidFill>
                <a:latin typeface="Arial"/>
              </a:rPr>
              <a:t>Source: illustrative values, brand-activation KPI benchmarks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transition spd="med">
    <p:fade/>
  </p:transition>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T3 · REAL-WORLD EXAMPLE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 Seasonal Cup Turns One Visit Into a Shareable Moment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206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28016" cy="42062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97280" y="2103120"/>
            <a:ext cx="2834640"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103120"/>
            <a:ext cx="2834640" cy="502920"/>
          </a:xfrm>
          <a:prstGeom prst="rect">
            <a:avLst/>
          </a:prstGeom>
          <a:noFill/>
        </p:spPr>
        <p:txBody>
          <a:bodyPr wrap="square" anchor="ctr">
            <a:spAutoFit/>
          </a:bodyPr>
          <a:lstStyle/>
          <a:p>
            <a:pPr algn="ctr">
              <a:spcAft>
                <a:spcPts val="400"/>
              </a:spcAft>
            </a:pPr>
            <a:r>
              <a:rPr sz="1300" b="1">
                <a:solidFill>
                  <a:srgbClr val="FFFFFF"/>
                </a:solidFill>
                <a:latin typeface="Arial"/>
              </a:rPr>
              <a:t>REAL-WORLD EXAMPLE</a:t>
            </a:r>
          </a:p>
        </p:txBody>
      </p:sp>
      <p:sp>
        <p:nvSpPr>
          <p:cNvPr id="11" name="TextBox 10"/>
          <p:cNvSpPr txBox="1"/>
          <p:nvPr/>
        </p:nvSpPr>
        <p:spPr>
          <a:xfrm>
            <a:off x="1097280" y="2880360"/>
            <a:ext cx="9966960" cy="640080"/>
          </a:xfrm>
          <a:prstGeom prst="rect">
            <a:avLst/>
          </a:prstGeom>
          <a:noFill/>
        </p:spPr>
        <p:txBody>
          <a:bodyPr wrap="square" anchor="t">
            <a:spAutoFit/>
          </a:bodyPr>
          <a:lstStyle/>
          <a:p>
            <a:pPr algn="l">
              <a:spcAft>
                <a:spcPts val="400"/>
              </a:spcAft>
            </a:pPr>
            <a:r>
              <a:rPr sz="2600" b="1">
                <a:solidFill>
                  <a:srgbClr val="161B26"/>
                </a:solidFill>
                <a:latin typeface="Arial"/>
              </a:rPr>
              <a:t>Starbucks</a:t>
            </a:r>
          </a:p>
        </p:txBody>
      </p:sp>
      <p:sp>
        <p:nvSpPr>
          <p:cNvPr id="12" name="TextBox 11"/>
          <p:cNvSpPr txBox="1"/>
          <p:nvPr/>
        </p:nvSpPr>
        <p:spPr>
          <a:xfrm>
            <a:off x="1097280" y="3611880"/>
            <a:ext cx="9966960" cy="2194560"/>
          </a:xfrm>
          <a:prstGeom prst="rect">
            <a:avLst/>
          </a:prstGeom>
          <a:noFill/>
        </p:spPr>
        <p:txBody>
          <a:bodyPr wrap="square" anchor="t">
            <a:spAutoFit/>
          </a:bodyPr>
          <a:lstStyle/>
          <a:p>
            <a:pPr algn="l">
              <a:spcAft>
                <a:spcPts val="400"/>
              </a:spcAft>
            </a:pPr>
            <a:r>
              <a:rPr sz="1600" b="0">
                <a:solidFill>
                  <a:srgbClr val="5B6372"/>
                </a:solidFill>
                <a:latin typeface="Arial"/>
              </a:rPr>
              <a:t>Starbucks's seasonal pop-up drinks and store experiences aren't really about the product — they're multi-sensory moments customers queue for, photograph and post themselves. It's the same experiential principle behind Nimbus's relaunch pop-up: give people something to walk into, not just an ad to scroll past.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transition spd="med">
    <p:fade/>
  </p:transition>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T3 · ACTIVITY 11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Brand Activation Planning Workshop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CASE STUDY</a:t>
            </a:r>
          </a:p>
        </p:txBody>
      </p:sp>
      <p:sp>
        <p:nvSpPr>
          <p:cNvPr id="9" name="Rectangle 8"/>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2" name="TextBox 11"/>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The brand guidelines are drafted and the consistency gaps are named. Now the founder needs an actual activation plan for the 5th-anniversary relaunch — the campaign that has to win back the customers who say Nimbus "doesn't feel personal anymore" while reaching new customers who are comparing Nimbus to the competitor whose viral campaign started this six months ago.</a:t>
            </a:r>
          </a:p>
          <a:p>
            <a:pPr algn="l">
              <a:spcAft>
                <a:spcPts val="800"/>
              </a:spcAft>
            </a:pPr>
            <a:r>
              <a:rPr sz="1450" b="0">
                <a:solidFill>
                  <a:srgbClr val="161B26"/>
                </a:solidFill>
                <a:latin typeface="Arial"/>
              </a:rPr>
              <a:t>The founder has one non-negotiable: the relaunch needs at least one experiential element, not just another round of social ads — something people can walk into, touch or take part in, and want to share themselves.</a:t>
            </a:r>
          </a:p>
          <a:p>
            <a:pPr algn="l">
              <a:spcAft>
                <a:spcPts val="800"/>
              </a:spcAft>
            </a:pPr>
            <a:r>
              <a:rPr sz="1450" b="0">
                <a:solidFill>
                  <a:srgbClr val="161B26"/>
                </a:solidFill>
                <a:latin typeface="Arial"/>
              </a:rPr>
              <a:t>Your table's job is to design the channel mix, the core message and that one experiential element, all traceable back to the brand concept and voice Nimbus has already approved.</a:t>
            </a:r>
          </a:p>
        </p:txBody>
      </p:sp>
      <p:sp>
        <p:nvSpPr>
          <p:cNvPr id="13" name="Rectangle 12"/>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 campaign-strategy document with timeline, budget allocation and success metrics</a:t>
            </a:r>
          </a:p>
        </p:txBody>
      </p:sp>
      <p:sp>
        <p:nvSpPr>
          <p:cNvPr id="15" name="TextBox 14"/>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30 minutes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p:transition spd="med">
    <p:fade/>
  </p:transition>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T3 · ACTIVITY 11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Brand Activation Planning Workshop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8" name="Rectangle 7"/>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2" name="TextBox 11"/>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is the one core message the relaunch campaign should carry everywhere — and how does it answer the "doesn't feel personal anymore" perception gap directly?</a:t>
            </a:r>
          </a:p>
        </p:txBody>
      </p:sp>
      <p:sp>
        <p:nvSpPr>
          <p:cNvPr id="13" name="Rectangle 12"/>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7" name="TextBox 16"/>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3-4 channels (owned, earned, paid) should carry that message, and what does each channel need to do differently to stay true to Nimbus's brand voice?</a:t>
            </a:r>
          </a:p>
        </p:txBody>
      </p:sp>
      <p:sp>
        <p:nvSpPr>
          <p:cNvPr id="18" name="Rectangle 17"/>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is your one experiential element, and what makes it relevant, emotionally engaging and genuinely shareable rather than just an expensive photo backdrop?</a:t>
            </a:r>
          </a:p>
        </p:txBody>
      </p:sp>
      <p:sp>
        <p:nvSpPr>
          <p:cNvPr id="23" name="Rectangle 22"/>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7" name="TextBox 26"/>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How will you know the activation actually built brand recall, not just short-term foot traffic or impressions?</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p:transition spd="med">
    <p:fade/>
  </p:transition>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T3 · ACTIVITY 11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Brand Activation Planning Workshop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10" name="TextBox 9"/>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Did your experiential idea start from the brand story, or did the brand story get bolted on afterward to justify an idea your table already liked?</a:t>
            </a:r>
          </a:p>
          <a:p>
            <a:pPr>
              <a:spcAft>
                <a:spcPts val="900"/>
              </a:spcAft>
            </a:pPr>
            <a:r>
              <a:rPr sz="1450" b="0">
                <a:solidFill>
                  <a:srgbClr val="161B26"/>
                </a:solidFill>
                <a:latin typeface="Arial"/>
              </a:rPr>
              <a:t>•  Which channel in your mix was hardest to keep consistent with Nimbus's brand voice, and why?</a:t>
            </a:r>
          </a:p>
          <a:p>
            <a:pPr>
              <a:spcAft>
                <a:spcPts val="900"/>
              </a:spcAft>
            </a:pPr>
            <a:r>
              <a:rPr sz="1450" b="0">
                <a:solidFill>
                  <a:srgbClr val="161B26"/>
                </a:solidFill>
                <a:latin typeface="Arial"/>
              </a:rPr>
              <a:t>•  If the experiential element only reached 200 people in person, what would have to be true about the rest of your channel mix for the relaunch to still feel successful?</a:t>
            </a:r>
          </a:p>
        </p:txBody>
      </p:sp>
      <p:sp>
        <p:nvSpPr>
          <p:cNvPr id="11" name="Rectangle 10"/>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3" name="TextBox 12"/>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Every group can show a campaign plan naming 3-4 channels, one core message traceable to the brand concept, one experiential element with a clear rationale, and a brand-recall metric for measuring success — not just a reach or attendance number.</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p:transition spd="med">
    <p:fade/>
  </p:transition>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29984"/>
            <a:ext cx="12191695" cy="128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468880"/>
            <a:ext cx="10332720" cy="2011680"/>
          </a:xfrm>
          <a:prstGeom prst="rect">
            <a:avLst/>
          </a:prstGeom>
          <a:noFill/>
        </p:spPr>
        <p:txBody>
          <a:bodyPr wrap="square" anchor="ctr">
            <a:spAutoFit/>
          </a:bodyPr>
          <a:lstStyle/>
          <a:p>
            <a:pPr algn="l">
              <a:spcAft>
                <a:spcPts val="400"/>
              </a:spcAft>
            </a:pPr>
            <a:r>
              <a:rPr sz="2100" b="1">
                <a:solidFill>
                  <a:srgbClr val="161B26"/>
                </a:solidFill>
                <a:latin typeface="Arial"/>
              </a:rPr>
              <a:t>Execute public relations campaigns in alignment to brand positioning strategies, operational plans and budget</a:t>
            </a:r>
          </a:p>
        </p:txBody>
      </p:sp>
      <p:sp>
        <p:nvSpPr>
          <p:cNvPr id="6" name="TextBox 5"/>
          <p:cNvSpPr txBox="1"/>
          <p:nvPr/>
        </p:nvSpPr>
        <p:spPr>
          <a:xfrm>
            <a:off x="914400" y="1965960"/>
            <a:ext cx="10332720" cy="457200"/>
          </a:xfrm>
          <a:prstGeom prst="rect">
            <a:avLst/>
          </a:prstGeom>
          <a:noFill/>
        </p:spPr>
        <p:txBody>
          <a:bodyPr wrap="square" anchor="t">
            <a:spAutoFit/>
          </a:bodyPr>
          <a:lstStyle/>
          <a:p>
            <a:pPr algn="l">
              <a:spcAft>
                <a:spcPts val="400"/>
              </a:spcAft>
            </a:pPr>
            <a:r>
              <a:rPr sz="1500" b="1">
                <a:solidFill>
                  <a:srgbClr val="10B981"/>
                </a:solidFill>
                <a:latin typeface="Arial"/>
              </a:rPr>
              <a:t>LO3 · LU3 · T4</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p:transition spd="med">
    <p:fade/>
  </p:transition>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What is Execute public relations campaigns in alignment to brand positioning strategies, operational plans and budget?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Brand Positioning</a:t>
            </a:r>
          </a:p>
          <a:p>
            <a:pPr algn="l">
              <a:spcAft>
                <a:spcPts val="300"/>
              </a:spcAft>
            </a:pPr>
            <a:r>
              <a:rPr sz="1200" b="0">
                <a:solidFill>
                  <a:srgbClr val="5B6372"/>
                </a:solidFill>
                <a:latin typeface="Arial"/>
              </a:rPr>
              <a:t>The foundation every PR message builds on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Operational Plans</a:t>
            </a:r>
          </a:p>
          <a:p>
            <a:pPr algn="l">
              <a:spcAft>
                <a:spcPts val="300"/>
              </a:spcAft>
            </a:pPr>
            <a:r>
              <a:rPr sz="1200" b="0">
                <a:solidFill>
                  <a:srgbClr val="5B6372"/>
                </a:solidFill>
                <a:latin typeface="Arial"/>
              </a:rPr>
              <a:t>A structured plan for campaign delivery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Budget Management</a:t>
            </a:r>
          </a:p>
          <a:p>
            <a:pPr algn="l">
              <a:spcAft>
                <a:spcPts val="300"/>
              </a:spcAft>
            </a:pPr>
            <a:r>
              <a:rPr sz="1200" b="0">
                <a:solidFill>
                  <a:srgbClr val="5B6372"/>
                </a:solidFill>
                <a:latin typeface="Arial"/>
              </a:rPr>
              <a:t>Resource allocation and cost control</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Strategic Alignment</a:t>
            </a:r>
          </a:p>
          <a:p>
            <a:pPr algn="l">
              <a:spcAft>
                <a:spcPts val="300"/>
              </a:spcAft>
            </a:pPr>
            <a:r>
              <a:rPr sz="1200" b="0">
                <a:solidFill>
                  <a:srgbClr val="5B6372"/>
                </a:solidFill>
                <a:latin typeface="Arial"/>
              </a:rPr>
              <a:t>Everything traces back to one strategy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
        <p:nvSpPr>
          <p:cNvPr id="30" name="TextBox 29"/>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PESO Model (Paid, Earned, Shared, Owned), Gini Dietrich / Spin Sucks</a:t>
            </a:r>
          </a:p>
        </p:txBody>
      </p:sp>
    </p:spTree>
  </p:cSld>
  <p:clrMapOvr>
    <a:masterClrMapping/>
  </p:clrMapOvr>
  <p:transition spd="med">
    <p:fade/>
  </p:transition>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T4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PR Campaign Planning Process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74495"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7449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Define Positioning</a:t>
            </a:r>
          </a:p>
        </p:txBody>
      </p:sp>
      <p:sp>
        <p:nvSpPr>
          <p:cNvPr id="12" name="TextBox 11"/>
          <p:cNvSpPr txBox="1"/>
          <p:nvPr/>
        </p:nvSpPr>
        <p:spPr>
          <a:xfrm>
            <a:off x="905256"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Establish the unique brand identity behind the campaign.</a:t>
            </a:r>
          </a:p>
        </p:txBody>
      </p:sp>
      <p:sp>
        <p:nvSpPr>
          <p:cNvPr id="13" name="TextBox 12"/>
          <p:cNvSpPr txBox="1"/>
          <p:nvPr/>
        </p:nvSpPr>
        <p:spPr>
          <a:xfrm>
            <a:off x="3211830"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4" name="Rectangle 13"/>
          <p:cNvSpPr/>
          <p:nvPr/>
        </p:nvSpPr>
        <p:spPr>
          <a:xfrm>
            <a:off x="3504438"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504438"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01693"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0169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632454"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Set Objectives</a:t>
            </a:r>
          </a:p>
        </p:txBody>
      </p:sp>
      <p:sp>
        <p:nvSpPr>
          <p:cNvPr id="19" name="TextBox 18"/>
          <p:cNvSpPr txBox="1"/>
          <p:nvPr/>
        </p:nvSpPr>
        <p:spPr>
          <a:xfrm>
            <a:off x="3632454"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Write clear, measurable campaign goals.</a:t>
            </a:r>
          </a:p>
        </p:txBody>
      </p:sp>
      <p:sp>
        <p:nvSpPr>
          <p:cNvPr id="20" name="TextBox 19"/>
          <p:cNvSpPr txBox="1"/>
          <p:nvPr/>
        </p:nvSpPr>
        <p:spPr>
          <a:xfrm>
            <a:off x="5939028"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1" name="Rectangle 20"/>
          <p:cNvSpPr/>
          <p:nvPr/>
        </p:nvSpPr>
        <p:spPr>
          <a:xfrm>
            <a:off x="6231636"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128891"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288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6359652"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Identify Audiences</a:t>
            </a:r>
          </a:p>
        </p:txBody>
      </p:sp>
      <p:sp>
        <p:nvSpPr>
          <p:cNvPr id="26" name="TextBox 25"/>
          <p:cNvSpPr txBox="1"/>
          <p:nvPr/>
        </p:nvSpPr>
        <p:spPr>
          <a:xfrm>
            <a:off x="6359652"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Define each target group precisely.</a:t>
            </a:r>
          </a:p>
        </p:txBody>
      </p:sp>
      <p:sp>
        <p:nvSpPr>
          <p:cNvPr id="27" name="TextBox 26"/>
          <p:cNvSpPr txBox="1"/>
          <p:nvPr/>
        </p:nvSpPr>
        <p:spPr>
          <a:xfrm>
            <a:off x="8666226"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8" name="Rectangle 27"/>
          <p:cNvSpPr/>
          <p:nvPr/>
        </p:nvSpPr>
        <p:spPr>
          <a:xfrm>
            <a:off x="8958834"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958834"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856089"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5608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9086850"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Craft Messages</a:t>
            </a:r>
          </a:p>
        </p:txBody>
      </p:sp>
      <p:sp>
        <p:nvSpPr>
          <p:cNvPr id="33" name="TextBox 32"/>
          <p:cNvSpPr txBox="1"/>
          <p:nvPr/>
        </p:nvSpPr>
        <p:spPr>
          <a:xfrm>
            <a:off x="9086850"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Tailor the content to each audience.</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p:transition spd="med">
    <p:fade/>
  </p:transition>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T4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Budget Allocation Logic — Anchor vs Adjust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Anchor on Positioning</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Adjust for the Moment</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Brand Fit First — every dollar traces back to the approved brand concept</a:t>
            </a:r>
          </a:p>
          <a:p>
            <a:pPr>
              <a:spcAft>
                <a:spcPts val="1000"/>
              </a:spcAft>
            </a:pPr>
            <a:r>
              <a:rPr sz="1600" b="0">
                <a:solidFill>
                  <a:srgbClr val="161B26"/>
                </a:solidFill>
                <a:latin typeface="Arial"/>
              </a:rPr>
              <a:t>•  Owned as Base — the channels Nimbus controls carry the core story at near-zero cost</a:t>
            </a:r>
          </a:p>
          <a:p>
            <a:pPr>
              <a:spcAft>
                <a:spcPts val="1000"/>
              </a:spcAft>
            </a:pPr>
            <a:r>
              <a:rPr sz="1600" b="0">
                <a:solidFill>
                  <a:srgbClr val="161B26"/>
                </a:solidFill>
                <a:latin typeface="Arial"/>
              </a:rPr>
              <a:t>•  Earned as Credibility — press and reviews lend outside validation paid media can't buy</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Paid to Fill Gaps — boosted reach only where owned and earned fall short</a:t>
            </a:r>
          </a:p>
          <a:p>
            <a:pPr>
              <a:spcAft>
                <a:spcPts val="1000"/>
              </a:spcAft>
            </a:pPr>
            <a:r>
              <a:rPr sz="1600" b="0">
                <a:solidFill>
                  <a:srgbClr val="161B26"/>
                </a:solidFill>
                <a:latin typeface="Arial"/>
              </a:rPr>
              <a:t>•  Reserve for Response — budget held back for the CS perception gap resurfacing</a:t>
            </a:r>
          </a:p>
          <a:p>
            <a:pPr>
              <a:spcAft>
                <a:spcPts val="1000"/>
              </a:spcAft>
            </a:pPr>
            <a:r>
              <a:rPr sz="1600" b="0">
                <a:solidFill>
                  <a:srgbClr val="161B26"/>
                </a:solidFill>
                <a:latin typeface="Arial"/>
              </a:rPr>
              <a:t>•  Review Mid-Campaign — reallocate if one channel is clearly outperforming the rest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
        <p:nvSpPr>
          <p:cNvPr id="16" name="TextBox 15"/>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PESO Model (Paid, Earned, Shared, Owned), Gini Dietrich / Spin Sucks</a:t>
            </a:r>
          </a:p>
        </p:txBody>
      </p:sp>
    </p:spTree>
  </p:cSld>
  <p:clrMapOvr>
    <a:masterClrMapping/>
  </p:clrMapOvr>
  <p:transition spd="med">
    <p:fade/>
  </p:transition>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T4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PESO Budget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Paid</a:t>
            </a:r>
          </a:p>
          <a:p>
            <a:pPr algn="l">
              <a:spcAft>
                <a:spcPts val="300"/>
              </a:spcAft>
            </a:pPr>
            <a:r>
              <a:rPr sz="1200" b="0">
                <a:solidFill>
                  <a:srgbClr val="5B6372"/>
                </a:solidFill>
                <a:latin typeface="Arial"/>
              </a:rPr>
              <a:t>Sponsored placements and promotion — reach money can buy directly.</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Earned</a:t>
            </a:r>
          </a:p>
          <a:p>
            <a:pPr algn="l">
              <a:spcAft>
                <a:spcPts val="300"/>
              </a:spcAft>
            </a:pPr>
            <a:r>
              <a:rPr sz="1200" b="0">
                <a:solidFill>
                  <a:srgbClr val="5B6372"/>
                </a:solidFill>
                <a:latin typeface="Arial"/>
              </a:rPr>
              <a:t>Press coverage and reviews secured through relationships, unpaid.</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Shared</a:t>
            </a:r>
          </a:p>
          <a:p>
            <a:pPr algn="l">
              <a:spcAft>
                <a:spcPts val="300"/>
              </a:spcAft>
            </a:pPr>
            <a:r>
              <a:rPr sz="1200" b="0">
                <a:solidFill>
                  <a:srgbClr val="5B6372"/>
                </a:solidFill>
                <a:latin typeface="Arial"/>
              </a:rPr>
              <a:t>Social conversation and community amplification around the brand.</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Owned</a:t>
            </a:r>
          </a:p>
          <a:p>
            <a:pPr algn="l">
              <a:spcAft>
                <a:spcPts val="300"/>
              </a:spcAft>
            </a:pPr>
            <a:r>
              <a:rPr sz="1200" b="0">
                <a:solidFill>
                  <a:srgbClr val="5B6372"/>
                </a:solidFill>
                <a:latin typeface="Arial"/>
              </a:rPr>
              <a:t>Content on channels the brand fully controls — website, email, app.</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
        <p:nvSpPr>
          <p:cNvPr id="30" name="TextBox 29"/>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PESO Model (Paid, Earned, Shared, Owned), Gini Dietrich / Spin Sucks</a:t>
            </a:r>
          </a:p>
        </p:txBody>
      </p:sp>
    </p:spTree>
  </p:cSld>
  <p:clrMapOvr>
    <a:masterClrMapping/>
  </p:clrMapOvr>
  <p:transition spd="med">
    <p:fade/>
  </p:transition>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LU3 · T4 · REAL-WORLD EXAMPLE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Decades of Brand Investment, Not a Single Big Campaign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206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28016" cy="42062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97280" y="2103120"/>
            <a:ext cx="2834640"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103120"/>
            <a:ext cx="2834640" cy="502920"/>
          </a:xfrm>
          <a:prstGeom prst="rect">
            <a:avLst/>
          </a:prstGeom>
          <a:noFill/>
        </p:spPr>
        <p:txBody>
          <a:bodyPr wrap="square" anchor="ctr">
            <a:spAutoFit/>
          </a:bodyPr>
          <a:lstStyle/>
          <a:p>
            <a:pPr algn="ctr">
              <a:spcAft>
                <a:spcPts val="400"/>
              </a:spcAft>
            </a:pPr>
            <a:r>
              <a:rPr sz="1300" b="1">
                <a:solidFill>
                  <a:srgbClr val="FFFFFF"/>
                </a:solidFill>
                <a:latin typeface="Arial"/>
              </a:rPr>
              <a:t>REAL-WORLD EXAMPLE</a:t>
            </a:r>
          </a:p>
        </p:txBody>
      </p:sp>
      <p:sp>
        <p:nvSpPr>
          <p:cNvPr id="11" name="TextBox 10"/>
          <p:cNvSpPr txBox="1"/>
          <p:nvPr/>
        </p:nvSpPr>
        <p:spPr>
          <a:xfrm>
            <a:off x="1097280" y="2880360"/>
            <a:ext cx="9966960" cy="640080"/>
          </a:xfrm>
          <a:prstGeom prst="rect">
            <a:avLst/>
          </a:prstGeom>
          <a:noFill/>
        </p:spPr>
        <p:txBody>
          <a:bodyPr wrap="square" anchor="t">
            <a:spAutoFit/>
          </a:bodyPr>
          <a:lstStyle/>
          <a:p>
            <a:pPr algn="l">
              <a:spcAft>
                <a:spcPts val="400"/>
              </a:spcAft>
            </a:pPr>
            <a:r>
              <a:rPr sz="2600" b="1">
                <a:solidFill>
                  <a:srgbClr val="161B26"/>
                </a:solidFill>
                <a:latin typeface="Arial"/>
              </a:rPr>
              <a:t>Coca-Cola</a:t>
            </a:r>
          </a:p>
        </p:txBody>
      </p:sp>
      <p:sp>
        <p:nvSpPr>
          <p:cNvPr id="12" name="TextBox 11"/>
          <p:cNvSpPr txBox="1"/>
          <p:nvPr/>
        </p:nvSpPr>
        <p:spPr>
          <a:xfrm>
            <a:off x="1097280" y="3611880"/>
            <a:ext cx="9966960" cy="2194560"/>
          </a:xfrm>
          <a:prstGeom prst="rect">
            <a:avLst/>
          </a:prstGeom>
          <a:noFill/>
        </p:spPr>
        <p:txBody>
          <a:bodyPr wrap="square" anchor="t">
            <a:spAutoFit/>
          </a:bodyPr>
          <a:lstStyle/>
          <a:p>
            <a:pPr algn="l">
              <a:spcAft>
                <a:spcPts val="400"/>
              </a:spcAft>
            </a:pPr>
            <a:r>
              <a:rPr sz="1600" b="0">
                <a:solidFill>
                  <a:srgbClr val="5B6372"/>
                </a:solidFill>
                <a:latin typeface="Arial"/>
              </a:rPr>
              <a:t>Coca-Cola's dominance isn't one PR win — it's disciplined investment across earned press, owned channels and paid placement, sustained for decades rather than spent in a single burst. The same discipline should shape Nimbus's PESO split: a durable allocation, not a one-off relaunch spend.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p:transition spd="med">
    <p:fade/>
  </p:transition>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T4 · ACTIVITY 12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PR Campaign Budget Planning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CASE STUDY</a:t>
            </a:r>
          </a:p>
        </p:txBody>
      </p:sp>
      <p:sp>
        <p:nvSpPr>
          <p:cNvPr id="9" name="Rectangle 8"/>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2" name="TextBox 11"/>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The CEO has approved a bounded PR budget for the 5th-anniversary relaunch — but not a blank cheque. Before a single dollar is spent, the CEO wants to see it allocated across earned, owned and paid channels in a way that visibly matches Nimbus's brand positioning, not just whichever channel the Marketing team finds easiest to book.</a:t>
            </a:r>
          </a:p>
          <a:p>
            <a:pPr algn="l">
              <a:spcAft>
                <a:spcPts val="800"/>
              </a:spcAft>
            </a:pPr>
            <a:r>
              <a:rPr sz="1450" b="0">
                <a:solidFill>
                  <a:srgbClr val="161B26"/>
                </a:solidFill>
                <a:latin typeface="Arial"/>
              </a:rPr>
              <a:t>The Board has already flagged a second concern for after the relaunch: they want ongoing proof the campaign improved Nimbus's reputation, not just its impression count — so today's budget plan needs KPIs the Board can actually hold the team to.</a:t>
            </a:r>
          </a:p>
          <a:p>
            <a:pPr algn="l">
              <a:spcAft>
                <a:spcPts val="800"/>
              </a:spcAft>
            </a:pPr>
            <a:r>
              <a:rPr sz="1450" b="0">
                <a:solidFill>
                  <a:srgbClr val="161B26"/>
                </a:solidFill>
                <a:latin typeface="Arial"/>
              </a:rPr>
              <a:t>Your table has been asked to build the PR budget proposal the CEO will sign off on.</a:t>
            </a:r>
          </a:p>
        </p:txBody>
      </p:sp>
      <p:sp>
        <p:nvSpPr>
          <p:cNvPr id="13" name="Rectangle 12"/>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 PR budget proposal with channel allocation and success metrics</a:t>
            </a:r>
          </a:p>
        </p:txBody>
      </p:sp>
      <p:sp>
        <p:nvSpPr>
          <p:cNvPr id="15" name="TextBox 14"/>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25 minutes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p:transition spd="med">
    <p:fade/>
  </p:transition>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T4 · ACTIVITY 12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PR Campaign Budget Planning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8" name="Rectangle 7"/>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2" name="TextBox 11"/>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Using the PESO model, how should the budget split across paid, earned, shared and owned channels given Nimbus's brand positioning and the perception gap it's trying to close?</a:t>
            </a:r>
          </a:p>
        </p:txBody>
      </p:sp>
      <p:sp>
        <p:nvSpPr>
          <p:cNvPr id="13" name="Rectangle 12"/>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7" name="TextBox 16"/>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channel deserves the largest share of spend for this specific relaunch — and which would you deliberately underfund, and why?</a:t>
            </a:r>
          </a:p>
        </p:txBody>
      </p:sp>
      <p:sp>
        <p:nvSpPr>
          <p:cNvPr id="18" name="Rectangle 17"/>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percentage, if any, should be held back as a reserve fund, and what would trigger Nimbus to actually spend it?</a:t>
            </a:r>
          </a:p>
        </p:txBody>
      </p:sp>
      <p:sp>
        <p:nvSpPr>
          <p:cNvPr id="23" name="Rectangle 22"/>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7" name="TextBox 26"/>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KPIs would let the Board judge reputation improvement, not just reach or impressions?</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141</a:t>
            </a:r>
          </a:p>
        </p:txBody>
      </p:sp>
    </p:spTree>
  </p:cSld>
  <p:clrMapOvr>
    <a:masterClrMapping/>
  </p:clrMapOvr>
  <p:transition spd="med">
    <p:fade/>
  </p:transition>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LU3 · T4 · ACTIVITY 12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PR Campaign Budget Planning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10" name="TextBox 9"/>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Did your allocation favour the channel that's easiest to execute, or the one the brand positioning actually calls for?</a:t>
            </a:r>
          </a:p>
          <a:p>
            <a:pPr>
              <a:spcAft>
                <a:spcPts val="900"/>
              </a:spcAft>
            </a:pPr>
            <a:r>
              <a:rPr sz="1450" b="0">
                <a:solidFill>
                  <a:srgbClr val="161B26"/>
                </a:solidFill>
                <a:latin typeface="Arial"/>
              </a:rPr>
              <a:t>•  How did you decide the size of the reserve fund — was it a rule of thumb or tied to a specific risk Nimbus is facing?</a:t>
            </a:r>
          </a:p>
          <a:p>
            <a:pPr>
              <a:spcAft>
                <a:spcPts val="900"/>
              </a:spcAft>
            </a:pPr>
            <a:r>
              <a:rPr sz="1450" b="0">
                <a:solidFill>
                  <a:srgbClr val="161B26"/>
                </a:solidFill>
                <a:latin typeface="Arial"/>
              </a:rPr>
              <a:t>•  If the Board rejected your KPI list as "just vanity metrics," what would you replace them with?</a:t>
            </a:r>
          </a:p>
        </p:txBody>
      </p:sp>
      <p:sp>
        <p:nvSpPr>
          <p:cNvPr id="11" name="Rectangle 10"/>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3" name="TextBox 12"/>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Every group can show a PR budget proposal with a percentage split across paid, earned, shared and owned channels, a stated reserve fund, and a KPI list the Board could use to judge reputation impact rather than reach alone.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142</a:t>
            </a:r>
          </a:p>
        </p:txBody>
      </p:sp>
    </p:spTree>
  </p:cSld>
  <p:clrMapOvr>
    <a:masterClrMapping/>
  </p:clrMapOvr>
  <p:transition spd="med">
    <p:fade/>
  </p:transition>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LU3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Recap — Branding in Marketing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Brand Audit Workshop</a:t>
            </a:r>
          </a:p>
          <a:p>
            <a:pPr algn="l">
              <a:spcAft>
                <a:spcPts val="300"/>
              </a:spcAft>
            </a:pPr>
            <a:r>
              <a:rPr sz="1200" b="0">
                <a:solidFill>
                  <a:srgbClr val="5B6372"/>
                </a:solidFill>
                <a:latin typeface="Arial"/>
              </a:rPr>
              <a:t>You can now: Explain the basics of branding.</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Brand-Marketing Audit Exercise</a:t>
            </a:r>
          </a:p>
          <a:p>
            <a:pPr algn="l">
              <a:spcAft>
                <a:spcPts val="300"/>
              </a:spcAft>
            </a:pPr>
            <a:r>
              <a:rPr sz="1200" b="0">
                <a:solidFill>
                  <a:srgbClr val="5B6372"/>
                </a:solidFill>
                <a:latin typeface="Arial"/>
              </a:rPr>
              <a:t>You can now: Explain the role of branding in marketing.</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Brand Activation Planning Workshop</a:t>
            </a:r>
          </a:p>
          <a:p>
            <a:pPr algn="l">
              <a:spcAft>
                <a:spcPts val="300"/>
              </a:spcAft>
            </a:pPr>
            <a:r>
              <a:rPr sz="1200" b="0">
                <a:solidFill>
                  <a:srgbClr val="5B6372"/>
                </a:solidFill>
                <a:latin typeface="Arial"/>
              </a:rPr>
              <a:t>You can now: Execute branding campaigns, events and activities to increase brand awareness.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PR Campaign Budget Planning</a:t>
            </a:r>
          </a:p>
          <a:p>
            <a:pPr algn="l">
              <a:spcAft>
                <a:spcPts val="300"/>
              </a:spcAft>
            </a:pPr>
            <a:r>
              <a:rPr sz="1200" b="0">
                <a:solidFill>
                  <a:srgbClr val="5B6372"/>
                </a:solidFill>
                <a:latin typeface="Arial"/>
              </a:rPr>
              <a:t>You can now: Execute public-relations campaigns in alignment to brand positioning strategies, operational plans and budget.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143</a:t>
            </a:r>
          </a:p>
        </p:txBody>
      </p:sp>
    </p:spTree>
  </p:cSld>
  <p:clrMapOvr>
    <a:masterClrMapping/>
  </p:clrMapOvr>
  <p:transition spd="med">
    <p:fade/>
  </p:transition>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LU3 · WHY IT MATTERS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 campaign can raise awareness in a week. A brand earns trust over years — spend the budget like you know the difference.</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 Closing thought, LU3: Branding in Marketing</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144</a:t>
            </a:r>
          </a:p>
        </p:txBody>
      </p:sp>
    </p:spTree>
  </p:cSld>
  <p:clrMapOvr>
    <a:masterClrMapping/>
  </p:clrMapOvr>
  <p:transition spd="med">
    <p:fade/>
  </p:transition>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LU4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Branding Effectiveness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Reputation Metrics · Success Indicators · PR Tactics · KPI Monitoring · Continuous Improvement</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LU4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145</a:t>
            </a:r>
          </a:p>
        </p:txBody>
      </p:sp>
    </p:spTree>
  </p:cSld>
  <p:clrMapOvr>
    <a:masterClrMapping/>
  </p:clrMapOvr>
  <p:transition spd="med">
    <p:fade/>
  </p:transition>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LU4 · KEY CONCEPTS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Key Concepts — Branding Effectiveness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Reputation is measured through social metrics, digital metrics (traffic, mentions) and business KPIs (NPS, satisfaction) across every platform the organisation touches.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Successful branding shows up in awareness, customer loyalty, financial impact and trust metrics — tracked consistently over time, not measured once.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Public-relations tactics — media relations, community outreach, crisis management and digital engagement — extend the brand's message beyond paid channels.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Monitoring the brand against SMART KPIs and acting on the gaps turns brand management into a continuous-improvement cycle rather than a one-off campaign.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146</a:t>
            </a:r>
          </a:p>
        </p:txBody>
      </p:sp>
    </p:spTree>
  </p:cSld>
  <p:clrMapOvr>
    <a:masterClrMapping/>
  </p:clrMapOvr>
  <p:transition spd="med">
    <p:fade/>
  </p:transition>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LU4 · THE NEXT FRONTIER: AGENTIC AI</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agent is becoming the brand.”</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Nine in ten US marketing agencies now use generative AI, and half use agentic AI for execution. AI is no longer just generating content — it is deciding, spending, personalising and interacting directly with customers.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147</a:t>
            </a:r>
          </a:p>
        </p:txBody>
      </p:sp>
    </p:spTree>
  </p:cSld>
  <p:clrMapOvr>
    <a:masterClrMapping/>
  </p:clrMapOvr>
  <p:transition spd="med">
    <p:fade/>
  </p:transition>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LU4 · AI BRAND RISK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Risk Vector: Authority Concentration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40280"/>
            <a:ext cx="245287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74495" y="2551176"/>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74495"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23544" y="3566160"/>
            <a:ext cx="2160270" cy="1280160"/>
          </a:xfrm>
          <a:prstGeom prst="rect">
            <a:avLst/>
          </a:prstGeom>
          <a:noFill/>
        </p:spPr>
        <p:txBody>
          <a:bodyPr wrap="square" anchor="t">
            <a:spAutoFit/>
          </a:bodyPr>
          <a:lstStyle/>
          <a:p>
            <a:pPr algn="ctr">
              <a:spcAft>
                <a:spcPts val="400"/>
              </a:spcAft>
            </a:pPr>
            <a:r>
              <a:rPr sz="1300" b="0">
                <a:solidFill>
                  <a:srgbClr val="161B26"/>
                </a:solidFill>
                <a:latin typeface="Arial"/>
              </a:rPr>
              <a:t>Content agent — permission to draft copy + access the CMS</a:t>
            </a:r>
          </a:p>
        </p:txBody>
      </p:sp>
      <p:sp>
        <p:nvSpPr>
          <p:cNvPr id="12" name="TextBox 11"/>
          <p:cNvSpPr txBox="1"/>
          <p:nvPr/>
        </p:nvSpPr>
        <p:spPr>
          <a:xfrm>
            <a:off x="3211830" y="3337560"/>
            <a:ext cx="310896"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3" name="Rectangle 12"/>
          <p:cNvSpPr/>
          <p:nvPr/>
        </p:nvSpPr>
        <p:spPr>
          <a:xfrm>
            <a:off x="3504438"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04438" y="2240280"/>
            <a:ext cx="245287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401693" y="2551176"/>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01693"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650742" y="3566160"/>
            <a:ext cx="2160270" cy="1280160"/>
          </a:xfrm>
          <a:prstGeom prst="rect">
            <a:avLst/>
          </a:prstGeom>
          <a:noFill/>
        </p:spPr>
        <p:txBody>
          <a:bodyPr wrap="square" anchor="t">
            <a:spAutoFit/>
          </a:bodyPr>
          <a:lstStyle/>
          <a:p>
            <a:pPr algn="ctr">
              <a:spcAft>
                <a:spcPts val="400"/>
              </a:spcAft>
            </a:pPr>
            <a:r>
              <a:rPr sz="1300" b="0">
                <a:solidFill>
                  <a:srgbClr val="161B26"/>
                </a:solidFill>
                <a:latin typeface="Arial"/>
              </a:rPr>
              <a:t>Media agent — permission to optimise spend + finance workflows</a:t>
            </a:r>
          </a:p>
        </p:txBody>
      </p:sp>
      <p:sp>
        <p:nvSpPr>
          <p:cNvPr id="18" name="TextBox 17"/>
          <p:cNvSpPr txBox="1"/>
          <p:nvPr/>
        </p:nvSpPr>
        <p:spPr>
          <a:xfrm>
            <a:off x="5939028" y="3337560"/>
            <a:ext cx="310896"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9" name="Rectangle 18"/>
          <p:cNvSpPr/>
          <p:nvPr/>
        </p:nvSpPr>
        <p:spPr>
          <a:xfrm>
            <a:off x="6231636"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2240280"/>
            <a:ext cx="245287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28891" y="2551176"/>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28891"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3" name="TextBox 22"/>
          <p:cNvSpPr txBox="1"/>
          <p:nvPr/>
        </p:nvSpPr>
        <p:spPr>
          <a:xfrm>
            <a:off x="6377940" y="3566160"/>
            <a:ext cx="2160270" cy="1280160"/>
          </a:xfrm>
          <a:prstGeom prst="rect">
            <a:avLst/>
          </a:prstGeom>
          <a:noFill/>
        </p:spPr>
        <p:txBody>
          <a:bodyPr wrap="square" anchor="t">
            <a:spAutoFit/>
          </a:bodyPr>
          <a:lstStyle/>
          <a:p>
            <a:pPr algn="ctr">
              <a:spcAft>
                <a:spcPts val="400"/>
              </a:spcAft>
            </a:pPr>
            <a:r>
              <a:rPr sz="1300" b="0">
                <a:solidFill>
                  <a:srgbClr val="161B26"/>
                </a:solidFill>
                <a:latin typeface="Arial"/>
              </a:rPr>
              <a:t>Personalisation engine — tailors experiences + sensitive data</a:t>
            </a:r>
          </a:p>
        </p:txBody>
      </p:sp>
      <p:sp>
        <p:nvSpPr>
          <p:cNvPr id="24" name="TextBox 23"/>
          <p:cNvSpPr txBox="1"/>
          <p:nvPr/>
        </p:nvSpPr>
        <p:spPr>
          <a:xfrm>
            <a:off x="8666226" y="3337560"/>
            <a:ext cx="310896"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5" name="Rectangle 24"/>
          <p:cNvSpPr/>
          <p:nvPr/>
        </p:nvSpPr>
        <p:spPr>
          <a:xfrm>
            <a:off x="8958834"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58834" y="2240280"/>
            <a:ext cx="245287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56089" y="2551176"/>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56089"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29" name="TextBox 28"/>
          <p:cNvSpPr txBox="1"/>
          <p:nvPr/>
        </p:nvSpPr>
        <p:spPr>
          <a:xfrm>
            <a:off x="9105138" y="3566160"/>
            <a:ext cx="2160270" cy="1280160"/>
          </a:xfrm>
          <a:prstGeom prst="rect">
            <a:avLst/>
          </a:prstGeom>
          <a:noFill/>
        </p:spPr>
        <p:txBody>
          <a:bodyPr wrap="square" anchor="t">
            <a:spAutoFit/>
          </a:bodyPr>
          <a:lstStyle/>
          <a:p>
            <a:pPr algn="ctr">
              <a:spcAft>
                <a:spcPts val="400"/>
              </a:spcAft>
            </a:pPr>
            <a:r>
              <a:rPr sz="1300" b="0">
                <a:solidFill>
                  <a:srgbClr val="161B26"/>
                </a:solidFill>
                <a:latin typeface="Arial"/>
              </a:rPr>
              <a:t>Concentration node — combined permissions create high risk</a:t>
            </a:r>
          </a:p>
        </p:txBody>
      </p:sp>
      <p:sp>
        <p:nvSpPr>
          <p:cNvPr id="30" name="Rectangle 29"/>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257800"/>
            <a:ext cx="91440" cy="8229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In an agentic enterprise, risk moves through authority pathways, not people. Human approvals cannot scale at machine speed to monitor these intersections.</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148</a:t>
            </a:r>
          </a:p>
        </p:txBody>
      </p:sp>
    </p:spTree>
  </p:cSld>
  <p:clrMapOvr>
    <a:masterClrMapping/>
  </p:clrMapOvr>
  <p:transition spd="med">
    <p:fade/>
  </p:transition>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LU4 · GOVERNANCE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Brand Authority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1775"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1775"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23544" y="3566160"/>
            <a:ext cx="1614830" cy="1280160"/>
          </a:xfrm>
          <a:prstGeom prst="rect">
            <a:avLst/>
          </a:prstGeom>
          <a:noFill/>
        </p:spPr>
        <p:txBody>
          <a:bodyPr wrap="square" anchor="t">
            <a:spAutoFit/>
          </a:bodyPr>
          <a:lstStyle/>
          <a:p>
            <a:pPr algn="ctr">
              <a:spcAft>
                <a:spcPts val="400"/>
              </a:spcAft>
            </a:pPr>
            <a:r>
              <a:rPr sz="1300" b="0">
                <a:solidFill>
                  <a:srgbClr val="161B26"/>
                </a:solidFill>
                <a:latin typeface="Arial"/>
              </a:rPr>
              <a:t>Identity — which human and non-human identities can act on behalf of the brand?</a:t>
            </a:r>
          </a:p>
        </p:txBody>
      </p:sp>
      <p:sp>
        <p:nvSpPr>
          <p:cNvPr id="12" name="TextBox 11"/>
          <p:cNvSpPr txBox="1"/>
          <p:nvPr/>
        </p:nvSpPr>
        <p:spPr>
          <a:xfrm>
            <a:off x="2666390" y="3337560"/>
            <a:ext cx="310896"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83533"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83533"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105302" y="3566160"/>
            <a:ext cx="1614830" cy="1280160"/>
          </a:xfrm>
          <a:prstGeom prst="rect">
            <a:avLst/>
          </a:prstGeom>
          <a:noFill/>
        </p:spPr>
        <p:txBody>
          <a:bodyPr wrap="square" anchor="t">
            <a:spAutoFit/>
          </a:bodyPr>
          <a:lstStyle/>
          <a:p>
            <a:pPr algn="ctr">
              <a:spcAft>
                <a:spcPts val="400"/>
              </a:spcAft>
            </a:pPr>
            <a:r>
              <a:rPr sz="1300" b="0">
                <a:solidFill>
                  <a:srgbClr val="161B26"/>
                </a:solidFill>
                <a:latin typeface="Arial"/>
              </a:rPr>
              <a:t>Access — what systems, data and workflows are they permitted to touch?</a:t>
            </a:r>
          </a:p>
        </p:txBody>
      </p:sp>
      <p:sp>
        <p:nvSpPr>
          <p:cNvPr id="18" name="TextBox 17"/>
          <p:cNvSpPr txBox="1"/>
          <p:nvPr/>
        </p:nvSpPr>
        <p:spPr>
          <a:xfrm>
            <a:off x="4848148" y="3337560"/>
            <a:ext cx="310896"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65291"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65291"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3" name="TextBox 22"/>
          <p:cNvSpPr txBox="1"/>
          <p:nvPr/>
        </p:nvSpPr>
        <p:spPr>
          <a:xfrm>
            <a:off x="5287060" y="3566160"/>
            <a:ext cx="1614830" cy="1280160"/>
          </a:xfrm>
          <a:prstGeom prst="rect">
            <a:avLst/>
          </a:prstGeom>
          <a:noFill/>
        </p:spPr>
        <p:txBody>
          <a:bodyPr wrap="square" anchor="t">
            <a:spAutoFit/>
          </a:bodyPr>
          <a:lstStyle/>
          <a:p>
            <a:pPr algn="ctr">
              <a:spcAft>
                <a:spcPts val="400"/>
              </a:spcAft>
            </a:pPr>
            <a:r>
              <a:rPr sz="1300" b="0">
                <a:solidFill>
                  <a:srgbClr val="161B26"/>
                </a:solidFill>
                <a:latin typeface="Arial"/>
              </a:rPr>
              <a:t>Inheritance — what authority do they hold after delegation and integrations?</a:t>
            </a:r>
          </a:p>
        </p:txBody>
      </p:sp>
      <p:sp>
        <p:nvSpPr>
          <p:cNvPr id="24" name="TextBox 23"/>
          <p:cNvSpPr txBox="1"/>
          <p:nvPr/>
        </p:nvSpPr>
        <p:spPr>
          <a:xfrm>
            <a:off x="7029906" y="3337560"/>
            <a:ext cx="310896"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22514"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47049"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7049"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29" name="TextBox 28"/>
          <p:cNvSpPr txBox="1"/>
          <p:nvPr/>
        </p:nvSpPr>
        <p:spPr>
          <a:xfrm>
            <a:off x="7468818" y="3566160"/>
            <a:ext cx="1614830" cy="1280160"/>
          </a:xfrm>
          <a:prstGeom prst="rect">
            <a:avLst/>
          </a:prstGeom>
          <a:noFill/>
        </p:spPr>
        <p:txBody>
          <a:bodyPr wrap="square" anchor="t">
            <a:spAutoFit/>
          </a:bodyPr>
          <a:lstStyle/>
          <a:p>
            <a:pPr algn="ctr">
              <a:spcAft>
                <a:spcPts val="400"/>
              </a:spcAft>
            </a:pPr>
            <a:r>
              <a:rPr sz="1300" b="0">
                <a:solidFill>
                  <a:srgbClr val="161B26"/>
                </a:solidFill>
                <a:latin typeface="Arial"/>
              </a:rPr>
              <a:t>Concentration — where does authority unintentionally combine into high risk?</a:t>
            </a:r>
          </a:p>
        </p:txBody>
      </p:sp>
      <p:sp>
        <p:nvSpPr>
          <p:cNvPr id="30" name="TextBox 29"/>
          <p:cNvSpPr txBox="1"/>
          <p:nvPr/>
        </p:nvSpPr>
        <p:spPr>
          <a:xfrm>
            <a:off x="9211664" y="3337560"/>
            <a:ext cx="310896"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04272"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128807"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128807"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5" name="TextBox 34"/>
          <p:cNvSpPr txBox="1"/>
          <p:nvPr/>
        </p:nvSpPr>
        <p:spPr>
          <a:xfrm>
            <a:off x="9650576" y="3566160"/>
            <a:ext cx="1614830" cy="1280160"/>
          </a:xfrm>
          <a:prstGeom prst="rect">
            <a:avLst/>
          </a:prstGeom>
          <a:noFill/>
        </p:spPr>
        <p:txBody>
          <a:bodyPr wrap="square" anchor="t">
            <a:spAutoFit/>
          </a:bodyPr>
          <a:lstStyle/>
          <a:p>
            <a:pPr algn="ctr">
              <a:spcAft>
                <a:spcPts val="400"/>
              </a:spcAft>
            </a:pPr>
            <a:r>
              <a:rPr sz="1300" b="0">
                <a:solidFill>
                  <a:srgbClr val="161B26"/>
                </a:solidFill>
                <a:latin typeface="Arial"/>
              </a:rPr>
              <a:t>Revocation — how quickly can authority be severed if boundaries are breached?</a:t>
            </a:r>
          </a:p>
        </p:txBody>
      </p:sp>
      <p:sp>
        <p:nvSpPr>
          <p:cNvPr id="36" name="Rectangle 35"/>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77240" y="5257800"/>
            <a:ext cx="91440" cy="8229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Enterprise Authority Assurance replaces the editorial calendar.</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149</a:t>
            </a:r>
          </a:p>
        </p:txBody>
      </p:sp>
    </p:spTree>
  </p:cSld>
  <p:clrMapOvr>
    <a:masterClrMapping/>
  </p:clrMapOvr>
  <p:transition spd="med">
    <p:fade/>
  </p:transition>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LU4 · PUTTING IT TOGETHER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Architecture of Modern Brand Trust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The customer at the centre — anchored by emotion, navigated through journey mapping, scaled safely within strict AI authority boundaries.</a:t>
            </a:r>
          </a:p>
        </p:txBody>
      </p:sp>
      <p:pic>
        <p:nvPicPr>
          <p:cNvPr id="8" name="Picture 7" descr="bt-architecture.png"/>
          <p:cNvPicPr>
            <a:picLocks noChangeAspect="1"/>
          </p:cNvPicPr>
          <p:nvPr/>
        </p:nvPicPr>
        <p:blipFill>
          <a:blip r:embed="rId2"/>
          <a:stretch>
            <a:fillRect/>
          </a:stretch>
        </p:blipFill>
        <p:spPr>
          <a:xfrm>
            <a:off x="2368715" y="2103120"/>
            <a:ext cx="7454265" cy="416052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150</a:t>
            </a:r>
          </a:p>
        </p:txBody>
      </p:sp>
    </p:spTree>
  </p:cSld>
  <p:clrMapOvr>
    <a:masterClrMapping/>
  </p:clrMapOvr>
  <p:transition spd="med">
    <p:fade/>
  </p:transition>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LU4 · FROM INSIGHT TO ACTION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Executive Playbook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2425446" cy="822960"/>
          </a:xfrm>
          <a:prstGeom prst="rect">
            <a:avLst/>
          </a:prstGeom>
          <a:noFill/>
        </p:spPr>
        <p:txBody>
          <a:bodyPr wrap="square" anchor="t">
            <a:spAutoFit/>
          </a:bodyPr>
          <a:lstStyle/>
          <a:p>
            <a:pPr algn="l">
              <a:spcAft>
                <a:spcPts val="400"/>
              </a:spcAft>
            </a:pPr>
            <a:r>
              <a:rPr sz="4400" b="1">
                <a:solidFill>
                  <a:srgbClr val="D7DFEA"/>
                </a:solidFill>
                <a:latin typeface="Arial"/>
              </a:rPr>
              <a:t>01</a:t>
            </a:r>
          </a:p>
        </p:txBody>
      </p:sp>
      <p:sp>
        <p:nvSpPr>
          <p:cNvPr id="8" name="TextBox 7"/>
          <p:cNvSpPr txBox="1"/>
          <p:nvPr/>
        </p:nvSpPr>
        <p:spPr>
          <a:xfrm>
            <a:off x="777240" y="2697480"/>
            <a:ext cx="2425446" cy="685800"/>
          </a:xfrm>
          <a:prstGeom prst="rect">
            <a:avLst/>
          </a:prstGeom>
          <a:noFill/>
        </p:spPr>
        <p:txBody>
          <a:bodyPr wrap="square" anchor="t">
            <a:spAutoFit/>
          </a:bodyPr>
          <a:lstStyle/>
          <a:p>
            <a:pPr algn="l">
              <a:spcAft>
                <a:spcPts val="400"/>
              </a:spcAft>
            </a:pPr>
            <a:r>
              <a:rPr sz="1600" b="1">
                <a:solidFill>
                  <a:srgbClr val="1F6FEB"/>
                </a:solidFill>
                <a:latin typeface="Arial"/>
              </a:rPr>
              <a:t>Shift the Metric</a:t>
            </a:r>
          </a:p>
        </p:txBody>
      </p:sp>
      <p:sp>
        <p:nvSpPr>
          <p:cNvPr id="9" name="TextBox 8"/>
          <p:cNvSpPr txBox="1"/>
          <p:nvPr/>
        </p:nvSpPr>
        <p:spPr>
          <a:xfrm>
            <a:off x="777240" y="3401568"/>
            <a:ext cx="2425446" cy="1737360"/>
          </a:xfrm>
          <a:prstGeom prst="rect">
            <a:avLst/>
          </a:prstGeom>
          <a:noFill/>
        </p:spPr>
        <p:txBody>
          <a:bodyPr wrap="square" anchor="t">
            <a:spAutoFit/>
          </a:bodyPr>
          <a:lstStyle/>
          <a:p>
            <a:pPr algn="l">
              <a:spcAft>
                <a:spcPts val="400"/>
              </a:spcAft>
            </a:pPr>
            <a:r>
              <a:rPr sz="1200" b="0">
                <a:solidFill>
                  <a:srgbClr val="161B26"/>
                </a:solidFill>
                <a:latin typeface="Arial"/>
              </a:rPr>
              <a:t>Move away from pure acquisition costs. Restructure KPIs around lifetime value, Net Promoter Scores and journey retention.</a:t>
            </a:r>
          </a:p>
        </p:txBody>
      </p:sp>
      <p:sp>
        <p:nvSpPr>
          <p:cNvPr id="10" name="TextBox 9"/>
          <p:cNvSpPr txBox="1"/>
          <p:nvPr/>
        </p:nvSpPr>
        <p:spPr>
          <a:xfrm>
            <a:off x="3513582" y="1828800"/>
            <a:ext cx="2425446" cy="822960"/>
          </a:xfrm>
          <a:prstGeom prst="rect">
            <a:avLst/>
          </a:prstGeom>
          <a:noFill/>
        </p:spPr>
        <p:txBody>
          <a:bodyPr wrap="square" anchor="t">
            <a:spAutoFit/>
          </a:bodyPr>
          <a:lstStyle/>
          <a:p>
            <a:pPr algn="l">
              <a:spcAft>
                <a:spcPts val="400"/>
              </a:spcAft>
            </a:pPr>
            <a:r>
              <a:rPr sz="4400" b="1">
                <a:solidFill>
                  <a:srgbClr val="D7DFEA"/>
                </a:solidFill>
                <a:latin typeface="Arial"/>
              </a:rPr>
              <a:t>02</a:t>
            </a:r>
          </a:p>
        </p:txBody>
      </p:sp>
      <p:sp>
        <p:nvSpPr>
          <p:cNvPr id="11" name="TextBox 10"/>
          <p:cNvSpPr txBox="1"/>
          <p:nvPr/>
        </p:nvSpPr>
        <p:spPr>
          <a:xfrm>
            <a:off x="3513582" y="2697480"/>
            <a:ext cx="2425446" cy="685800"/>
          </a:xfrm>
          <a:prstGeom prst="rect">
            <a:avLst/>
          </a:prstGeom>
          <a:noFill/>
        </p:spPr>
        <p:txBody>
          <a:bodyPr wrap="square" anchor="t">
            <a:spAutoFit/>
          </a:bodyPr>
          <a:lstStyle/>
          <a:p>
            <a:pPr algn="l">
              <a:spcAft>
                <a:spcPts val="400"/>
              </a:spcAft>
            </a:pPr>
            <a:r>
              <a:rPr sz="1600" b="1">
                <a:solidFill>
                  <a:srgbClr val="10B981"/>
                </a:solidFill>
                <a:latin typeface="Arial"/>
              </a:rPr>
              <a:t>Map the Reality, Not the Theory</a:t>
            </a:r>
          </a:p>
        </p:txBody>
      </p:sp>
      <p:sp>
        <p:nvSpPr>
          <p:cNvPr id="12" name="TextBox 11"/>
          <p:cNvSpPr txBox="1"/>
          <p:nvPr/>
        </p:nvSpPr>
        <p:spPr>
          <a:xfrm>
            <a:off x="3513582" y="3401568"/>
            <a:ext cx="2425446" cy="1737360"/>
          </a:xfrm>
          <a:prstGeom prst="rect">
            <a:avLst/>
          </a:prstGeom>
          <a:noFill/>
        </p:spPr>
        <p:txBody>
          <a:bodyPr wrap="square" anchor="t">
            <a:spAutoFit/>
          </a:bodyPr>
          <a:lstStyle/>
          <a:p>
            <a:pPr algn="l">
              <a:spcAft>
                <a:spcPts val="400"/>
              </a:spcAft>
            </a:pPr>
            <a:r>
              <a:rPr sz="1200" b="0">
                <a:solidFill>
                  <a:srgbClr val="161B26"/>
                </a:solidFill>
                <a:latin typeface="Arial"/>
              </a:rPr>
              <a:t>Audit the 5-stage customer journey loop using actual behavioural data, not internal corporate assumptions. Find the friction.</a:t>
            </a:r>
          </a:p>
        </p:txBody>
      </p:sp>
      <p:sp>
        <p:nvSpPr>
          <p:cNvPr id="13" name="TextBox 12"/>
          <p:cNvSpPr txBox="1"/>
          <p:nvPr/>
        </p:nvSpPr>
        <p:spPr>
          <a:xfrm>
            <a:off x="6249924" y="1828800"/>
            <a:ext cx="2425446" cy="822960"/>
          </a:xfrm>
          <a:prstGeom prst="rect">
            <a:avLst/>
          </a:prstGeom>
          <a:noFill/>
        </p:spPr>
        <p:txBody>
          <a:bodyPr wrap="square" anchor="t">
            <a:spAutoFit/>
          </a:bodyPr>
          <a:lstStyle/>
          <a:p>
            <a:pPr algn="l">
              <a:spcAft>
                <a:spcPts val="400"/>
              </a:spcAft>
            </a:pPr>
            <a:r>
              <a:rPr sz="4400" b="1">
                <a:solidFill>
                  <a:srgbClr val="D7DFEA"/>
                </a:solidFill>
                <a:latin typeface="Arial"/>
              </a:rPr>
              <a:t>03</a:t>
            </a:r>
          </a:p>
        </p:txBody>
      </p:sp>
      <p:sp>
        <p:nvSpPr>
          <p:cNvPr id="14" name="TextBox 13"/>
          <p:cNvSpPr txBox="1"/>
          <p:nvPr/>
        </p:nvSpPr>
        <p:spPr>
          <a:xfrm>
            <a:off x="6249924" y="2697480"/>
            <a:ext cx="2425446" cy="685800"/>
          </a:xfrm>
          <a:prstGeom prst="rect">
            <a:avLst/>
          </a:prstGeom>
          <a:noFill/>
        </p:spPr>
        <p:txBody>
          <a:bodyPr wrap="square" anchor="t">
            <a:spAutoFit/>
          </a:bodyPr>
          <a:lstStyle/>
          <a:p>
            <a:pPr algn="l">
              <a:spcAft>
                <a:spcPts val="400"/>
              </a:spcAft>
            </a:pPr>
            <a:r>
              <a:rPr sz="1600" b="1">
                <a:solidFill>
                  <a:srgbClr val="7C3AED"/>
                </a:solidFill>
                <a:latin typeface="Arial"/>
              </a:rPr>
              <a:t>Close the Say-Do Gap</a:t>
            </a:r>
          </a:p>
        </p:txBody>
      </p:sp>
      <p:sp>
        <p:nvSpPr>
          <p:cNvPr id="15" name="TextBox 14"/>
          <p:cNvSpPr txBox="1"/>
          <p:nvPr/>
        </p:nvSpPr>
        <p:spPr>
          <a:xfrm>
            <a:off x="6249924" y="3401568"/>
            <a:ext cx="2425446" cy="1737360"/>
          </a:xfrm>
          <a:prstGeom prst="rect">
            <a:avLst/>
          </a:prstGeom>
          <a:noFill/>
        </p:spPr>
        <p:txBody>
          <a:bodyPr wrap="square" anchor="t">
            <a:spAutoFit/>
          </a:bodyPr>
          <a:lstStyle/>
          <a:p>
            <a:pPr algn="l">
              <a:spcAft>
                <a:spcPts val="400"/>
              </a:spcAft>
            </a:pPr>
            <a:r>
              <a:rPr sz="1200" b="0">
                <a:solidFill>
                  <a:srgbClr val="161B26"/>
                </a:solidFill>
                <a:latin typeface="Arial"/>
              </a:rPr>
              <a:t>Audit your brand's authenticity. Ensure marketing claims — environmental, social, quality — are rigidly matched by operational reality.</a:t>
            </a:r>
          </a:p>
        </p:txBody>
      </p:sp>
      <p:sp>
        <p:nvSpPr>
          <p:cNvPr id="16" name="TextBox 15"/>
          <p:cNvSpPr txBox="1"/>
          <p:nvPr/>
        </p:nvSpPr>
        <p:spPr>
          <a:xfrm>
            <a:off x="8986266" y="1828800"/>
            <a:ext cx="2425446" cy="822960"/>
          </a:xfrm>
          <a:prstGeom prst="rect">
            <a:avLst/>
          </a:prstGeom>
          <a:noFill/>
        </p:spPr>
        <p:txBody>
          <a:bodyPr wrap="square" anchor="t">
            <a:spAutoFit/>
          </a:bodyPr>
          <a:lstStyle/>
          <a:p>
            <a:pPr algn="l">
              <a:spcAft>
                <a:spcPts val="400"/>
              </a:spcAft>
            </a:pPr>
            <a:r>
              <a:rPr sz="4400" b="1">
                <a:solidFill>
                  <a:srgbClr val="D7DFEA"/>
                </a:solidFill>
                <a:latin typeface="Arial"/>
              </a:rPr>
              <a:t>04</a:t>
            </a:r>
          </a:p>
        </p:txBody>
      </p:sp>
      <p:sp>
        <p:nvSpPr>
          <p:cNvPr id="17" name="TextBox 16"/>
          <p:cNvSpPr txBox="1"/>
          <p:nvPr/>
        </p:nvSpPr>
        <p:spPr>
          <a:xfrm>
            <a:off x="8986266" y="2697480"/>
            <a:ext cx="2425446" cy="685800"/>
          </a:xfrm>
          <a:prstGeom prst="rect">
            <a:avLst/>
          </a:prstGeom>
          <a:noFill/>
        </p:spPr>
        <p:txBody>
          <a:bodyPr wrap="square" anchor="t">
            <a:spAutoFit/>
          </a:bodyPr>
          <a:lstStyle/>
          <a:p>
            <a:pPr algn="l">
              <a:spcAft>
                <a:spcPts val="400"/>
              </a:spcAft>
            </a:pPr>
            <a:r>
              <a:rPr sz="1600" b="1">
                <a:solidFill>
                  <a:srgbClr val="F59E0B"/>
                </a:solidFill>
                <a:latin typeface="Arial"/>
              </a:rPr>
              <a:t>Build the Authority Model</a:t>
            </a:r>
          </a:p>
        </p:txBody>
      </p:sp>
      <p:sp>
        <p:nvSpPr>
          <p:cNvPr id="18" name="TextBox 17"/>
          <p:cNvSpPr txBox="1"/>
          <p:nvPr/>
        </p:nvSpPr>
        <p:spPr>
          <a:xfrm>
            <a:off x="8986266" y="3401568"/>
            <a:ext cx="2425446" cy="1737360"/>
          </a:xfrm>
          <a:prstGeom prst="rect">
            <a:avLst/>
          </a:prstGeom>
          <a:noFill/>
        </p:spPr>
        <p:txBody>
          <a:bodyPr wrap="square" anchor="t">
            <a:spAutoFit/>
          </a:bodyPr>
          <a:lstStyle/>
          <a:p>
            <a:pPr algn="l">
              <a:spcAft>
                <a:spcPts val="400"/>
              </a:spcAft>
            </a:pPr>
            <a:r>
              <a:rPr sz="1200" b="0">
                <a:solidFill>
                  <a:srgbClr val="161B26"/>
                </a:solidFill>
                <a:latin typeface="Arial"/>
              </a:rPr>
              <a:t>Stop relying on human bottlenecks for AI approval. Map identity, access and authority concentration for every agentic system touching your brand.</a:t>
            </a:r>
          </a:p>
        </p:txBody>
      </p:sp>
      <p:sp>
        <p:nvSpPr>
          <p:cNvPr id="19" name="Rectangle 18"/>
          <p:cNvSpPr/>
          <p:nvPr/>
        </p:nvSpPr>
        <p:spPr>
          <a:xfrm>
            <a:off x="777240" y="5440680"/>
            <a:ext cx="10634472" cy="7315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5440680"/>
            <a:ext cx="91440" cy="7315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97280" y="5440680"/>
            <a:ext cx="10058400" cy="731520"/>
          </a:xfrm>
          <a:prstGeom prst="rect">
            <a:avLst/>
          </a:prstGeom>
          <a:noFill/>
        </p:spPr>
        <p:txBody>
          <a:bodyPr wrap="square" anchor="ctr">
            <a:spAutoFit/>
          </a:bodyPr>
          <a:lstStyle/>
          <a:p>
            <a:pPr algn="l">
              <a:spcAft>
                <a:spcPts val="400"/>
              </a:spcAft>
            </a:pPr>
            <a:r>
              <a:rPr sz="1600" b="1">
                <a:solidFill>
                  <a:srgbClr val="161B26"/>
                </a:solidFill>
                <a:latin typeface="Arial"/>
              </a:rPr>
              <a:t>Trust cannot be retrofitted. It must be engineered.</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151</a:t>
            </a:r>
          </a:p>
        </p:txBody>
      </p:sp>
    </p:spTree>
  </p:cSld>
  <p:clrMapOvr>
    <a:masterClrMapping/>
  </p:clrMapOvr>
  <p:transition spd="med">
    <p:fade/>
  </p:transition>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29984"/>
            <a:ext cx="12191695" cy="128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468880"/>
            <a:ext cx="10332720" cy="2011680"/>
          </a:xfrm>
          <a:prstGeom prst="rect">
            <a:avLst/>
          </a:prstGeom>
          <a:noFill/>
        </p:spPr>
        <p:txBody>
          <a:bodyPr wrap="square" anchor="ctr">
            <a:spAutoFit/>
          </a:bodyPr>
          <a:lstStyle/>
          <a:p>
            <a:pPr algn="l">
              <a:spcAft>
                <a:spcPts val="400"/>
              </a:spcAft>
            </a:pPr>
            <a:r>
              <a:rPr sz="2500" b="1">
                <a:solidFill>
                  <a:srgbClr val="161B26"/>
                </a:solidFill>
                <a:latin typeface="Arial"/>
              </a:rPr>
              <a:t>Measures or indicators of organisation's reputation on different platforms</a:t>
            </a:r>
          </a:p>
        </p:txBody>
      </p:sp>
      <p:sp>
        <p:nvSpPr>
          <p:cNvPr id="6" name="TextBox 5"/>
          <p:cNvSpPr txBox="1"/>
          <p:nvPr/>
        </p:nvSpPr>
        <p:spPr>
          <a:xfrm>
            <a:off x="914400" y="1965960"/>
            <a:ext cx="10332720" cy="457200"/>
          </a:xfrm>
          <a:prstGeom prst="rect">
            <a:avLst/>
          </a:prstGeom>
          <a:noFill/>
        </p:spPr>
        <p:txBody>
          <a:bodyPr wrap="square" anchor="t">
            <a:spAutoFit/>
          </a:bodyPr>
          <a:lstStyle/>
          <a:p>
            <a:pPr algn="l">
              <a:spcAft>
                <a:spcPts val="400"/>
              </a:spcAft>
            </a:pPr>
            <a:r>
              <a:rPr sz="1500" b="1">
                <a:solidFill>
                  <a:srgbClr val="10B981"/>
                </a:solidFill>
                <a:latin typeface="Arial"/>
              </a:rPr>
              <a:t>LO4 · LU4 · T1</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152</a:t>
            </a:r>
          </a:p>
        </p:txBody>
      </p:sp>
    </p:spTree>
  </p:cSld>
  <p:clrMapOvr>
    <a:masterClrMapping/>
  </p:clrMapOvr>
  <p:transition spd="med">
    <p:fade/>
  </p:transition>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LU4 · T1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What is Measures or indicators of organisation's reputation on different platforms?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Social Media</a:t>
            </a:r>
          </a:p>
          <a:p>
            <a:pPr algn="l">
              <a:spcAft>
                <a:spcPts val="300"/>
              </a:spcAft>
            </a:pPr>
            <a:r>
              <a:rPr sz="1200" b="0">
                <a:solidFill>
                  <a:srgbClr val="5B6372"/>
                </a:solidFill>
                <a:latin typeface="Arial"/>
              </a:rPr>
              <a:t>Followers, engagement and sentiment tracked live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Digital Metrics</a:t>
            </a:r>
          </a:p>
          <a:p>
            <a:pPr algn="l">
              <a:spcAft>
                <a:spcPts val="300"/>
              </a:spcAft>
            </a:pPr>
            <a:r>
              <a:rPr sz="1200" b="0">
                <a:solidFill>
                  <a:srgbClr val="5B6372"/>
                </a:solidFill>
                <a:latin typeface="Arial"/>
              </a:rPr>
              <a:t>Website traffic, search rankings, brand mentions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Business KPIs</a:t>
            </a:r>
          </a:p>
          <a:p>
            <a:pPr algn="l">
              <a:spcAft>
                <a:spcPts val="300"/>
              </a:spcAft>
            </a:pPr>
            <a:r>
              <a:rPr sz="1200" b="0">
                <a:solidFill>
                  <a:srgbClr val="5B6372"/>
                </a:solidFill>
                <a:latin typeface="Arial"/>
              </a:rPr>
              <a:t>NPS, satisfaction and financial impact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Stakeholder Data</a:t>
            </a:r>
          </a:p>
          <a:p>
            <a:pPr algn="l">
              <a:spcAft>
                <a:spcPts val="300"/>
              </a:spcAft>
            </a:pPr>
            <a:r>
              <a:rPr sz="1200" b="0">
                <a:solidFill>
                  <a:srgbClr val="5B6372"/>
                </a:solidFill>
                <a:latin typeface="Arial"/>
              </a:rPr>
              <a:t>Customer, employee and investor perceptions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153</a:t>
            </a:r>
          </a:p>
        </p:txBody>
      </p:sp>
      <p:sp>
        <p:nvSpPr>
          <p:cNvPr id="30" name="TextBox 29"/>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Meltwater, 2024</a:t>
            </a:r>
          </a:p>
        </p:txBody>
      </p:sp>
    </p:spTree>
  </p:cSld>
  <p:clrMapOvr>
    <a:masterClrMapping/>
  </p:clrMapOvr>
  <p:transition spd="med">
    <p:fade/>
  </p:transition>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LO4 · LU4 · T1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Reputation Monitoring Process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74495"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7449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Set Objectives</a:t>
            </a:r>
          </a:p>
        </p:txBody>
      </p:sp>
      <p:sp>
        <p:nvSpPr>
          <p:cNvPr id="12" name="TextBox 11"/>
          <p:cNvSpPr txBox="1"/>
          <p:nvPr/>
        </p:nvSpPr>
        <p:spPr>
          <a:xfrm>
            <a:off x="905256"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Define clear measurement goals up front.</a:t>
            </a:r>
          </a:p>
        </p:txBody>
      </p:sp>
      <p:sp>
        <p:nvSpPr>
          <p:cNvPr id="13" name="TextBox 12"/>
          <p:cNvSpPr txBox="1"/>
          <p:nvPr/>
        </p:nvSpPr>
        <p:spPr>
          <a:xfrm>
            <a:off x="3211830"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4" name="Rectangle 13"/>
          <p:cNvSpPr/>
          <p:nvPr/>
        </p:nvSpPr>
        <p:spPr>
          <a:xfrm>
            <a:off x="3504438"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504438"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01693"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0169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632454"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Monitor Sources</a:t>
            </a:r>
          </a:p>
        </p:txBody>
      </p:sp>
      <p:sp>
        <p:nvSpPr>
          <p:cNvPr id="19" name="TextBox 18"/>
          <p:cNvSpPr txBox="1"/>
          <p:nvPr/>
        </p:nvSpPr>
        <p:spPr>
          <a:xfrm>
            <a:off x="3632454"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Track multiple data channels, not just one.</a:t>
            </a:r>
          </a:p>
        </p:txBody>
      </p:sp>
      <p:sp>
        <p:nvSpPr>
          <p:cNvPr id="20" name="TextBox 19"/>
          <p:cNvSpPr txBox="1"/>
          <p:nvPr/>
        </p:nvSpPr>
        <p:spPr>
          <a:xfrm>
            <a:off x="5939028"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1" name="Rectangle 20"/>
          <p:cNvSpPr/>
          <p:nvPr/>
        </p:nvSpPr>
        <p:spPr>
          <a:xfrm>
            <a:off x="6231636"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128891"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288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6359652"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Analyse Sentiment</a:t>
            </a:r>
          </a:p>
        </p:txBody>
      </p:sp>
      <p:sp>
        <p:nvSpPr>
          <p:cNvPr id="26" name="TextBox 25"/>
          <p:cNvSpPr txBox="1"/>
          <p:nvPr/>
        </p:nvSpPr>
        <p:spPr>
          <a:xfrm>
            <a:off x="6359652"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Measure the positive/negative tone of the feedback.</a:t>
            </a:r>
          </a:p>
        </p:txBody>
      </p:sp>
      <p:sp>
        <p:nvSpPr>
          <p:cNvPr id="27" name="TextBox 26"/>
          <p:cNvSpPr txBox="1"/>
          <p:nvPr/>
        </p:nvSpPr>
        <p:spPr>
          <a:xfrm>
            <a:off x="8666226"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8" name="Rectangle 27"/>
          <p:cNvSpPr/>
          <p:nvPr/>
        </p:nvSpPr>
        <p:spPr>
          <a:xfrm>
            <a:off x="8958834"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958834"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856089"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5608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9086850"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Track Engagement</a:t>
            </a:r>
          </a:p>
        </p:txBody>
      </p:sp>
      <p:sp>
        <p:nvSpPr>
          <p:cNvPr id="33" name="TextBox 32"/>
          <p:cNvSpPr txBox="1"/>
          <p:nvPr/>
        </p:nvSpPr>
        <p:spPr>
          <a:xfrm>
            <a:off x="9086850"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Monitor how the audience actually interacts.</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154</a:t>
            </a:r>
          </a:p>
        </p:txBody>
      </p:sp>
    </p:spTree>
  </p:cSld>
  <p:clrMapOvr>
    <a:masterClrMapping/>
  </p:clrMapOvr>
  <p:transition spd="med">
    <p:fade/>
  </p:transition>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LU4 · T1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Traditional vs Modern Reputation Monitoring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Traditional</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Modern</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Single Channel — limited platform coverage</a:t>
            </a:r>
          </a:p>
          <a:p>
            <a:pPr>
              <a:spcAft>
                <a:spcPts val="1000"/>
              </a:spcAft>
            </a:pPr>
            <a:r>
              <a:rPr sz="1600" b="0">
                <a:solidFill>
                  <a:srgbClr val="161B26"/>
                </a:solidFill>
                <a:latin typeface="Arial"/>
              </a:rPr>
              <a:t>•  Reactive — response only after issues occur</a:t>
            </a:r>
          </a:p>
          <a:p>
            <a:pPr>
              <a:spcAft>
                <a:spcPts val="1000"/>
              </a:spcAft>
            </a:pPr>
            <a:r>
              <a:rPr sz="1600" b="0">
                <a:solidFill>
                  <a:srgbClr val="161B26"/>
                </a:solidFill>
                <a:latin typeface="Arial"/>
              </a:rPr>
              <a:t>•  Basic Metrics — simple measurement tools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Multi-Platform — comprehensive cross-channel tracking</a:t>
            </a:r>
          </a:p>
          <a:p>
            <a:pPr>
              <a:spcAft>
                <a:spcPts val="1000"/>
              </a:spcAft>
            </a:pPr>
            <a:r>
              <a:rPr sz="1600" b="0">
                <a:solidFill>
                  <a:srgbClr val="161B26"/>
                </a:solidFill>
                <a:latin typeface="Arial"/>
              </a:rPr>
              <a:t>•  Predictive — forecasts stakeholder behaviour patterns</a:t>
            </a:r>
          </a:p>
          <a:p>
            <a:pPr>
              <a:spcAft>
                <a:spcPts val="1000"/>
              </a:spcAft>
            </a:pPr>
            <a:r>
              <a:rPr sz="1600" b="0">
                <a:solidFill>
                  <a:srgbClr val="161B26"/>
                </a:solidFill>
                <a:latin typeface="Arial"/>
              </a:rPr>
              <a:t>•  AI Analytics — real-time sentiment analysis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155</a:t>
            </a:r>
          </a:p>
        </p:txBody>
      </p:sp>
      <p:sp>
        <p:nvSpPr>
          <p:cNvPr id="16" name="TextBox 15"/>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Caliber, 2026</a:t>
            </a:r>
          </a:p>
        </p:txBody>
      </p:sp>
    </p:spTree>
  </p:cSld>
  <p:clrMapOvr>
    <a:masterClrMapping/>
  </p:clrMapOvr>
  <p:transition spd="med">
    <p:fade/>
  </p:transition>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LU4 · T1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Where Nimbus's Reputation Is Actually Built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Customer Actions</a:t>
            </a:r>
          </a:p>
          <a:p>
            <a:pPr algn="l">
              <a:spcAft>
                <a:spcPts val="300"/>
              </a:spcAft>
            </a:pPr>
            <a:r>
              <a:rPr sz="1000" b="0">
                <a:solidFill>
                  <a:srgbClr val="5B6372"/>
                </a:solidFill>
                <a:latin typeface="Arial"/>
              </a:rPr>
              <a:t>Discover: Sees an ad or search result; Browse: Reads reviews, compares options; Purchase: Buys online or in-store; Post-Purchase: Posts a review or complaint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Frontstage</a:t>
            </a:r>
          </a:p>
          <a:p>
            <a:pPr algn="l">
              <a:spcAft>
                <a:spcPts val="300"/>
              </a:spcAft>
            </a:pPr>
            <a:r>
              <a:rPr sz="1000" b="0">
                <a:solidFill>
                  <a:srgbClr val="5B6372"/>
                </a:solidFill>
                <a:latin typeface="Arial"/>
              </a:rPr>
              <a:t>Discover: Social post, search ranking; Browse: Product page, shelf display; Purchase: Checkout, staff interaction; Post-Purchase: Review reply, service chat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Backstage</a:t>
            </a:r>
          </a:p>
          <a:p>
            <a:pPr algn="l">
              <a:spcAft>
                <a:spcPts val="300"/>
              </a:spcAft>
            </a:pPr>
            <a:r>
              <a:rPr sz="1000" b="0">
                <a:solidFill>
                  <a:srgbClr val="5B6372"/>
                </a:solidFill>
                <a:latin typeface="Arial"/>
              </a:rPr>
              <a:t>Discover: Content team tracks mentions; Browse: Merchandising tracks page analytics; Purchase: Fulfilment team processes order; Post-Purchase: Support team logs sentiment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Support</a:t>
            </a:r>
          </a:p>
          <a:p>
            <a:pPr algn="l">
              <a:spcAft>
                <a:spcPts val="300"/>
              </a:spcAft>
            </a:pPr>
            <a:r>
              <a:rPr sz="1000" b="0">
                <a:solidFill>
                  <a:srgbClr val="5B6372"/>
                </a:solidFill>
                <a:latin typeface="Arial"/>
              </a:rPr>
              <a:t>Discover: Monitoring tool flags mentions; Browse: Analytics dashboard tracks traffic; Purchase: CRM records purchase history; Post-Purchase: Alert tool flags negative posts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156</a:t>
            </a:r>
          </a:p>
        </p:txBody>
      </p:sp>
      <p:sp>
        <p:nvSpPr>
          <p:cNvPr id="30" name="TextBox 29"/>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service-blueprint methodology (Shostack, 1984, adapted); Meltwater, 2024</a:t>
            </a:r>
          </a:p>
        </p:txBody>
      </p:sp>
    </p:spTree>
  </p:cSld>
  <p:clrMapOvr>
    <a:masterClrMapping/>
  </p:clrMapOvr>
  <p:transition spd="med">
    <p:fade/>
  </p:transition>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LU4 · T1 · REAL-WORLD EXAMPLE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One Reputation, Measured Across a Dozen Touchpoints at Once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206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28016" cy="42062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97280" y="2103120"/>
            <a:ext cx="2834640"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103120"/>
            <a:ext cx="2834640" cy="502920"/>
          </a:xfrm>
          <a:prstGeom prst="rect">
            <a:avLst/>
          </a:prstGeom>
          <a:noFill/>
        </p:spPr>
        <p:txBody>
          <a:bodyPr wrap="square" anchor="ctr">
            <a:spAutoFit/>
          </a:bodyPr>
          <a:lstStyle/>
          <a:p>
            <a:pPr algn="ctr">
              <a:spcAft>
                <a:spcPts val="400"/>
              </a:spcAft>
            </a:pPr>
            <a:r>
              <a:rPr sz="1300" b="1">
                <a:solidFill>
                  <a:srgbClr val="FFFFFF"/>
                </a:solidFill>
                <a:latin typeface="Arial"/>
              </a:rPr>
              <a:t>REAL-WORLD EXAMPLE</a:t>
            </a:r>
          </a:p>
        </p:txBody>
      </p:sp>
      <p:sp>
        <p:nvSpPr>
          <p:cNvPr id="11" name="TextBox 10"/>
          <p:cNvSpPr txBox="1"/>
          <p:nvPr/>
        </p:nvSpPr>
        <p:spPr>
          <a:xfrm>
            <a:off x="1097280" y="2880360"/>
            <a:ext cx="9966960" cy="640080"/>
          </a:xfrm>
          <a:prstGeom prst="rect">
            <a:avLst/>
          </a:prstGeom>
          <a:noFill/>
        </p:spPr>
        <p:txBody>
          <a:bodyPr wrap="square" anchor="t">
            <a:spAutoFit/>
          </a:bodyPr>
          <a:lstStyle/>
          <a:p>
            <a:pPr algn="l">
              <a:spcAft>
                <a:spcPts val="400"/>
              </a:spcAft>
            </a:pPr>
            <a:r>
              <a:rPr sz="2600" b="1">
                <a:solidFill>
                  <a:srgbClr val="161B26"/>
                </a:solidFill>
                <a:latin typeface="Arial"/>
              </a:rPr>
              <a:t>Grab</a:t>
            </a:r>
          </a:p>
        </p:txBody>
      </p:sp>
      <p:sp>
        <p:nvSpPr>
          <p:cNvPr id="12" name="TextBox 11"/>
          <p:cNvSpPr txBox="1"/>
          <p:nvPr/>
        </p:nvSpPr>
        <p:spPr>
          <a:xfrm>
            <a:off x="1097280" y="3611880"/>
            <a:ext cx="9966960" cy="2194560"/>
          </a:xfrm>
          <a:prstGeom prst="rect">
            <a:avLst/>
          </a:prstGeom>
          <a:noFill/>
        </p:spPr>
        <p:txBody>
          <a:bodyPr wrap="square" anchor="t">
            <a:spAutoFit/>
          </a:bodyPr>
          <a:lstStyle/>
          <a:p>
            <a:pPr algn="l">
              <a:spcAft>
                <a:spcPts val="400"/>
              </a:spcAft>
            </a:pPr>
            <a:r>
              <a:rPr sz="1600" b="0">
                <a:solidFill>
                  <a:srgbClr val="5B6372"/>
                </a:solidFill>
                <a:latin typeface="Arial"/>
              </a:rPr>
              <a:t>Grab's reputation lives in app ratings, driver reviews, social media and news coverage simultaneously — a single bad headline can move all four at once, which is why a platform audit can't treat any one channel in isolation.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157</a:t>
            </a:r>
          </a:p>
        </p:txBody>
      </p:sp>
    </p:spTree>
  </p:cSld>
  <p:clrMapOvr>
    <a:masterClrMapping/>
  </p:clrMapOvr>
  <p:transition spd="med">
    <p:fade/>
  </p:transition>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LO4 · LU4 · T1 · ACTIVITY 13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Platform Reputation Audit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CASE STUDY</a:t>
            </a:r>
          </a:p>
        </p:txBody>
      </p:sp>
      <p:sp>
        <p:nvSpPr>
          <p:cNvPr id="9" name="Rectangle 8"/>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2" name="TextBox 11"/>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Three weeks after Nimbus Wellness's 5th-anniversary relaunch went live, the founder is celebrating a spike in impressions and website traffic. The Board isn't satisfied with raw numbers, though — it wants to know whether the relaunch actually repaired the "doesn't feel personal anymore" perception gap uncovered before the campaign, or just produced a short-term spike in attention.</a:t>
            </a:r>
          </a:p>
          <a:p>
            <a:pPr algn="l">
              <a:spcAft>
                <a:spcPts val="800"/>
              </a:spcAft>
            </a:pPr>
            <a:r>
              <a:rPr sz="1450" b="0">
                <a:solidFill>
                  <a:srgbClr val="161B26"/>
                </a:solidFill>
                <a:latin typeface="Arial"/>
              </a:rPr>
              <a:t>Marketing has a folder of screenshots — likes, shares, a handful of glowing reviews — but no one has compared this to what reputation looked like before the relaunch, or checked the platforms customers actually complain on, like Google reviews and the wellness retail chain's own app.</a:t>
            </a:r>
          </a:p>
          <a:p>
            <a:pPr algn="l">
              <a:spcAft>
                <a:spcPts val="800"/>
              </a:spcAft>
            </a:pPr>
            <a:r>
              <a:rPr sz="1450" b="0">
                <a:solidFill>
                  <a:srgbClr val="161B26"/>
                </a:solidFill>
                <a:latin typeface="Arial"/>
              </a:rPr>
              <a:t>Before Marketing reports back to the Board next week, your table must build the audit that separates real reputation movement from relaunch-week noise.</a:t>
            </a:r>
          </a:p>
        </p:txBody>
      </p:sp>
      <p:sp>
        <p:nvSpPr>
          <p:cNvPr id="13" name="Rectangle 12"/>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 platform-by-platform reputation audit (3+ platforms) with leading and lagging indicators tracked, and a leadership-ready read on whether the relaunch actually shifted reputation</a:t>
            </a:r>
          </a:p>
        </p:txBody>
      </p:sp>
      <p:sp>
        <p:nvSpPr>
          <p:cNvPr id="15" name="TextBox 14"/>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20 minutes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158</a:t>
            </a:r>
          </a:p>
        </p:txBody>
      </p:sp>
    </p:spTree>
  </p:cSld>
  <p:clrMapOvr>
    <a:masterClrMapping/>
  </p:clrMapOvr>
  <p:transition spd="med">
    <p:fade/>
  </p:transition>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LO4 · LU4 · T1 · ACTIVITY 13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Platform Reputation Audit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8" name="Rectangle 7"/>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2" name="TextBox 11"/>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3 platforms will actually tell you whether Nimbus's reputation has shifted since the relaunch — not just which platforms have the most impressions?</a:t>
            </a:r>
          </a:p>
        </p:txBody>
      </p:sp>
      <p:sp>
        <p:nvSpPr>
          <p:cNvPr id="13" name="Rectangle 12"/>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7" name="TextBox 16"/>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of your chosen metrics are leading indicators that warn of a problem early, and which are lagging indicators that only confirm what already happened?</a:t>
            </a:r>
          </a:p>
        </p:txBody>
      </p:sp>
      <p:sp>
        <p:nvSpPr>
          <p:cNvPr id="18" name="Rectangle 17"/>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How would you separate a genuine sentiment shift on "feels personal again" from a short-term spike caused by relaunch hype alone?</a:t>
            </a:r>
          </a:p>
        </p:txBody>
      </p:sp>
      <p:sp>
        <p:nvSpPr>
          <p:cNvPr id="23" name="Rectangle 22"/>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7" name="TextBox 26"/>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would you tell the Board next week if the quantitative numbers looked good but the qualitative comments never mentioned feeling more "personal" at all?</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159</a:t>
            </a:r>
          </a:p>
        </p:txBody>
      </p:sp>
    </p:spTree>
  </p:cSld>
  <p:clrMapOvr>
    <a:masterClrMapping/>
  </p:clrMapOvr>
  <p:transition spd="med">
    <p:fade/>
  </p:transition>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LO4 · LU4 · T1 · ACTIVITY 13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Platform Reputation Audit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10" name="TextBox 9"/>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Did your table lean too heavily on quantitative metrics before someone asked what the qualitative comments actually said?</a:t>
            </a:r>
          </a:p>
          <a:p>
            <a:pPr>
              <a:spcAft>
                <a:spcPts val="900"/>
              </a:spcAft>
            </a:pPr>
            <a:r>
              <a:rPr sz="1450" b="0">
                <a:solidFill>
                  <a:srgbClr val="161B26"/>
                </a:solidFill>
                <a:latin typeface="Arial"/>
              </a:rPr>
              <a:t>•  Which platform did you almost leave out of the audit — and why did it turn out to matter?</a:t>
            </a:r>
          </a:p>
          <a:p>
            <a:pPr>
              <a:spcAft>
                <a:spcPts val="900"/>
              </a:spcAft>
            </a:pPr>
            <a:r>
              <a:rPr sz="1450" b="0">
                <a:solidFill>
                  <a:srgbClr val="161B26"/>
                </a:solidFill>
                <a:latin typeface="Arial"/>
              </a:rPr>
              <a:t>•  If the relaunch metrics stay strong for one more month and then fade, what would that suggest about whether the reputation gap was really closed?</a:t>
            </a:r>
          </a:p>
        </p:txBody>
      </p:sp>
      <p:sp>
        <p:nvSpPr>
          <p:cNvPr id="11" name="Rectangle 10"/>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3" name="TextBox 12"/>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Every group can show a platform-by-platform audit naming at least one leading and one lagging indicator per platform, and can state in one sentence whether the evidence shows a genuine reputation shift or just a relaunch-week spike.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160</a:t>
            </a:r>
          </a:p>
        </p:txBody>
      </p:sp>
    </p:spTree>
  </p:cSld>
  <p:clrMapOvr>
    <a:masterClrMapping/>
  </p:clrMapOvr>
  <p:transition spd="med">
    <p:fade/>
  </p:transition>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29984"/>
            <a:ext cx="12191695" cy="128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468880"/>
            <a:ext cx="10332720" cy="2011680"/>
          </a:xfrm>
          <a:prstGeom prst="rect">
            <a:avLst/>
          </a:prstGeom>
          <a:noFill/>
        </p:spPr>
        <p:txBody>
          <a:bodyPr wrap="square" anchor="ctr">
            <a:spAutoFit/>
          </a:bodyPr>
          <a:lstStyle/>
          <a:p>
            <a:pPr algn="l">
              <a:spcAft>
                <a:spcPts val="400"/>
              </a:spcAft>
            </a:pPr>
            <a:r>
              <a:rPr sz="3200" b="1">
                <a:solidFill>
                  <a:srgbClr val="161B26"/>
                </a:solidFill>
                <a:latin typeface="Arial"/>
              </a:rPr>
              <a:t>Indicators of successful branding</a:t>
            </a:r>
          </a:p>
        </p:txBody>
      </p:sp>
      <p:sp>
        <p:nvSpPr>
          <p:cNvPr id="6" name="TextBox 5"/>
          <p:cNvSpPr txBox="1"/>
          <p:nvPr/>
        </p:nvSpPr>
        <p:spPr>
          <a:xfrm>
            <a:off x="914400" y="1965960"/>
            <a:ext cx="10332720" cy="457200"/>
          </a:xfrm>
          <a:prstGeom prst="rect">
            <a:avLst/>
          </a:prstGeom>
          <a:noFill/>
        </p:spPr>
        <p:txBody>
          <a:bodyPr wrap="square" anchor="t">
            <a:spAutoFit/>
          </a:bodyPr>
          <a:lstStyle/>
          <a:p>
            <a:pPr algn="l">
              <a:spcAft>
                <a:spcPts val="400"/>
              </a:spcAft>
            </a:pPr>
            <a:r>
              <a:rPr sz="1500" b="1">
                <a:solidFill>
                  <a:srgbClr val="10B981"/>
                </a:solidFill>
                <a:latin typeface="Arial"/>
              </a:rPr>
              <a:t>LO4 · LU4 · T2</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161</a:t>
            </a:r>
          </a:p>
        </p:txBody>
      </p:sp>
    </p:spTree>
  </p:cSld>
  <p:clrMapOvr>
    <a:masterClrMapping/>
  </p:clrMapOvr>
  <p:transition spd="med">
    <p:fade/>
  </p:transition>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LU4 · T2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What is Indicators of successful branding?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Brand Awareness</a:t>
            </a:r>
          </a:p>
          <a:p>
            <a:pPr algn="l">
              <a:spcAft>
                <a:spcPts val="300"/>
              </a:spcAft>
            </a:pPr>
            <a:r>
              <a:rPr sz="1200" b="0">
                <a:solidFill>
                  <a:srgbClr val="5B6372"/>
                </a:solidFill>
                <a:latin typeface="Arial"/>
              </a:rPr>
              <a:t>Recognition and recall measured directly</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Customer Loyalty</a:t>
            </a:r>
          </a:p>
          <a:p>
            <a:pPr algn="l">
              <a:spcAft>
                <a:spcPts val="300"/>
              </a:spcAft>
            </a:pPr>
            <a:r>
              <a:rPr sz="1200" b="0">
                <a:solidFill>
                  <a:srgbClr val="5B6372"/>
                </a:solidFill>
                <a:latin typeface="Arial"/>
              </a:rPr>
              <a:t>Retention and repeat-purchase rates tracked</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Financial Impact</a:t>
            </a:r>
          </a:p>
          <a:p>
            <a:pPr algn="l">
              <a:spcAft>
                <a:spcPts val="300"/>
              </a:spcAft>
            </a:pPr>
            <a:r>
              <a:rPr sz="1200" b="0">
                <a:solidFill>
                  <a:srgbClr val="5B6372"/>
                </a:solidFill>
                <a:latin typeface="Arial"/>
              </a:rPr>
              <a:t>Revenue growth and market share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Trust Metrics</a:t>
            </a:r>
          </a:p>
          <a:p>
            <a:pPr algn="l">
              <a:spcAft>
                <a:spcPts val="300"/>
              </a:spcAft>
            </a:pPr>
            <a:r>
              <a:rPr sz="1200" b="0">
                <a:solidFill>
                  <a:srgbClr val="5B6372"/>
                </a:solidFill>
                <a:latin typeface="Arial"/>
              </a:rPr>
              <a:t>Consumer confidence and perception measured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162</a:t>
            </a:r>
          </a:p>
        </p:txBody>
      </p:sp>
      <p:sp>
        <p:nvSpPr>
          <p:cNvPr id="30" name="TextBox 29"/>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Brand Health Tracking Best Practices, 2024</a:t>
            </a:r>
          </a:p>
        </p:txBody>
      </p:sp>
    </p:spTree>
  </p:cSld>
  <p:clrMapOvr>
    <a:masterClrMapping/>
  </p:clrMapOvr>
  <p:transition spd="med">
    <p:fade/>
  </p:transition>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LO4 · LU4 · T2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Brand Measurement Framework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74495"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7449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Define Metrics</a:t>
            </a:r>
          </a:p>
        </p:txBody>
      </p:sp>
      <p:sp>
        <p:nvSpPr>
          <p:cNvPr id="12" name="TextBox 11"/>
          <p:cNvSpPr txBox="1"/>
          <p:nvPr/>
        </p:nvSpPr>
        <p:spPr>
          <a:xfrm>
            <a:off x="905256"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Decide what you're going to track, and why.</a:t>
            </a:r>
          </a:p>
        </p:txBody>
      </p:sp>
      <p:sp>
        <p:nvSpPr>
          <p:cNvPr id="13" name="TextBox 12"/>
          <p:cNvSpPr txBox="1"/>
          <p:nvPr/>
        </p:nvSpPr>
        <p:spPr>
          <a:xfrm>
            <a:off x="3211830"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4" name="Rectangle 13"/>
          <p:cNvSpPr/>
          <p:nvPr/>
        </p:nvSpPr>
        <p:spPr>
          <a:xfrm>
            <a:off x="3504438"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504438"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01693"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0169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632454"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Track Awareness</a:t>
            </a:r>
          </a:p>
        </p:txBody>
      </p:sp>
      <p:sp>
        <p:nvSpPr>
          <p:cNvPr id="19" name="TextBox 18"/>
          <p:cNvSpPr txBox="1"/>
          <p:nvPr/>
        </p:nvSpPr>
        <p:spPr>
          <a:xfrm>
            <a:off x="3632454"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Measure recognition and recall over time.</a:t>
            </a:r>
          </a:p>
        </p:txBody>
      </p:sp>
      <p:sp>
        <p:nvSpPr>
          <p:cNvPr id="20" name="TextBox 19"/>
          <p:cNvSpPr txBox="1"/>
          <p:nvPr/>
        </p:nvSpPr>
        <p:spPr>
          <a:xfrm>
            <a:off x="5939028"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1" name="Rectangle 20"/>
          <p:cNvSpPr/>
          <p:nvPr/>
        </p:nvSpPr>
        <p:spPr>
          <a:xfrm>
            <a:off x="6231636"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128891"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288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6359652"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Measure Loyalty</a:t>
            </a:r>
          </a:p>
        </p:txBody>
      </p:sp>
      <p:sp>
        <p:nvSpPr>
          <p:cNvPr id="26" name="TextBox 25"/>
          <p:cNvSpPr txBox="1"/>
          <p:nvPr/>
        </p:nvSpPr>
        <p:spPr>
          <a:xfrm>
            <a:off x="6359652"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Track retention and repeat-purchase rates.</a:t>
            </a:r>
          </a:p>
        </p:txBody>
      </p:sp>
      <p:sp>
        <p:nvSpPr>
          <p:cNvPr id="27" name="TextBox 26"/>
          <p:cNvSpPr txBox="1"/>
          <p:nvPr/>
        </p:nvSpPr>
        <p:spPr>
          <a:xfrm>
            <a:off x="8666226"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8" name="Rectangle 27"/>
          <p:cNvSpPr/>
          <p:nvPr/>
        </p:nvSpPr>
        <p:spPr>
          <a:xfrm>
            <a:off x="8958834"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958834"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856089"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5608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9086850"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Assess Perception</a:t>
            </a:r>
          </a:p>
        </p:txBody>
      </p:sp>
      <p:sp>
        <p:nvSpPr>
          <p:cNvPr id="33" name="TextBox 32"/>
          <p:cNvSpPr txBox="1"/>
          <p:nvPr/>
        </p:nvSpPr>
        <p:spPr>
          <a:xfrm>
            <a:off x="9086850"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Check whether the brand is seen the way it intends.</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163</a:t>
            </a:r>
          </a:p>
        </p:txBody>
      </p:sp>
    </p:spTree>
  </p:cSld>
  <p:clrMapOvr>
    <a:masterClrMapping/>
  </p:clrMapOvr>
  <p:transition spd="med">
    <p:fade/>
  </p:transition>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LU4 · T2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Traditional vs Digital Brand Measurement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Traditional</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Digital</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Surveys — customer feedback collection</a:t>
            </a:r>
          </a:p>
          <a:p>
            <a:pPr>
              <a:spcAft>
                <a:spcPts val="1000"/>
              </a:spcAft>
            </a:pPr>
            <a:r>
              <a:rPr sz="1600" b="0">
                <a:solidFill>
                  <a:srgbClr val="161B26"/>
                </a:solidFill>
                <a:latin typeface="Arial"/>
              </a:rPr>
              <a:t>•  Focus Groups — qualitative brand perception</a:t>
            </a:r>
          </a:p>
          <a:p>
            <a:pPr>
              <a:spcAft>
                <a:spcPts val="1000"/>
              </a:spcAft>
            </a:pPr>
            <a:r>
              <a:rPr sz="1600" b="0">
                <a:solidFill>
                  <a:srgbClr val="161B26"/>
                </a:solidFill>
                <a:latin typeface="Arial"/>
              </a:rPr>
              <a:t>•  Quarterly — periodic assessment cycles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Analytics — real-time performance tracking</a:t>
            </a:r>
          </a:p>
          <a:p>
            <a:pPr>
              <a:spcAft>
                <a:spcPts val="1000"/>
              </a:spcAft>
            </a:pPr>
            <a:r>
              <a:rPr sz="1600" b="0">
                <a:solidFill>
                  <a:srgbClr val="161B26"/>
                </a:solidFill>
                <a:latin typeface="Arial"/>
              </a:rPr>
              <a:t>•  Social Media — engagement and sentiment monitoring</a:t>
            </a:r>
          </a:p>
          <a:p>
            <a:pPr>
              <a:spcAft>
                <a:spcPts val="1000"/>
              </a:spcAft>
            </a:pPr>
            <a:r>
              <a:rPr sz="1600" b="0">
                <a:solidFill>
                  <a:srgbClr val="161B26"/>
                </a:solidFill>
                <a:latin typeface="Arial"/>
              </a:rPr>
              <a:t>•  Continuous — always-on measurement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164</a:t>
            </a:r>
          </a:p>
        </p:txBody>
      </p:sp>
      <p:sp>
        <p:nvSpPr>
          <p:cNvPr id="16" name="TextBox 15"/>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How to Measure Branding Success, 2024</a:t>
            </a:r>
          </a:p>
        </p:txBody>
      </p:sp>
    </p:spTree>
  </p:cSld>
  <p:clrMapOvr>
    <a:masterClrMapping/>
  </p:clrMapOvr>
  <p:transition spd="med">
    <p:fade/>
  </p:transition>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LU4 · T2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Four Brand Health Pillars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Awareness</a:t>
            </a:r>
          </a:p>
          <a:p>
            <a:pPr algn="l">
              <a:spcAft>
                <a:spcPts val="300"/>
              </a:spcAft>
            </a:pPr>
            <a:r>
              <a:rPr sz="1200" b="0">
                <a:solidFill>
                  <a:srgbClr val="5B6372"/>
                </a:solidFill>
                <a:latin typeface="Arial"/>
              </a:rPr>
              <a:t>Do people recognise Nimbus unprompted, and recall it against name-brand competitors?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Loyalty</a:t>
            </a:r>
          </a:p>
          <a:p>
            <a:pPr algn="l">
              <a:spcAft>
                <a:spcPts val="300"/>
              </a:spcAft>
            </a:pPr>
            <a:r>
              <a:rPr sz="1200" b="0">
                <a:solidFill>
                  <a:srgbClr val="5B6372"/>
                </a:solidFill>
                <a:latin typeface="Arial"/>
              </a:rPr>
              <a:t>Do existing customers keep coming back, and how many repeat-purchase within a season?</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Financial Impact</a:t>
            </a:r>
          </a:p>
          <a:p>
            <a:pPr algn="l">
              <a:spcAft>
                <a:spcPts val="300"/>
              </a:spcAft>
            </a:pPr>
            <a:r>
              <a:rPr sz="1200" b="0">
                <a:solidFill>
                  <a:srgbClr val="5B6372"/>
                </a:solidFill>
                <a:latin typeface="Arial"/>
              </a:rPr>
              <a:t>Is brand strength actually translating into revenue growth and share of category spend?</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Trust</a:t>
            </a:r>
          </a:p>
          <a:p>
            <a:pPr algn="l">
              <a:spcAft>
                <a:spcPts val="300"/>
              </a:spcAft>
            </a:pPr>
            <a:r>
              <a:rPr sz="1200" b="0">
                <a:solidFill>
                  <a:srgbClr val="5B6372"/>
                </a:solidFill>
                <a:latin typeface="Arial"/>
              </a:rPr>
              <a:t>Do customers believe Nimbus's claims and feel confident recommending it to a friend?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165</a:t>
            </a:r>
          </a:p>
        </p:txBody>
      </p:sp>
      <p:sp>
        <p:nvSpPr>
          <p:cNvPr id="30" name="TextBox 29"/>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Brand Health Tracking Best Practices, 2024; NPS industry benchmarks, 2025 (illustrative)</a:t>
            </a:r>
          </a:p>
        </p:txBody>
      </p:sp>
    </p:spTree>
  </p:cSld>
  <p:clrMapOvr>
    <a:masterClrMapping/>
  </p:clrMapOvr>
  <p:transition spd="med">
    <p:fade/>
  </p:transition>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LU4 · T2 · REAL-WORLD EXAMPLE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Brand Health Is a Tracked Metric, Not a One-Off Survey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206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28016" cy="42062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97280" y="2103120"/>
            <a:ext cx="2834640"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103120"/>
            <a:ext cx="2834640" cy="502920"/>
          </a:xfrm>
          <a:prstGeom prst="rect">
            <a:avLst/>
          </a:prstGeom>
          <a:noFill/>
        </p:spPr>
        <p:txBody>
          <a:bodyPr wrap="square" anchor="ctr">
            <a:spAutoFit/>
          </a:bodyPr>
          <a:lstStyle/>
          <a:p>
            <a:pPr algn="ctr">
              <a:spcAft>
                <a:spcPts val="400"/>
              </a:spcAft>
            </a:pPr>
            <a:r>
              <a:rPr sz="1300" b="1">
                <a:solidFill>
                  <a:srgbClr val="FFFFFF"/>
                </a:solidFill>
                <a:latin typeface="Arial"/>
              </a:rPr>
              <a:t>REAL-WORLD EXAMPLE</a:t>
            </a:r>
          </a:p>
        </p:txBody>
      </p:sp>
      <p:sp>
        <p:nvSpPr>
          <p:cNvPr id="11" name="TextBox 10"/>
          <p:cNvSpPr txBox="1"/>
          <p:nvPr/>
        </p:nvSpPr>
        <p:spPr>
          <a:xfrm>
            <a:off x="1097280" y="2880360"/>
            <a:ext cx="9966960" cy="640080"/>
          </a:xfrm>
          <a:prstGeom prst="rect">
            <a:avLst/>
          </a:prstGeom>
          <a:noFill/>
        </p:spPr>
        <p:txBody>
          <a:bodyPr wrap="square" anchor="t">
            <a:spAutoFit/>
          </a:bodyPr>
          <a:lstStyle/>
          <a:p>
            <a:pPr algn="l">
              <a:spcAft>
                <a:spcPts val="400"/>
              </a:spcAft>
            </a:pPr>
            <a:r>
              <a:rPr sz="2600" b="1">
                <a:solidFill>
                  <a:srgbClr val="161B26"/>
                </a:solidFill>
                <a:latin typeface="Arial"/>
              </a:rPr>
              <a:t>DBS Bank</a:t>
            </a:r>
          </a:p>
        </p:txBody>
      </p:sp>
      <p:sp>
        <p:nvSpPr>
          <p:cNvPr id="12" name="TextBox 11"/>
          <p:cNvSpPr txBox="1"/>
          <p:nvPr/>
        </p:nvSpPr>
        <p:spPr>
          <a:xfrm>
            <a:off x="1097280" y="3611880"/>
            <a:ext cx="9966960" cy="2194560"/>
          </a:xfrm>
          <a:prstGeom prst="rect">
            <a:avLst/>
          </a:prstGeom>
          <a:noFill/>
        </p:spPr>
        <p:txBody>
          <a:bodyPr wrap="square" anchor="t">
            <a:spAutoFit/>
          </a:bodyPr>
          <a:lstStyle/>
          <a:p>
            <a:pPr algn="l">
              <a:spcAft>
                <a:spcPts val="400"/>
              </a:spcAft>
            </a:pPr>
            <a:r>
              <a:rPr sz="1600" b="0">
                <a:solidFill>
                  <a:srgbClr val="5B6372"/>
                </a:solidFill>
                <a:latin typeface="Arial"/>
              </a:rPr>
              <a:t>DBS's widely-reported "World's Best Bank" recognition wasn't a lucky survey result — it was built on years of measurable digital and customer-experience metrics tracked continuously, the same discipline Nimbus needs to prove ongoing brand health to its Board.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166</a:t>
            </a:r>
          </a:p>
        </p:txBody>
      </p:sp>
    </p:spTree>
  </p:cSld>
  <p:clrMapOvr>
    <a:masterClrMapping/>
  </p:clrMapOvr>
  <p:transition spd="med">
    <p:fade/>
  </p:transition>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LO4 · LU4 · T2 · ACTIVITY 14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Brand Health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CASE STUDY</a:t>
            </a:r>
          </a:p>
        </p:txBody>
      </p:sp>
      <p:sp>
        <p:nvSpPr>
          <p:cNvPr id="9" name="Rectangle 8"/>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2" name="TextBox 11"/>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The Board's real question isn't "did the relaunch get noticed" — it's whether Nimbus's brand is genuinely healthier than it was six months ago. Marketing has awareness numbers on hand, but no one has looked at loyalty, financial impact or trust together.</a:t>
            </a:r>
          </a:p>
          <a:p>
            <a:pPr algn="l">
              <a:spcAft>
                <a:spcPts val="800"/>
              </a:spcAft>
            </a:pPr>
            <a:r>
              <a:rPr sz="1450" b="0">
                <a:solidFill>
                  <a:srgbClr val="161B26"/>
                </a:solidFill>
                <a:latin typeface="Arial"/>
              </a:rPr>
              <a:t>The founder is due to present a "State of the Brand" update to the Board in two weeks, right after the relaunch's first full sales cycle closes. She has asked your table for a one-page brand-health scorecard she can defend line by line.</a:t>
            </a:r>
          </a:p>
          <a:p>
            <a:pPr algn="l">
              <a:spcAft>
                <a:spcPts val="800"/>
              </a:spcAft>
            </a:pPr>
            <a:r>
              <a:rPr sz="1450" b="0">
                <a:solidFill>
                  <a:srgbClr val="161B26"/>
                </a:solidFill>
                <a:latin typeface="Arial"/>
              </a:rPr>
              <a:t>Customer Service has also noticed something odd: several long-time customers who complained the brand "feels distant" are now leaving five-star reviews again — but repeat-purchase data hasn't moved yet.</a:t>
            </a:r>
          </a:p>
        </p:txBody>
      </p:sp>
      <p:sp>
        <p:nvSpPr>
          <p:cNvPr id="13" name="Rectangle 12"/>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 brand-health scorecard across all four pillars (Awareness, Loyalty, Financial Impact, Trust) with evidence and one improvement action for the weakest pillar</a:t>
            </a:r>
          </a:p>
        </p:txBody>
      </p:sp>
      <p:sp>
        <p:nvSpPr>
          <p:cNvPr id="15" name="TextBox 14"/>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25 minutes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167</a:t>
            </a:r>
          </a:p>
        </p:txBody>
      </p:sp>
    </p:spTree>
  </p:cSld>
  <p:clrMapOvr>
    <a:masterClrMapping/>
  </p:clrMapOvr>
  <p:transition spd="med">
    <p:fade/>
  </p:transition>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LO4 · LU4 · T2 · ACTIVITY 14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Brand Health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8" name="Rectangle 7"/>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2" name="TextBox 11"/>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Across Awareness, Loyalty, Financial Impact and Trust, which pillar is Nimbus strongest on right now, and which is weakest — and what evidence would prove it either way?</a:t>
            </a:r>
          </a:p>
        </p:txBody>
      </p:sp>
      <p:sp>
        <p:nvSpPr>
          <p:cNvPr id="13" name="Rectangle 12"/>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7" name="TextBox 16"/>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The reviews have improved but repeat-purchase data hasn't moved — which pillar does that gap sit in, and what does it tell the founder about how long a real recovery actually takes?</a:t>
            </a:r>
          </a:p>
        </p:txBody>
      </p:sp>
      <p:sp>
        <p:nvSpPr>
          <p:cNvPr id="18" name="Rectangle 17"/>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If you could only fund one more month of measurement in a single pillar, which would move the Board's confidence most, and why?</a:t>
            </a:r>
          </a:p>
        </p:txBody>
      </p:sp>
      <p:sp>
        <p:nvSpPr>
          <p:cNvPr id="23" name="Rectangle 22"/>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7" name="TextBox 26"/>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separates a brand-health indicator the Board should act on immediately from one that's just worth watching?</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168</a:t>
            </a:r>
          </a:p>
        </p:txBody>
      </p:sp>
    </p:spTree>
  </p:cSld>
  <p:clrMapOvr>
    <a:masterClrMapping/>
  </p:clrMapOvr>
  <p:transition spd="med">
    <p:fade/>
  </p:transition>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LO4 · LU4 · T2 · ACTIVITY 14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Brand Health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10" name="TextBox 9"/>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Which pillar did your table find hardest to find real evidence for — awareness, loyalty, financial impact or trust?</a:t>
            </a:r>
          </a:p>
          <a:p>
            <a:pPr>
              <a:spcAft>
                <a:spcPts val="900"/>
              </a:spcAft>
            </a:pPr>
            <a:r>
              <a:rPr sz="1450" b="0">
                <a:solidFill>
                  <a:srgbClr val="161B26"/>
                </a:solidFill>
                <a:latin typeface="Arial"/>
              </a:rPr>
              <a:t>•  Did the group's instinct about Nimbus's strongest pillar match what the evidence actually showed?</a:t>
            </a:r>
          </a:p>
          <a:p>
            <a:pPr>
              <a:spcAft>
                <a:spcPts val="900"/>
              </a:spcAft>
            </a:pPr>
            <a:r>
              <a:rPr sz="1450" b="0">
                <a:solidFill>
                  <a:srgbClr val="161B26"/>
                </a:solidFill>
                <a:latin typeface="Arial"/>
              </a:rPr>
              <a:t>•  If financial impact keeps lagging the other three pillars for another quarter, is that a marketing problem or an operations problem?</a:t>
            </a:r>
          </a:p>
        </p:txBody>
      </p:sp>
      <p:sp>
        <p:nvSpPr>
          <p:cNvPr id="11" name="Rectangle 10"/>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3" name="TextBox 12"/>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Every group can show a one-page scorecard rating Nimbus on all four pillars with named evidence for each rating, plus one improvement action for the weakest pillar.</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169</a:t>
            </a:r>
          </a:p>
        </p:txBody>
      </p:sp>
    </p:spTree>
  </p:cSld>
  <p:clrMapOvr>
    <a:masterClrMapping/>
  </p:clrMapOvr>
  <p:transition spd="med">
    <p:fade/>
  </p:transition>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29984"/>
            <a:ext cx="12191695" cy="128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468880"/>
            <a:ext cx="10332720" cy="2011680"/>
          </a:xfrm>
          <a:prstGeom prst="rect">
            <a:avLst/>
          </a:prstGeom>
          <a:noFill/>
        </p:spPr>
        <p:txBody>
          <a:bodyPr wrap="square" anchor="ctr">
            <a:spAutoFit/>
          </a:bodyPr>
          <a:lstStyle/>
          <a:p>
            <a:pPr algn="l">
              <a:spcAft>
                <a:spcPts val="400"/>
              </a:spcAft>
            </a:pPr>
            <a:r>
              <a:rPr sz="3200" b="1">
                <a:solidFill>
                  <a:srgbClr val="161B26"/>
                </a:solidFill>
                <a:latin typeface="Arial"/>
              </a:rPr>
              <a:t>Public relations tactics</a:t>
            </a:r>
          </a:p>
        </p:txBody>
      </p:sp>
      <p:sp>
        <p:nvSpPr>
          <p:cNvPr id="6" name="TextBox 5"/>
          <p:cNvSpPr txBox="1"/>
          <p:nvPr/>
        </p:nvSpPr>
        <p:spPr>
          <a:xfrm>
            <a:off x="914400" y="1965960"/>
            <a:ext cx="10332720" cy="457200"/>
          </a:xfrm>
          <a:prstGeom prst="rect">
            <a:avLst/>
          </a:prstGeom>
          <a:noFill/>
        </p:spPr>
        <p:txBody>
          <a:bodyPr wrap="square" anchor="t">
            <a:spAutoFit/>
          </a:bodyPr>
          <a:lstStyle/>
          <a:p>
            <a:pPr algn="l">
              <a:spcAft>
                <a:spcPts val="400"/>
              </a:spcAft>
            </a:pPr>
            <a:r>
              <a:rPr sz="1500" b="1">
                <a:solidFill>
                  <a:srgbClr val="10B981"/>
                </a:solidFill>
                <a:latin typeface="Arial"/>
              </a:rPr>
              <a:t>LO4 · LU4 · T3</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170</a:t>
            </a:r>
          </a:p>
        </p:txBody>
      </p:sp>
    </p:spTree>
  </p:cSld>
  <p:clrMapOvr>
    <a:masterClrMapping/>
  </p:clrMapOvr>
  <p:transition spd="med">
    <p:fade/>
  </p:transition>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LU4 · T3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What is Public relations tactics?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Media Relations</a:t>
            </a:r>
          </a:p>
          <a:p>
            <a:pPr algn="l">
              <a:spcAft>
                <a:spcPts val="300"/>
              </a:spcAft>
            </a:pPr>
            <a:r>
              <a:rPr sz="1200" b="0">
                <a:solidFill>
                  <a:srgbClr val="5B6372"/>
                </a:solidFill>
                <a:latin typeface="Arial"/>
              </a:rPr>
              <a:t>Build journalist partnerships for visibility</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Community Outreach</a:t>
            </a:r>
          </a:p>
          <a:p>
            <a:pPr algn="l">
              <a:spcAft>
                <a:spcPts val="300"/>
              </a:spcAft>
            </a:pPr>
            <a:r>
              <a:rPr sz="1200" b="0">
                <a:solidFill>
                  <a:srgbClr val="5B6372"/>
                </a:solidFill>
                <a:latin typeface="Arial"/>
              </a:rPr>
              <a:t>Engage local audiences and stakeholders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Crisis Management</a:t>
            </a:r>
          </a:p>
          <a:p>
            <a:pPr algn="l">
              <a:spcAft>
                <a:spcPts val="300"/>
              </a:spcAft>
            </a:pPr>
            <a:r>
              <a:rPr sz="1200" b="0">
                <a:solidFill>
                  <a:srgbClr val="5B6372"/>
                </a:solidFill>
                <a:latin typeface="Arial"/>
              </a:rPr>
              <a:t>Protect reputation during a challenge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Digital Engagement</a:t>
            </a:r>
          </a:p>
          <a:p>
            <a:pPr algn="l">
              <a:spcAft>
                <a:spcPts val="300"/>
              </a:spcAft>
            </a:pPr>
            <a:r>
              <a:rPr sz="1200" b="0">
                <a:solidFill>
                  <a:srgbClr val="5B6372"/>
                </a:solidFill>
                <a:latin typeface="Arial"/>
              </a:rPr>
              <a:t>Social media and online interactions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171</a:t>
            </a:r>
          </a:p>
        </p:txBody>
      </p:sp>
      <p:sp>
        <p:nvSpPr>
          <p:cNvPr id="30" name="TextBox 29"/>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PR Strategy Essentials, 2024</a:t>
            </a:r>
          </a:p>
        </p:txBody>
      </p:sp>
    </p:spTree>
  </p:cSld>
  <p:clrMapOvr>
    <a:masterClrMapping/>
  </p:clrMapOvr>
  <p:transition spd="med">
    <p:fade/>
  </p:transition>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LO4 · LU4 · T3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PR Implementation Process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74495"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7449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Target Audience</a:t>
            </a:r>
          </a:p>
        </p:txBody>
      </p:sp>
      <p:sp>
        <p:nvSpPr>
          <p:cNvPr id="12" name="TextBox 11"/>
          <p:cNvSpPr txBox="1"/>
          <p:nvPr/>
        </p:nvSpPr>
        <p:spPr>
          <a:xfrm>
            <a:off x="905256"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Identify the stakeholder groups affected.</a:t>
            </a:r>
          </a:p>
        </p:txBody>
      </p:sp>
      <p:sp>
        <p:nvSpPr>
          <p:cNvPr id="13" name="TextBox 12"/>
          <p:cNvSpPr txBox="1"/>
          <p:nvPr/>
        </p:nvSpPr>
        <p:spPr>
          <a:xfrm>
            <a:off x="3211830"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4" name="Rectangle 13"/>
          <p:cNvSpPr/>
          <p:nvPr/>
        </p:nvSpPr>
        <p:spPr>
          <a:xfrm>
            <a:off x="3504438"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504438"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01693"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0169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632454"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Core Messaging</a:t>
            </a:r>
          </a:p>
        </p:txBody>
      </p:sp>
      <p:sp>
        <p:nvSpPr>
          <p:cNvPr id="19" name="TextBox 18"/>
          <p:cNvSpPr txBox="1"/>
          <p:nvPr/>
        </p:nvSpPr>
        <p:spPr>
          <a:xfrm>
            <a:off x="3632454"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Develop one consistent line of communication.</a:t>
            </a:r>
          </a:p>
        </p:txBody>
      </p:sp>
      <p:sp>
        <p:nvSpPr>
          <p:cNvPr id="20" name="TextBox 19"/>
          <p:cNvSpPr txBox="1"/>
          <p:nvPr/>
        </p:nvSpPr>
        <p:spPr>
          <a:xfrm>
            <a:off x="5939028"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1" name="Rectangle 20"/>
          <p:cNvSpPr/>
          <p:nvPr/>
        </p:nvSpPr>
        <p:spPr>
          <a:xfrm>
            <a:off x="6231636"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128891"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288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6359652"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Media Relationships</a:t>
            </a:r>
          </a:p>
        </p:txBody>
      </p:sp>
      <p:sp>
        <p:nvSpPr>
          <p:cNvPr id="26" name="TextBox 25"/>
          <p:cNvSpPr txBox="1"/>
          <p:nvPr/>
        </p:nvSpPr>
        <p:spPr>
          <a:xfrm>
            <a:off x="6359652"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Build the journalist connections you'll need.</a:t>
            </a:r>
          </a:p>
        </p:txBody>
      </p:sp>
      <p:sp>
        <p:nvSpPr>
          <p:cNvPr id="27" name="TextBox 26"/>
          <p:cNvSpPr txBox="1"/>
          <p:nvPr/>
        </p:nvSpPr>
        <p:spPr>
          <a:xfrm>
            <a:off x="8666226"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8" name="Rectangle 27"/>
          <p:cNvSpPr/>
          <p:nvPr/>
        </p:nvSpPr>
        <p:spPr>
          <a:xfrm>
            <a:off x="8958834"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958834"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856089"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5608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9086850"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Campaign Execution</a:t>
            </a:r>
          </a:p>
        </p:txBody>
      </p:sp>
      <p:sp>
        <p:nvSpPr>
          <p:cNvPr id="33" name="TextBox 32"/>
          <p:cNvSpPr txBox="1"/>
          <p:nvPr/>
        </p:nvSpPr>
        <p:spPr>
          <a:xfrm>
            <a:off x="9086850"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Deploy the tactical activities on schedule.</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172</a:t>
            </a:r>
          </a:p>
        </p:txBody>
      </p:sp>
    </p:spTree>
  </p:cSld>
  <p:clrMapOvr>
    <a:masterClrMapping/>
  </p:clrMapOvr>
  <p:transition spd="med">
    <p:fade/>
  </p:transition>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LU4 · T3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Reactive vs Proactive Crisis Response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Reactive — Defensive &amp; Silent</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Proactive — Fast &amp; Transparent</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Wait for Full Certainty — Cracker Barrel's 2025 rebrand backlash festered for a week before the company reversed course — and revenue still fell roughly 6% that quarter, even after the reversal.</a:t>
            </a:r>
          </a:p>
          <a:p>
            <a:pPr>
              <a:spcAft>
                <a:spcPts val="1000"/>
              </a:spcAft>
            </a:pPr>
            <a:r>
              <a:rPr sz="1600" b="0">
                <a:solidFill>
                  <a:srgbClr val="161B26"/>
                </a:solidFill>
                <a:latin typeface="Arial"/>
              </a:rPr>
              <a:t>•  Deny or Minimise — Downplaying a complaint thread as "a few unhappy customers" reads as dismissive once hundreds of people are sharing their own photos.</a:t>
            </a:r>
          </a:p>
          <a:p>
            <a:pPr>
              <a:spcAft>
                <a:spcPts val="1000"/>
              </a:spcAft>
            </a:pPr>
            <a:r>
              <a:rPr sz="1600" b="0">
                <a:solidFill>
                  <a:srgbClr val="161B26"/>
                </a:solidFill>
                <a:latin typeface="Arial"/>
              </a:rPr>
              <a:t>•  Let Silence Fill the Vacuum — An information vacuum left by delay gets filled by critics, not facts — the story gets written without you in it.</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Confirm and Communicate Fast — McDonald's 2024 E. coli response traced the supply-chain source quickly and shared an improvement plan across multiple platforms before the story could spiral.</a:t>
            </a:r>
          </a:p>
          <a:p>
            <a:pPr>
              <a:spcAft>
                <a:spcPts val="1000"/>
              </a:spcAft>
            </a:pPr>
            <a:r>
              <a:rPr sz="1600" b="0">
                <a:solidFill>
                  <a:srgbClr val="161B26"/>
                </a:solidFill>
                <a:latin typeface="Arial"/>
              </a:rPr>
              <a:t>•  Give Frequent, Plain-Language Updates — Slack's 2025 outage updates used a public status page with timestamped, plain-language updates — transparency about the technical problem built trust instead of breaking it.</a:t>
            </a:r>
          </a:p>
          <a:p>
            <a:pPr>
              <a:spcAft>
                <a:spcPts val="1000"/>
              </a:spcAft>
            </a:pPr>
            <a:r>
              <a:rPr sz="1600" b="0">
                <a:solidFill>
                  <a:srgbClr val="161B26"/>
                </a:solidFill>
                <a:latin typeface="Arial"/>
              </a:rPr>
              <a:t>•  Publish the Full Explanation After — Slack followed each outage with a full post-incident explanation — closing the loop shows the company learned, not just reacted.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173</a:t>
            </a:r>
          </a:p>
        </p:txBody>
      </p:sp>
      <p:sp>
        <p:nvSpPr>
          <p:cNvPr id="16" name="TextBox 15"/>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PR crisis-management case examples, 2024-2025 (McDonald's, Slack, Cracker Barrel)</a:t>
            </a:r>
          </a:p>
        </p:txBody>
      </p:sp>
    </p:spTree>
  </p:cSld>
  <p:clrMapOvr>
    <a:masterClrMapping/>
  </p:clrMapOvr>
  <p:transition spd="med">
    <p:fade/>
  </p:transition>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LU4 · T3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Nimbus Crisis Response Fork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The Fork</a:t>
            </a:r>
          </a:p>
          <a:p>
            <a:pPr algn="l">
              <a:spcAft>
                <a:spcPts val="300"/>
              </a:spcAft>
            </a:pPr>
            <a:r>
              <a:rPr sz="1100" b="0">
                <a:solidFill>
                  <a:srgbClr val="5B6372"/>
                </a:solidFill>
                <a:latin typeface="Arial"/>
              </a:rPr>
              <a:t>A defective-product video is going viral the night before Nimbus's biggest interview — what happens tonight?</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Stay Silent — Silence Fills the Vacuum</a:t>
            </a:r>
          </a:p>
          <a:p>
            <a:pPr algn="l">
              <a:spcAft>
                <a:spcPts val="300"/>
              </a:spcAft>
            </a:pPr>
            <a:r>
              <a:rPr sz="1100" b="0">
                <a:solidFill>
                  <a:srgbClr val="5B6372"/>
                </a:solidFill>
                <a:latin typeface="Arial"/>
              </a:rPr>
              <a:t>Critics and the journalist write the story for Nimbus — "knew and hid it" becomes the headline.</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Respond Fast — Trust Preserved</a:t>
            </a:r>
          </a:p>
          <a:p>
            <a:pPr algn="l">
              <a:spcAft>
                <a:spcPts val="300"/>
              </a:spcAft>
            </a:pPr>
            <a:r>
              <a:rPr sz="1100" b="0">
                <a:solidFill>
                  <a:srgbClr val="5B6372"/>
                </a:solidFill>
                <a:latin typeface="Arial"/>
              </a:rPr>
              <a:t>Confirm what's known, commit to a fix, and give an honest on-record line before tomorrow's interview.</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Escalate Fully — Crisis Protocol Activated</a:t>
            </a:r>
          </a:p>
          <a:p>
            <a:pPr algn="l">
              <a:spcAft>
                <a:spcPts val="300"/>
              </a:spcAft>
            </a:pPr>
            <a:r>
              <a:rPr sz="1100" b="0">
                <a:solidFill>
                  <a:srgbClr val="5B6372"/>
                </a:solidFill>
                <a:latin typeface="Arial"/>
              </a:rPr>
              <a:t>For a widespread defect: recall affected units, activate the crisis team, notify every platform at once.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174</a:t>
            </a:r>
          </a:p>
        </p:txBody>
      </p:sp>
      <p:sp>
        <p:nvSpPr>
          <p:cNvPr id="30" name="TextBox 29"/>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crisis-communication decision frameworks; PR Strategy Essentials, 2024</a:t>
            </a:r>
          </a:p>
        </p:txBody>
      </p:sp>
    </p:spTree>
  </p:cSld>
  <p:clrMapOvr>
    <a:masterClrMapping/>
  </p:clrMapOvr>
  <p:transition spd="med">
    <p:fade/>
  </p:transition>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LU4 · T3 · REAL-WORLD EXAMPLE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The Textbook Case: Fast, Transparent, Costly — and Trust-Preserving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206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28016" cy="42062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97280" y="2103120"/>
            <a:ext cx="2834640"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103120"/>
            <a:ext cx="2834640" cy="502920"/>
          </a:xfrm>
          <a:prstGeom prst="rect">
            <a:avLst/>
          </a:prstGeom>
          <a:noFill/>
        </p:spPr>
        <p:txBody>
          <a:bodyPr wrap="square" anchor="ctr">
            <a:spAutoFit/>
          </a:bodyPr>
          <a:lstStyle/>
          <a:p>
            <a:pPr algn="ctr">
              <a:spcAft>
                <a:spcPts val="400"/>
              </a:spcAft>
            </a:pPr>
            <a:r>
              <a:rPr sz="1300" b="1">
                <a:solidFill>
                  <a:srgbClr val="FFFFFF"/>
                </a:solidFill>
                <a:latin typeface="Arial"/>
              </a:rPr>
              <a:t>REAL-WORLD EXAMPLE</a:t>
            </a:r>
          </a:p>
        </p:txBody>
      </p:sp>
      <p:sp>
        <p:nvSpPr>
          <p:cNvPr id="11" name="TextBox 10"/>
          <p:cNvSpPr txBox="1"/>
          <p:nvPr/>
        </p:nvSpPr>
        <p:spPr>
          <a:xfrm>
            <a:off x="1097280" y="2880360"/>
            <a:ext cx="9966960" cy="640080"/>
          </a:xfrm>
          <a:prstGeom prst="rect">
            <a:avLst/>
          </a:prstGeom>
          <a:noFill/>
        </p:spPr>
        <p:txBody>
          <a:bodyPr wrap="square" anchor="t">
            <a:spAutoFit/>
          </a:bodyPr>
          <a:lstStyle/>
          <a:p>
            <a:pPr algn="l">
              <a:spcAft>
                <a:spcPts val="400"/>
              </a:spcAft>
            </a:pPr>
            <a:r>
              <a:rPr sz="2600" b="1">
                <a:solidFill>
                  <a:srgbClr val="161B26"/>
                </a:solidFill>
                <a:latin typeface="Arial"/>
              </a:rPr>
              <a:t>Johnson &amp; Johnson</a:t>
            </a:r>
          </a:p>
        </p:txBody>
      </p:sp>
      <p:sp>
        <p:nvSpPr>
          <p:cNvPr id="12" name="TextBox 11"/>
          <p:cNvSpPr txBox="1"/>
          <p:nvPr/>
        </p:nvSpPr>
        <p:spPr>
          <a:xfrm>
            <a:off x="1097280" y="3611880"/>
            <a:ext cx="9966960" cy="2194560"/>
          </a:xfrm>
          <a:prstGeom prst="rect">
            <a:avLst/>
          </a:prstGeom>
          <a:noFill/>
        </p:spPr>
        <p:txBody>
          <a:bodyPr wrap="square" anchor="t">
            <a:spAutoFit/>
          </a:bodyPr>
          <a:lstStyle/>
          <a:p>
            <a:pPr algn="l">
              <a:spcAft>
                <a:spcPts val="400"/>
              </a:spcAft>
            </a:pPr>
            <a:r>
              <a:rPr sz="1600" b="0">
                <a:solidFill>
                  <a:srgbClr val="5B6372"/>
                </a:solidFill>
                <a:latin typeface="Arial"/>
              </a:rPr>
              <a:t>When cyanide-laced Tylenol capsules killed seven people in 1982, Johnson &amp; Johnson pulled every bottle from shelves nationwide within days and introduced the tamper-proof packaging the whole industry later adopted — still taught today as the standard for fast, transparent crisis response.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175</a:t>
            </a:r>
          </a:p>
        </p:txBody>
      </p:sp>
    </p:spTree>
  </p:cSld>
  <p:clrMapOvr>
    <a:masterClrMapping/>
  </p:clrMapOvr>
  <p:transition spd="med">
    <p:fade/>
  </p:transition>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LO4 · LU4 · T3 · ACTIVITY 15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PR Crisis Response Plan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ROLE PLAY</a:t>
            </a:r>
          </a:p>
        </p:txBody>
      </p:sp>
      <p:sp>
        <p:nvSpPr>
          <p:cNvPr id="9" name="Rectangle 8"/>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2" name="TextBox 11"/>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It's 9pm, the night before the founder's biggest relaunch media interview yet. A customer posts a video of her new Nimbus jar — from the new sustainable packaging line launched with the anniversary campaign — cracked and leaking product, captioned "the 'eco-friendly' packaging Nimbus is so proud of." Within two hours it has hundreds of shares and a wave of other customers replying with their own photos.</a:t>
            </a:r>
          </a:p>
          <a:p>
            <a:pPr algn="l">
              <a:spcAft>
                <a:spcPts val="800"/>
              </a:spcAft>
            </a:pPr>
            <a:r>
              <a:rPr sz="1450" b="0">
                <a:solidFill>
                  <a:srgbClr val="161B26"/>
                </a:solidFill>
                <a:latin typeface="Arial"/>
              </a:rPr>
              <a:t>Operations thinks it may be a single bad batch from the new packaging supplier, but can't confirm numbers until morning. The journalist doing tomorrow's interview has already seen the thread and has emailed asking whether Nimbus knew about a defect before launch.</a:t>
            </a:r>
          </a:p>
          <a:p>
            <a:pPr algn="l">
              <a:spcAft>
                <a:spcPts val="800"/>
              </a:spcAft>
            </a:pPr>
            <a:r>
              <a:rPr sz="1450" b="0">
                <a:solidFill>
                  <a:srgbClr val="161B26"/>
                </a:solidFill>
                <a:latin typeface="Arial"/>
              </a:rPr>
              <a:t>The founder wants to say nothing until Operations has the full facts — but the thread is growing every hour, and tomorrow's interview is unavoidable. Your group must decide what Nimbus does tonight, and what the spokesperson says tomorrow morning.</a:t>
            </a:r>
          </a:p>
        </p:txBody>
      </p:sp>
      <p:sp>
        <p:nvSpPr>
          <p:cNvPr id="13" name="Rectangle 12"/>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 same-night crisis-response script (public statement + next-day interview line) rehearsed through the three roles, benchmarked against a real 2024-2025 crisis example</a:t>
            </a:r>
          </a:p>
        </p:txBody>
      </p:sp>
      <p:sp>
        <p:nvSpPr>
          <p:cNvPr id="15" name="TextBox 14"/>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25 minutes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176</a:t>
            </a:r>
          </a:p>
        </p:txBody>
      </p:sp>
    </p:spTree>
  </p:cSld>
  <p:clrMapOvr>
    <a:masterClrMapping/>
  </p:clrMapOvr>
  <p:transition spd="med">
    <p:fade/>
  </p:transition>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LO4 · LU4 · T3 · ACTIVITY 15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PR Crisis Response Plan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ASSIGN THE ROLES</a:t>
            </a:r>
          </a:p>
        </p:txBody>
      </p:sp>
      <p:sp>
        <p:nvSpPr>
          <p:cNvPr id="8" name="Rectangle 7"/>
          <p:cNvSpPr/>
          <p:nvPr/>
        </p:nvSpPr>
        <p:spPr>
          <a:xfrm>
            <a:off x="777240" y="2194560"/>
            <a:ext cx="3361944" cy="3886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194560"/>
            <a:ext cx="3361944"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194560"/>
            <a:ext cx="3361944" cy="457200"/>
          </a:xfrm>
          <a:prstGeom prst="rect">
            <a:avLst/>
          </a:prstGeom>
          <a:noFill/>
        </p:spPr>
        <p:txBody>
          <a:bodyPr wrap="square" anchor="ctr">
            <a:spAutoFit/>
          </a:bodyPr>
          <a:lstStyle/>
          <a:p>
            <a:pPr algn="ctr">
              <a:spcAft>
                <a:spcPts val="400"/>
              </a:spcAft>
            </a:pPr>
            <a:r>
              <a:rPr sz="1500" b="1">
                <a:solidFill>
                  <a:srgbClr val="FFFFFF"/>
                </a:solidFill>
                <a:latin typeface="Arial"/>
              </a:rPr>
              <a:t>Spokesperson</a:t>
            </a:r>
          </a:p>
        </p:txBody>
      </p:sp>
      <p:sp>
        <p:nvSpPr>
          <p:cNvPr id="11" name="TextBox 10"/>
          <p:cNvSpPr txBox="1"/>
          <p:nvPr/>
        </p:nvSpPr>
        <p:spPr>
          <a:xfrm>
            <a:off x="978408" y="2816352"/>
            <a:ext cx="2959608" cy="548640"/>
          </a:xfrm>
          <a:prstGeom prst="rect">
            <a:avLst/>
          </a:prstGeom>
          <a:noFill/>
        </p:spPr>
        <p:txBody>
          <a:bodyPr wrap="square" anchor="t">
            <a:spAutoFit/>
          </a:bodyPr>
          <a:lstStyle/>
          <a:p>
            <a:pPr algn="l">
              <a:spcAft>
                <a:spcPts val="400"/>
              </a:spcAft>
            </a:pPr>
            <a:r>
              <a:rPr sz="1100" b="1">
                <a:solidFill>
                  <a:srgbClr val="1F6FEB"/>
                </a:solidFill>
                <a:latin typeface="Arial"/>
              </a:rPr>
              <a:t>GOAL</a:t>
            </a:r>
          </a:p>
        </p:txBody>
      </p:sp>
      <p:sp>
        <p:nvSpPr>
          <p:cNvPr id="12" name="TextBox 11"/>
          <p:cNvSpPr txBox="1"/>
          <p:nvPr/>
        </p:nvSpPr>
        <p:spPr>
          <a:xfrm>
            <a:off x="978408" y="3090672"/>
            <a:ext cx="2959608" cy="822960"/>
          </a:xfrm>
          <a:prstGeom prst="rect">
            <a:avLst/>
          </a:prstGeom>
          <a:noFill/>
        </p:spPr>
        <p:txBody>
          <a:bodyPr wrap="square" anchor="t">
            <a:spAutoFit/>
          </a:bodyPr>
          <a:lstStyle/>
          <a:p>
            <a:pPr algn="l">
              <a:spcAft>
                <a:spcPts val="400"/>
              </a:spcAft>
            </a:pPr>
            <a:r>
              <a:rPr sz="1250" b="1">
                <a:solidFill>
                  <a:srgbClr val="161B26"/>
                </a:solidFill>
                <a:latin typeface="Arial"/>
              </a:rPr>
              <a:t>Represent Nimbus publicly without over-promising</a:t>
            </a:r>
          </a:p>
        </p:txBody>
      </p:sp>
      <p:sp>
        <p:nvSpPr>
          <p:cNvPr id="13" name="TextBox 12"/>
          <p:cNvSpPr txBox="1"/>
          <p:nvPr/>
        </p:nvSpPr>
        <p:spPr>
          <a:xfrm>
            <a:off x="978408" y="3977640"/>
            <a:ext cx="2959608" cy="2011680"/>
          </a:xfrm>
          <a:prstGeom prst="rect">
            <a:avLst/>
          </a:prstGeom>
          <a:noFill/>
        </p:spPr>
        <p:txBody>
          <a:bodyPr wrap="square" anchor="t">
            <a:spAutoFit/>
          </a:bodyPr>
          <a:lstStyle/>
          <a:p>
            <a:pPr algn="l">
              <a:spcAft>
                <a:spcPts val="400"/>
              </a:spcAft>
            </a:pPr>
            <a:r>
              <a:rPr sz="1200" b="0">
                <a:solidFill>
                  <a:srgbClr val="5B6372"/>
                </a:solidFill>
                <a:latin typeface="Arial"/>
              </a:rPr>
              <a:t>Must decide what Nimbus can credibly say before every fact is confirmed, and how much to reveal in tomorrow's interview.</a:t>
            </a:r>
          </a:p>
        </p:txBody>
      </p:sp>
      <p:sp>
        <p:nvSpPr>
          <p:cNvPr id="14" name="Rectangle 13"/>
          <p:cNvSpPr/>
          <p:nvPr/>
        </p:nvSpPr>
        <p:spPr>
          <a:xfrm>
            <a:off x="4413504" y="2194560"/>
            <a:ext cx="3361944" cy="3886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13504" y="2194560"/>
            <a:ext cx="3361944"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13504" y="2194560"/>
            <a:ext cx="3361944" cy="457200"/>
          </a:xfrm>
          <a:prstGeom prst="rect">
            <a:avLst/>
          </a:prstGeom>
          <a:noFill/>
        </p:spPr>
        <p:txBody>
          <a:bodyPr wrap="square" anchor="ctr">
            <a:spAutoFit/>
          </a:bodyPr>
          <a:lstStyle/>
          <a:p>
            <a:pPr algn="ctr">
              <a:spcAft>
                <a:spcPts val="400"/>
              </a:spcAft>
            </a:pPr>
            <a:r>
              <a:rPr sz="1500" b="1">
                <a:solidFill>
                  <a:srgbClr val="FFFFFF"/>
                </a:solidFill>
                <a:latin typeface="Arial"/>
              </a:rPr>
              <a:t>Journalist</a:t>
            </a:r>
          </a:p>
        </p:txBody>
      </p:sp>
      <p:sp>
        <p:nvSpPr>
          <p:cNvPr id="17" name="TextBox 16"/>
          <p:cNvSpPr txBox="1"/>
          <p:nvPr/>
        </p:nvSpPr>
        <p:spPr>
          <a:xfrm>
            <a:off x="4614672" y="2816352"/>
            <a:ext cx="2959608" cy="548640"/>
          </a:xfrm>
          <a:prstGeom prst="rect">
            <a:avLst/>
          </a:prstGeom>
          <a:noFill/>
        </p:spPr>
        <p:txBody>
          <a:bodyPr wrap="square" anchor="t">
            <a:spAutoFit/>
          </a:bodyPr>
          <a:lstStyle/>
          <a:p>
            <a:pPr algn="l">
              <a:spcAft>
                <a:spcPts val="400"/>
              </a:spcAft>
            </a:pPr>
            <a:r>
              <a:rPr sz="1100" b="1">
                <a:solidFill>
                  <a:srgbClr val="10B981"/>
                </a:solidFill>
                <a:latin typeface="Arial"/>
              </a:rPr>
              <a:t>GOAL</a:t>
            </a:r>
          </a:p>
        </p:txBody>
      </p:sp>
      <p:sp>
        <p:nvSpPr>
          <p:cNvPr id="18" name="TextBox 17"/>
          <p:cNvSpPr txBox="1"/>
          <p:nvPr/>
        </p:nvSpPr>
        <p:spPr>
          <a:xfrm>
            <a:off x="4614672" y="3090672"/>
            <a:ext cx="2959608" cy="822960"/>
          </a:xfrm>
          <a:prstGeom prst="rect">
            <a:avLst/>
          </a:prstGeom>
          <a:noFill/>
        </p:spPr>
        <p:txBody>
          <a:bodyPr wrap="square" anchor="t">
            <a:spAutoFit/>
          </a:bodyPr>
          <a:lstStyle/>
          <a:p>
            <a:pPr algn="l">
              <a:spcAft>
                <a:spcPts val="400"/>
              </a:spcAft>
            </a:pPr>
            <a:r>
              <a:rPr sz="1250" b="1">
                <a:solidFill>
                  <a:srgbClr val="161B26"/>
                </a:solidFill>
                <a:latin typeface="Arial"/>
              </a:rPr>
              <a:t>Get a real, on-record answer for tomorrow's story</a:t>
            </a:r>
          </a:p>
        </p:txBody>
      </p:sp>
      <p:sp>
        <p:nvSpPr>
          <p:cNvPr id="19" name="TextBox 18"/>
          <p:cNvSpPr txBox="1"/>
          <p:nvPr/>
        </p:nvSpPr>
        <p:spPr>
          <a:xfrm>
            <a:off x="4614672" y="3977640"/>
            <a:ext cx="2959608" cy="2011680"/>
          </a:xfrm>
          <a:prstGeom prst="rect">
            <a:avLst/>
          </a:prstGeom>
          <a:noFill/>
        </p:spPr>
        <p:txBody>
          <a:bodyPr wrap="square" anchor="t">
            <a:spAutoFit/>
          </a:bodyPr>
          <a:lstStyle/>
          <a:p>
            <a:pPr algn="l">
              <a:spcAft>
                <a:spcPts val="400"/>
              </a:spcAft>
            </a:pPr>
            <a:r>
              <a:rPr sz="1200" b="0">
                <a:solidFill>
                  <a:srgbClr val="5B6372"/>
                </a:solidFill>
                <a:latin typeface="Arial"/>
              </a:rPr>
              <a:t>Already has screenshots of the complaint thread and will ask directly whether Nimbus knew about the packaging issue before the relaunch.</a:t>
            </a:r>
          </a:p>
        </p:txBody>
      </p:sp>
      <p:sp>
        <p:nvSpPr>
          <p:cNvPr id="20" name="Rectangle 19"/>
          <p:cNvSpPr/>
          <p:nvPr/>
        </p:nvSpPr>
        <p:spPr>
          <a:xfrm>
            <a:off x="8049768" y="2194560"/>
            <a:ext cx="3361944" cy="3886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49768" y="2194560"/>
            <a:ext cx="3361944"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9768" y="2194560"/>
            <a:ext cx="3361944" cy="457200"/>
          </a:xfrm>
          <a:prstGeom prst="rect">
            <a:avLst/>
          </a:prstGeom>
          <a:noFill/>
        </p:spPr>
        <p:txBody>
          <a:bodyPr wrap="square" anchor="ctr">
            <a:spAutoFit/>
          </a:bodyPr>
          <a:lstStyle/>
          <a:p>
            <a:pPr algn="ctr">
              <a:spcAft>
                <a:spcPts val="400"/>
              </a:spcAft>
            </a:pPr>
            <a:r>
              <a:rPr sz="1500" b="1">
                <a:solidFill>
                  <a:srgbClr val="FFFFFF"/>
                </a:solidFill>
                <a:latin typeface="Arial"/>
              </a:rPr>
              <a:t>Crisis-Response Lead</a:t>
            </a:r>
          </a:p>
        </p:txBody>
      </p:sp>
      <p:sp>
        <p:nvSpPr>
          <p:cNvPr id="23" name="TextBox 22"/>
          <p:cNvSpPr txBox="1"/>
          <p:nvPr/>
        </p:nvSpPr>
        <p:spPr>
          <a:xfrm>
            <a:off x="8250936" y="2816352"/>
            <a:ext cx="2959608" cy="548640"/>
          </a:xfrm>
          <a:prstGeom prst="rect">
            <a:avLst/>
          </a:prstGeom>
          <a:noFill/>
        </p:spPr>
        <p:txBody>
          <a:bodyPr wrap="square" anchor="t">
            <a:spAutoFit/>
          </a:bodyPr>
          <a:lstStyle/>
          <a:p>
            <a:pPr algn="l">
              <a:spcAft>
                <a:spcPts val="400"/>
              </a:spcAft>
            </a:pPr>
            <a:r>
              <a:rPr sz="1100" b="1">
                <a:solidFill>
                  <a:srgbClr val="7C3AED"/>
                </a:solidFill>
                <a:latin typeface="Arial"/>
              </a:rPr>
              <a:t>GOAL</a:t>
            </a:r>
          </a:p>
        </p:txBody>
      </p:sp>
      <p:sp>
        <p:nvSpPr>
          <p:cNvPr id="24" name="TextBox 23"/>
          <p:cNvSpPr txBox="1"/>
          <p:nvPr/>
        </p:nvSpPr>
        <p:spPr>
          <a:xfrm>
            <a:off x="8250936" y="3090672"/>
            <a:ext cx="2959608" cy="822960"/>
          </a:xfrm>
          <a:prstGeom prst="rect">
            <a:avLst/>
          </a:prstGeom>
          <a:noFill/>
        </p:spPr>
        <p:txBody>
          <a:bodyPr wrap="square" anchor="t">
            <a:spAutoFit/>
          </a:bodyPr>
          <a:lstStyle/>
          <a:p>
            <a:pPr algn="l">
              <a:spcAft>
                <a:spcPts val="400"/>
              </a:spcAft>
            </a:pPr>
            <a:r>
              <a:rPr sz="1250" b="1">
                <a:solidFill>
                  <a:srgbClr val="161B26"/>
                </a:solidFill>
                <a:latin typeface="Arial"/>
              </a:rPr>
              <a:t>Coordinate the facts and the fix before Nimbus says anything publicly</a:t>
            </a:r>
          </a:p>
        </p:txBody>
      </p:sp>
      <p:sp>
        <p:nvSpPr>
          <p:cNvPr id="25" name="TextBox 24"/>
          <p:cNvSpPr txBox="1"/>
          <p:nvPr/>
        </p:nvSpPr>
        <p:spPr>
          <a:xfrm>
            <a:off x="8250936" y="3977640"/>
            <a:ext cx="2959608" cy="2011680"/>
          </a:xfrm>
          <a:prstGeom prst="rect">
            <a:avLst/>
          </a:prstGeom>
          <a:noFill/>
        </p:spPr>
        <p:txBody>
          <a:bodyPr wrap="square" anchor="t">
            <a:spAutoFit/>
          </a:bodyPr>
          <a:lstStyle/>
          <a:p>
            <a:pPr algn="l">
              <a:spcAft>
                <a:spcPts val="400"/>
              </a:spcAft>
            </a:pPr>
            <a:r>
              <a:rPr sz="1200" b="0">
                <a:solidFill>
                  <a:srgbClr val="5B6372"/>
                </a:solidFill>
                <a:latin typeface="Arial"/>
              </a:rPr>
              <a:t>Is still confirming with Operations exactly how many units are affected, and whether it's a supplier fault or a Nimbus quality-control miss.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177</a:t>
            </a:r>
          </a:p>
        </p:txBody>
      </p:sp>
    </p:spTree>
  </p:cSld>
  <p:clrMapOvr>
    <a:masterClrMapping/>
  </p:clrMapOvr>
  <p:transition spd="med">
    <p:fade/>
  </p:transition>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LO4 · LU4 · T3 · ACTIVITY 15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PR Crisis Response Plan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8" name="Rectangle 7"/>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2" name="TextBox 11"/>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Is staying silent until Operations confirms every fact actually the safer choice tonight, or does it leave a vacuum the thread will fill for Nimbus?</a:t>
            </a:r>
          </a:p>
        </p:txBody>
      </p:sp>
      <p:sp>
        <p:nvSpPr>
          <p:cNvPr id="13" name="Rectangle 12"/>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7" name="TextBox 16"/>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can the Spokesperson honestly commit to in tomorrow's interview before the root cause is even confirmed?</a:t>
            </a:r>
          </a:p>
        </p:txBody>
      </p:sp>
      <p:sp>
        <p:nvSpPr>
          <p:cNvPr id="18" name="Rectangle 17"/>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How should the Crisis-Response Lead's internal fact-finding and the Spokesperson's public statement stay in sync without one getting ahead of the other?</a:t>
            </a:r>
          </a:p>
        </p:txBody>
      </p:sp>
      <p:sp>
        <p:nvSpPr>
          <p:cNvPr id="23" name="Rectangle 22"/>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7" name="TextBox 26"/>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would Nimbus need to say and do in the first 24 hours to be judged as fast and transparent rather than defensive?</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178</a:t>
            </a:r>
          </a:p>
        </p:txBody>
      </p:sp>
    </p:spTree>
  </p:cSld>
  <p:clrMapOvr>
    <a:masterClrMapping/>
  </p:clrMapOvr>
  <p:transition spd="med">
    <p:fade/>
  </p:transition>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LO4 · LU4 · T3 · ACTIVITY 15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PR Crisis Response Plan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10" name="TextBox 9"/>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Did your Spokesperson end up promising more, or less, than Nimbus could actually deliver by morning?</a:t>
            </a:r>
          </a:p>
          <a:p>
            <a:pPr>
              <a:spcAft>
                <a:spcPts val="900"/>
              </a:spcAft>
            </a:pPr>
            <a:r>
              <a:rPr sz="1450" b="0">
                <a:solidFill>
                  <a:srgbClr val="161B26"/>
                </a:solidFill>
                <a:latin typeface="Arial"/>
              </a:rPr>
              <a:t>•  Where did the Journalist's questions expose a gap between what the Crisis-Response Lead knew and what the Spokesperson said?</a:t>
            </a:r>
          </a:p>
          <a:p>
            <a:pPr>
              <a:spcAft>
                <a:spcPts val="900"/>
              </a:spcAft>
            </a:pPr>
            <a:r>
              <a:rPr sz="1450" b="0">
                <a:solidFill>
                  <a:srgbClr val="161B26"/>
                </a:solidFill>
                <a:latin typeface="Arial"/>
              </a:rPr>
              <a:t>•  Looking at the Cracker Barrel and McDonald's examples, which pattern did your group's response end up closer to — and was that a deliberate choice?</a:t>
            </a:r>
          </a:p>
        </p:txBody>
      </p:sp>
      <p:sp>
        <p:nvSpPr>
          <p:cNvPr id="11" name="Rectangle 10"/>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3" name="TextBox 12"/>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Every group can perform or narrate a same-night response that names what Nimbus confirms publicly within hours, what it says in tomorrow's interview, and a follow-up commitment — and can point to which real-world example (fast/transparent vs delayed/silent) their plan resembles.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179</a:t>
            </a:r>
          </a:p>
        </p:txBody>
      </p:sp>
    </p:spTree>
  </p:cSld>
  <p:clrMapOvr>
    <a:masterClrMapping/>
  </p:clrMapOvr>
  <p:transition spd="med">
    <p:fade/>
  </p:transition>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29984"/>
            <a:ext cx="12191695" cy="128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468880"/>
            <a:ext cx="10332720" cy="2011680"/>
          </a:xfrm>
          <a:prstGeom prst="rect">
            <a:avLst/>
          </a:prstGeom>
          <a:noFill/>
        </p:spPr>
        <p:txBody>
          <a:bodyPr wrap="square" anchor="ctr">
            <a:spAutoFit/>
          </a:bodyPr>
          <a:lstStyle/>
          <a:p>
            <a:pPr algn="l">
              <a:spcAft>
                <a:spcPts val="400"/>
              </a:spcAft>
            </a:pPr>
            <a:r>
              <a:rPr sz="2500" b="1">
                <a:solidFill>
                  <a:srgbClr val="161B26"/>
                </a:solidFill>
                <a:latin typeface="Arial"/>
              </a:rPr>
              <a:t>Monitor the success of the brand against Key Performance Indicators (KPI)</a:t>
            </a:r>
          </a:p>
        </p:txBody>
      </p:sp>
      <p:sp>
        <p:nvSpPr>
          <p:cNvPr id="6" name="TextBox 5"/>
          <p:cNvSpPr txBox="1"/>
          <p:nvPr/>
        </p:nvSpPr>
        <p:spPr>
          <a:xfrm>
            <a:off x="914400" y="1965960"/>
            <a:ext cx="10332720" cy="457200"/>
          </a:xfrm>
          <a:prstGeom prst="rect">
            <a:avLst/>
          </a:prstGeom>
          <a:noFill/>
        </p:spPr>
        <p:txBody>
          <a:bodyPr wrap="square" anchor="t">
            <a:spAutoFit/>
          </a:bodyPr>
          <a:lstStyle/>
          <a:p>
            <a:pPr algn="l">
              <a:spcAft>
                <a:spcPts val="400"/>
              </a:spcAft>
            </a:pPr>
            <a:r>
              <a:rPr sz="1500" b="1">
                <a:solidFill>
                  <a:srgbClr val="10B981"/>
                </a:solidFill>
                <a:latin typeface="Arial"/>
              </a:rPr>
              <a:t>LO4 · LU4 · T4</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180</a:t>
            </a:r>
          </a:p>
        </p:txBody>
      </p:sp>
    </p:spTree>
  </p:cSld>
  <p:clrMapOvr>
    <a:masterClrMapping/>
  </p:clrMapOvr>
  <p:transition spd="med">
    <p:fade/>
  </p:transition>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LU4 · T4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What is Monitor the success of the brand against Key Performance Indicators (KPI)?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SMART KPIs</a:t>
            </a:r>
          </a:p>
          <a:p>
            <a:pPr algn="l">
              <a:spcAft>
                <a:spcPts val="300"/>
              </a:spcAft>
            </a:pPr>
            <a:r>
              <a:rPr sz="1200" b="0">
                <a:solidFill>
                  <a:srgbClr val="5B6372"/>
                </a:solidFill>
                <a:latin typeface="Arial"/>
              </a:rPr>
              <a:t>Specific, measurable, attainable, realistic, time-bound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Data Collection</a:t>
            </a:r>
          </a:p>
          <a:p>
            <a:pPr algn="l">
              <a:spcAft>
                <a:spcPts val="300"/>
              </a:spcAft>
            </a:pPr>
            <a:r>
              <a:rPr sz="1200" b="0">
                <a:solidFill>
                  <a:srgbClr val="5B6372"/>
                </a:solidFill>
                <a:latin typeface="Arial"/>
              </a:rPr>
              <a:t>Analytics tools and brand guidelines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Performance Analysis</a:t>
            </a:r>
          </a:p>
          <a:p>
            <a:pPr algn="l">
              <a:spcAft>
                <a:spcPts val="300"/>
              </a:spcAft>
            </a:pPr>
            <a:r>
              <a:rPr sz="1200" b="0">
                <a:solidFill>
                  <a:srgbClr val="5B6372"/>
                </a:solidFill>
                <a:latin typeface="Arial"/>
              </a:rPr>
              <a:t>Interpret trends and what's changing</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Strategic Optimisation</a:t>
            </a:r>
          </a:p>
          <a:p>
            <a:pPr algn="l">
              <a:spcAft>
                <a:spcPts val="300"/>
              </a:spcAft>
            </a:pPr>
            <a:r>
              <a:rPr sz="1200" b="0">
                <a:solidFill>
                  <a:srgbClr val="5B6372"/>
                </a:solidFill>
                <a:latin typeface="Arial"/>
              </a:rPr>
              <a:t>Insights drive real brand improvements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181</a:t>
            </a:r>
          </a:p>
        </p:txBody>
      </p:sp>
      <p:sp>
        <p:nvSpPr>
          <p:cNvPr id="30" name="TextBox 29"/>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Frontify, 2024</a:t>
            </a:r>
          </a:p>
        </p:txBody>
      </p:sp>
    </p:spTree>
  </p:cSld>
  <p:clrMapOvr>
    <a:masterClrMapping/>
  </p:clrMapOvr>
  <p:transition spd="med">
    <p:fade/>
  </p:transition>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LO4 · LU4 · T4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KPI Monitoring Process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74495"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7449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Collect Data</a:t>
            </a:r>
          </a:p>
        </p:txBody>
      </p:sp>
      <p:sp>
        <p:nvSpPr>
          <p:cNvPr id="12" name="TextBox 11"/>
          <p:cNvSpPr txBox="1"/>
          <p:nvPr/>
        </p:nvSpPr>
        <p:spPr>
          <a:xfrm>
            <a:off x="905256"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Gather the analytics and brand guidelines.</a:t>
            </a:r>
          </a:p>
        </p:txBody>
      </p:sp>
      <p:sp>
        <p:nvSpPr>
          <p:cNvPr id="13" name="TextBox 12"/>
          <p:cNvSpPr txBox="1"/>
          <p:nvPr/>
        </p:nvSpPr>
        <p:spPr>
          <a:xfrm>
            <a:off x="3211830"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4" name="Rectangle 13"/>
          <p:cNvSpPr/>
          <p:nvPr/>
        </p:nvSpPr>
        <p:spPr>
          <a:xfrm>
            <a:off x="3504438"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504438"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01693"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0169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632454"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Interpret</a:t>
            </a:r>
          </a:p>
        </p:txBody>
      </p:sp>
      <p:sp>
        <p:nvSpPr>
          <p:cNvPr id="19" name="TextBox 18"/>
          <p:cNvSpPr txBox="1"/>
          <p:nvPr/>
        </p:nvSpPr>
        <p:spPr>
          <a:xfrm>
            <a:off x="3632454"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Analyse the trends and what's changing.</a:t>
            </a:r>
          </a:p>
        </p:txBody>
      </p:sp>
      <p:sp>
        <p:nvSpPr>
          <p:cNvPr id="20" name="TextBox 19"/>
          <p:cNvSpPr txBox="1"/>
          <p:nvPr/>
        </p:nvSpPr>
        <p:spPr>
          <a:xfrm>
            <a:off x="5939028"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1" name="Rectangle 20"/>
          <p:cNvSpPr/>
          <p:nvPr/>
        </p:nvSpPr>
        <p:spPr>
          <a:xfrm>
            <a:off x="6231636"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128891"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288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6359652"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Optimise</a:t>
            </a:r>
          </a:p>
        </p:txBody>
      </p:sp>
      <p:sp>
        <p:nvSpPr>
          <p:cNvPr id="26" name="TextBox 25"/>
          <p:cNvSpPr txBox="1"/>
          <p:nvPr/>
        </p:nvSpPr>
        <p:spPr>
          <a:xfrm>
            <a:off x="6359652"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Apply the insights to real improvements.</a:t>
            </a:r>
          </a:p>
        </p:txBody>
      </p:sp>
      <p:sp>
        <p:nvSpPr>
          <p:cNvPr id="27" name="TextBox 26"/>
          <p:cNvSpPr txBox="1"/>
          <p:nvPr/>
        </p:nvSpPr>
        <p:spPr>
          <a:xfrm>
            <a:off x="8666226"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8" name="Rectangle 27"/>
          <p:cNvSpPr/>
          <p:nvPr/>
        </p:nvSpPr>
        <p:spPr>
          <a:xfrm>
            <a:off x="8958834" y="2331720"/>
            <a:ext cx="245287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958834" y="2331720"/>
            <a:ext cx="245287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856089"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5608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9086850" y="3429000"/>
            <a:ext cx="2196846" cy="365760"/>
          </a:xfrm>
          <a:prstGeom prst="rect">
            <a:avLst/>
          </a:prstGeom>
          <a:noFill/>
        </p:spPr>
        <p:txBody>
          <a:bodyPr wrap="square" anchor="t">
            <a:spAutoFit/>
          </a:bodyPr>
          <a:lstStyle/>
          <a:p>
            <a:pPr algn="ctr">
              <a:spcAft>
                <a:spcPts val="400"/>
              </a:spcAft>
            </a:pPr>
            <a:r>
              <a:rPr sz="1250" b="1">
                <a:solidFill>
                  <a:srgbClr val="161B26"/>
                </a:solidFill>
                <a:latin typeface="Arial"/>
              </a:rPr>
              <a:t>Repeat Monthly</a:t>
            </a:r>
          </a:p>
        </p:txBody>
      </p:sp>
      <p:sp>
        <p:nvSpPr>
          <p:cNvPr id="33" name="TextBox 32"/>
          <p:cNvSpPr txBox="1"/>
          <p:nvPr/>
        </p:nvSpPr>
        <p:spPr>
          <a:xfrm>
            <a:off x="9086850" y="3813048"/>
            <a:ext cx="2196846" cy="1280160"/>
          </a:xfrm>
          <a:prstGeom prst="rect">
            <a:avLst/>
          </a:prstGeom>
          <a:noFill/>
        </p:spPr>
        <p:txBody>
          <a:bodyPr wrap="square" anchor="t">
            <a:spAutoFit/>
          </a:bodyPr>
          <a:lstStyle/>
          <a:p>
            <a:pPr algn="ctr">
              <a:spcAft>
                <a:spcPts val="400"/>
              </a:spcAft>
            </a:pPr>
            <a:r>
              <a:rPr sz="1050" b="0">
                <a:solidFill>
                  <a:srgbClr val="5B6372"/>
                </a:solidFill>
                <a:latin typeface="Arial"/>
              </a:rPr>
              <a:t>Keep the cycle continuous, not a one-off review.</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182</a:t>
            </a:r>
          </a:p>
        </p:txBody>
      </p:sp>
    </p:spTree>
  </p:cSld>
  <p:clrMapOvr>
    <a:masterClrMapping/>
  </p:clrMapOvr>
  <p:transition spd="med">
    <p:fade/>
  </p:transition>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LU4 · T4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Brand KPI Categories — Internal vs External Focus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Internal Focus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External Focus</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Team Adoption — brand-guideline compliance</a:t>
            </a:r>
          </a:p>
          <a:p>
            <a:pPr>
              <a:spcAft>
                <a:spcPts val="1000"/>
              </a:spcAft>
            </a:pPr>
            <a:r>
              <a:rPr sz="1600" b="0">
                <a:solidFill>
                  <a:srgbClr val="161B26"/>
                </a:solidFill>
                <a:latin typeface="Arial"/>
              </a:rPr>
              <a:t>•  Consistency — cross-channel brand alignment</a:t>
            </a:r>
          </a:p>
          <a:p>
            <a:pPr>
              <a:spcAft>
                <a:spcPts val="1000"/>
              </a:spcAft>
            </a:pPr>
            <a:r>
              <a:rPr sz="1600" b="0">
                <a:solidFill>
                  <a:srgbClr val="161B26"/>
                </a:solidFill>
                <a:latin typeface="Arial"/>
              </a:rPr>
              <a:t>•  Engagement — internal brand activation</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Market Perception — customer brand sentiment</a:t>
            </a:r>
          </a:p>
          <a:p>
            <a:pPr>
              <a:spcAft>
                <a:spcPts val="1000"/>
              </a:spcAft>
            </a:pPr>
            <a:r>
              <a:rPr sz="1600" b="0">
                <a:solidFill>
                  <a:srgbClr val="161B26"/>
                </a:solidFill>
                <a:latin typeface="Arial"/>
              </a:rPr>
              <a:t>•  Competitive Position — market-share comparison</a:t>
            </a:r>
          </a:p>
          <a:p>
            <a:pPr>
              <a:spcAft>
                <a:spcPts val="1000"/>
              </a:spcAft>
            </a:pPr>
            <a:r>
              <a:rPr sz="1600" b="0">
                <a:solidFill>
                  <a:srgbClr val="161B26"/>
                </a:solidFill>
                <a:latin typeface="Arial"/>
              </a:rPr>
              <a:t>•  Awareness — brand recognition metrics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183</a:t>
            </a:r>
          </a:p>
        </p:txBody>
      </p:sp>
      <p:sp>
        <p:nvSpPr>
          <p:cNvPr id="16" name="TextBox 15"/>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Frontify, 2024</a:t>
            </a:r>
          </a:p>
        </p:txBody>
      </p:sp>
    </p:spTree>
  </p:cSld>
  <p:clrMapOvr>
    <a:masterClrMapping/>
  </p:clrMapOvr>
  <p:transition spd="med">
    <p:fade/>
  </p:transition>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LU4 · T4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SMART KPI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Specific</a:t>
            </a:r>
          </a:p>
          <a:p>
            <a:pPr algn="l">
              <a:spcAft>
                <a:spcPts val="300"/>
              </a:spcAft>
            </a:pPr>
            <a:r>
              <a:rPr sz="1200" b="0">
                <a:solidFill>
                  <a:srgbClr val="5B6372"/>
                </a:solidFill>
                <a:latin typeface="Arial"/>
              </a:rPr>
              <a:t>Name exactly what's being measured — not "brand awareness" in general, but unprompted recall among Nimbus's core segment.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Measurable</a:t>
            </a:r>
          </a:p>
          <a:p>
            <a:pPr algn="l">
              <a:spcAft>
                <a:spcPts val="300"/>
              </a:spcAft>
            </a:pPr>
            <a:r>
              <a:rPr sz="1200" b="0">
                <a:solidFill>
                  <a:srgbClr val="5B6372"/>
                </a:solidFill>
                <a:latin typeface="Arial"/>
              </a:rPr>
              <a:t>State how it's quantified — percentage, score or count — and where the number comes from.</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Attainable</a:t>
            </a:r>
          </a:p>
          <a:p>
            <a:pPr algn="l">
              <a:spcAft>
                <a:spcPts val="300"/>
              </a:spcAft>
            </a:pPr>
            <a:r>
              <a:rPr sz="1200" b="0">
                <a:solidFill>
                  <a:srgbClr val="5B6372"/>
                </a:solidFill>
                <a:latin typeface="Arial"/>
              </a:rPr>
              <a:t>Set a target Nimbus can realistically move given its size and budget, not an aspirational guess.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Realistic</a:t>
            </a:r>
          </a:p>
          <a:p>
            <a:pPr algn="l">
              <a:spcAft>
                <a:spcPts val="300"/>
              </a:spcAft>
            </a:pPr>
            <a:r>
              <a:rPr sz="1200" b="0">
                <a:solidFill>
                  <a:srgbClr val="5B6372"/>
                </a:solidFill>
                <a:latin typeface="Arial"/>
              </a:rPr>
              <a:t>Tie the KPI to something the brand can actually influence, not a market force outside its control.</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Time-bound</a:t>
            </a:r>
          </a:p>
          <a:p>
            <a:pPr algn="l">
              <a:spcAft>
                <a:spcPts val="300"/>
              </a:spcAft>
            </a:pPr>
            <a:r>
              <a:rPr sz="1200" b="0">
                <a:solidFill>
                  <a:srgbClr val="5B6372"/>
                </a:solidFill>
                <a:latin typeface="Arial"/>
              </a:rPr>
              <a:t>Give the KPI a review deadline — monthly, quarterly — so it forces a real decision, not a standing report.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184</a:t>
            </a:r>
          </a:p>
        </p:txBody>
      </p:sp>
      <p:sp>
        <p:nvSpPr>
          <p:cNvPr id="35" name="TextBox 34"/>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SMART goal-setting framework (Doran, 1981, adapted); Frontify, 2024</a:t>
            </a:r>
          </a:p>
        </p:txBody>
      </p:sp>
    </p:spTree>
  </p:cSld>
  <p:clrMapOvr>
    <a:masterClrMapping/>
  </p:clrMapOvr>
  <p:transition spd="med">
    <p:fade/>
  </p:transition>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LU4 · T4 · REAL-WORLD EXAMPLE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 Culture Built Around Measurable Goals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206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28016" cy="42062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97280" y="2103120"/>
            <a:ext cx="2834640"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103120"/>
            <a:ext cx="2834640" cy="502920"/>
          </a:xfrm>
          <a:prstGeom prst="rect">
            <a:avLst/>
          </a:prstGeom>
          <a:noFill/>
        </p:spPr>
        <p:txBody>
          <a:bodyPr wrap="square" anchor="ctr">
            <a:spAutoFit/>
          </a:bodyPr>
          <a:lstStyle/>
          <a:p>
            <a:pPr algn="ctr">
              <a:spcAft>
                <a:spcPts val="400"/>
              </a:spcAft>
            </a:pPr>
            <a:r>
              <a:rPr sz="1300" b="1">
                <a:solidFill>
                  <a:srgbClr val="FFFFFF"/>
                </a:solidFill>
                <a:latin typeface="Arial"/>
              </a:rPr>
              <a:t>REAL-WORLD EXAMPLE</a:t>
            </a:r>
          </a:p>
        </p:txBody>
      </p:sp>
      <p:sp>
        <p:nvSpPr>
          <p:cNvPr id="11" name="TextBox 10"/>
          <p:cNvSpPr txBox="1"/>
          <p:nvPr/>
        </p:nvSpPr>
        <p:spPr>
          <a:xfrm>
            <a:off x="1097280" y="2880360"/>
            <a:ext cx="9966960" cy="640080"/>
          </a:xfrm>
          <a:prstGeom prst="rect">
            <a:avLst/>
          </a:prstGeom>
          <a:noFill/>
        </p:spPr>
        <p:txBody>
          <a:bodyPr wrap="square" anchor="t">
            <a:spAutoFit/>
          </a:bodyPr>
          <a:lstStyle/>
          <a:p>
            <a:pPr algn="l">
              <a:spcAft>
                <a:spcPts val="400"/>
              </a:spcAft>
            </a:pPr>
            <a:r>
              <a:rPr sz="2600" b="1">
                <a:solidFill>
                  <a:srgbClr val="161B26"/>
                </a:solidFill>
                <a:latin typeface="Arial"/>
              </a:rPr>
              <a:t>Google</a:t>
            </a:r>
          </a:p>
        </p:txBody>
      </p:sp>
      <p:sp>
        <p:nvSpPr>
          <p:cNvPr id="12" name="TextBox 11"/>
          <p:cNvSpPr txBox="1"/>
          <p:nvPr/>
        </p:nvSpPr>
        <p:spPr>
          <a:xfrm>
            <a:off x="1097280" y="3611880"/>
            <a:ext cx="9966960" cy="2194560"/>
          </a:xfrm>
          <a:prstGeom prst="rect">
            <a:avLst/>
          </a:prstGeom>
          <a:noFill/>
        </p:spPr>
        <p:txBody>
          <a:bodyPr wrap="square" anchor="t">
            <a:spAutoFit/>
          </a:bodyPr>
          <a:lstStyle/>
          <a:p>
            <a:pPr algn="l">
              <a:spcAft>
                <a:spcPts val="400"/>
              </a:spcAft>
            </a:pPr>
            <a:r>
              <a:rPr sz="1600" b="0">
                <a:solidFill>
                  <a:srgbClr val="5B6372"/>
                </a:solidFill>
                <a:latin typeface="Arial"/>
              </a:rPr>
              <a:t>Google's well-known OKR (Objectives and Key Results) practice ties every team's work to a small set of measurable, time-bound goals reviewed on a regular cycle — the same discipline behind a SMART KPI framework.</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185</a:t>
            </a:r>
          </a:p>
        </p:txBody>
      </p:sp>
    </p:spTree>
  </p:cSld>
  <p:clrMapOvr>
    <a:masterClrMapping/>
  </p:clrMapOvr>
  <p:transition spd="med">
    <p:fade/>
  </p:transition>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LO4 · LU4 · T4 · ACTIVITY 16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KPI Dashboard Design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CASE STUDY</a:t>
            </a:r>
          </a:p>
        </p:txBody>
      </p:sp>
      <p:sp>
        <p:nvSpPr>
          <p:cNvPr id="9" name="Rectangle 8"/>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2" name="TextBox 11"/>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The Board's ask is specific: it wants a KPI framework it can check every month after the relaunch, not a one-off report from Marketing whenever someone remembers to send it. The founder, who is not a numbers person, has asked for something she can read in five minutes and still trust.</a:t>
            </a:r>
          </a:p>
          <a:p>
            <a:pPr algn="l">
              <a:spcAft>
                <a:spcPts val="800"/>
              </a:spcAft>
            </a:pPr>
            <a:r>
              <a:rPr sz="1450" b="0">
                <a:solidFill>
                  <a:srgbClr val="161B26"/>
                </a:solidFill>
                <a:latin typeface="Arial"/>
              </a:rPr>
              <a:t>Right now every department tracks something different — Marketing watches follower counts, Retail watches footfall, Customer Service watches response times — and none of it is compared against a target or a deadline. Last month someone reported "engagement is up" without saying up from what, or by when it should keep rising.</a:t>
            </a:r>
          </a:p>
          <a:p>
            <a:pPr algn="l">
              <a:spcAft>
                <a:spcPts val="800"/>
              </a:spcAft>
            </a:pPr>
            <a:r>
              <a:rPr sz="1450" b="0">
                <a:solidFill>
                  <a:srgbClr val="161B26"/>
                </a:solidFill>
                <a:latin typeface="Arial"/>
              </a:rPr>
              <a:t>Your table's job is to turn this scattered activity into a small set of SMART KPIs the Board can actually govern the relaunch by.</a:t>
            </a:r>
          </a:p>
        </p:txBody>
      </p:sp>
      <p:sp>
        <p:nvSpPr>
          <p:cNvPr id="13" name="Rectangle 12"/>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 SMART KPI framework (3 internal + 3 external KPIs) with an owner, target, data source and review deadline for each</a:t>
            </a:r>
          </a:p>
        </p:txBody>
      </p:sp>
      <p:sp>
        <p:nvSpPr>
          <p:cNvPr id="15" name="TextBox 14"/>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20 minutes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186</a:t>
            </a:r>
          </a:p>
        </p:txBody>
      </p:sp>
    </p:spTree>
  </p:cSld>
  <p:clrMapOvr>
    <a:masterClrMapping/>
  </p:clrMapOvr>
  <p:transition spd="med">
    <p:fade/>
  </p:transition>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LO4 · LU4 · T4 · ACTIVITY 16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KPI Dashboard Design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8" name="Rectangle 7"/>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2" name="TextBox 11"/>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3 internal and 3 external KPIs would actually tell the Board whether the relaunch is working — not just which numbers are easiest for each department to pull?</a:t>
            </a:r>
          </a:p>
        </p:txBody>
      </p:sp>
      <p:sp>
        <p:nvSpPr>
          <p:cNvPr id="13" name="Rectangle 12"/>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7" name="TextBox 16"/>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Take one of your KPIs through the full SMART test — where does it break down first, and how do you fix that?</a:t>
            </a:r>
          </a:p>
        </p:txBody>
      </p:sp>
      <p:sp>
        <p:nvSpPr>
          <p:cNvPr id="18" name="Rectangle 17"/>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Who owns each KPI, and what happens if the number misses target two months in a row?</a:t>
            </a:r>
          </a:p>
        </p:txBody>
      </p:sp>
      <p:sp>
        <p:nvSpPr>
          <p:cNvPr id="23" name="Rectangle 22"/>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7" name="TextBox 26"/>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If the Board can only look at one dashboard slide, what's the smallest set of numbers that still tells the whole story?</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187</a:t>
            </a:r>
          </a:p>
        </p:txBody>
      </p:sp>
    </p:spTree>
  </p:cSld>
  <p:clrMapOvr>
    <a:masterClrMapping/>
  </p:clrMapOvr>
  <p:transition spd="med">
    <p:fade/>
  </p:transition>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LO4 · LU4 · T4 · ACTIVITY 16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KPI Dashboard Design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10" name="TextBox 9"/>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Which of your KPIs was hardest to make genuinely Measurable rather than just a description of activity?</a:t>
            </a:r>
          </a:p>
          <a:p>
            <a:pPr>
              <a:spcAft>
                <a:spcPts val="900"/>
              </a:spcAft>
            </a:pPr>
            <a:r>
              <a:rPr sz="1450" b="0">
                <a:solidFill>
                  <a:srgbClr val="161B26"/>
                </a:solidFill>
                <a:latin typeface="Arial"/>
              </a:rPr>
              <a:t>•  Did your table set a target that was Attainable, or did ambition win out over realism?</a:t>
            </a:r>
          </a:p>
          <a:p>
            <a:pPr>
              <a:spcAft>
                <a:spcPts val="900"/>
              </a:spcAft>
            </a:pPr>
            <a:r>
              <a:rPr sz="1450" b="0">
                <a:solidFill>
                  <a:srgbClr val="161B26"/>
                </a:solidFill>
                <a:latin typeface="Arial"/>
              </a:rPr>
              <a:t>•  If one KPI is red for two straight months, does your framework actually say what happens next — or does it stop at reporting the number?</a:t>
            </a:r>
          </a:p>
        </p:txBody>
      </p:sp>
      <p:sp>
        <p:nvSpPr>
          <p:cNvPr id="11" name="Rectangle 10"/>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3" name="TextBox 12"/>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Every group can show 3 internal + 3 external KPIs, each SMART-tested with a named owner, target, data source and review deadline, and can explain what action a missed target would trigger.</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188</a:t>
            </a:r>
          </a:p>
        </p:txBody>
      </p:sp>
    </p:spTree>
  </p:cSld>
  <p:clrMapOvr>
    <a:masterClrMapping/>
  </p:clrMapOvr>
  <p:transition spd="med">
    <p:fade/>
  </p:transition>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29984"/>
            <a:ext cx="12191695" cy="128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468880"/>
            <a:ext cx="10332720" cy="2011680"/>
          </a:xfrm>
          <a:prstGeom prst="rect">
            <a:avLst/>
          </a:prstGeom>
          <a:noFill/>
        </p:spPr>
        <p:txBody>
          <a:bodyPr wrap="square" anchor="ctr">
            <a:spAutoFit/>
          </a:bodyPr>
          <a:lstStyle/>
          <a:p>
            <a:pPr algn="l">
              <a:spcAft>
                <a:spcPts val="400"/>
              </a:spcAft>
            </a:pPr>
            <a:r>
              <a:rPr sz="2500" b="1">
                <a:solidFill>
                  <a:srgbClr val="161B26"/>
                </a:solidFill>
                <a:latin typeface="Arial"/>
              </a:rPr>
              <a:t>Provide suggestions to improve public relations campaign effectiveness</a:t>
            </a:r>
          </a:p>
        </p:txBody>
      </p:sp>
      <p:sp>
        <p:nvSpPr>
          <p:cNvPr id="6" name="TextBox 5"/>
          <p:cNvSpPr txBox="1"/>
          <p:nvPr/>
        </p:nvSpPr>
        <p:spPr>
          <a:xfrm>
            <a:off x="914400" y="1965960"/>
            <a:ext cx="10332720" cy="457200"/>
          </a:xfrm>
          <a:prstGeom prst="rect">
            <a:avLst/>
          </a:prstGeom>
          <a:noFill/>
        </p:spPr>
        <p:txBody>
          <a:bodyPr wrap="square" anchor="t">
            <a:spAutoFit/>
          </a:bodyPr>
          <a:lstStyle/>
          <a:p>
            <a:pPr algn="l">
              <a:spcAft>
                <a:spcPts val="400"/>
              </a:spcAft>
            </a:pPr>
            <a:r>
              <a:rPr sz="1500" b="1">
                <a:solidFill>
                  <a:srgbClr val="10B981"/>
                </a:solidFill>
                <a:latin typeface="Arial"/>
              </a:rPr>
              <a:t>LO4 · LU4 · T5</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189</a:t>
            </a:r>
          </a:p>
        </p:txBody>
      </p:sp>
    </p:spTree>
  </p:cSld>
  <p:clrMapOvr>
    <a:masterClrMapping/>
  </p:clrMapOvr>
  <p:transition spd="med">
    <p:fade/>
  </p:transition>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LU4 · T5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What is Provide suggestions to improve public relations campaign effectiveness?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Performance Gaps</a:t>
            </a:r>
          </a:p>
          <a:p>
            <a:pPr algn="l">
              <a:spcAft>
                <a:spcPts val="300"/>
              </a:spcAft>
            </a:pPr>
            <a:r>
              <a:rPr sz="1200" b="0">
                <a:solidFill>
                  <a:srgbClr val="5B6372"/>
                </a:solidFill>
                <a:latin typeface="Arial"/>
              </a:rPr>
              <a:t>Find weaknesses through data analysis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Strategic Planning</a:t>
            </a:r>
          </a:p>
          <a:p>
            <a:pPr algn="l">
              <a:spcAft>
                <a:spcPts val="300"/>
              </a:spcAft>
            </a:pPr>
            <a:r>
              <a:rPr sz="1200" b="0">
                <a:solidFill>
                  <a:srgbClr val="5B6372"/>
                </a:solidFill>
                <a:latin typeface="Arial"/>
              </a:rPr>
              <a:t>Set measurable objectives and tactics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Media Relations</a:t>
            </a:r>
          </a:p>
          <a:p>
            <a:pPr algn="l">
              <a:spcAft>
                <a:spcPts val="300"/>
              </a:spcAft>
            </a:pPr>
            <a:r>
              <a:rPr sz="1200" b="0">
                <a:solidFill>
                  <a:srgbClr val="5B6372"/>
                </a:solidFill>
                <a:latin typeface="Arial"/>
              </a:rPr>
              <a:t>Build strong journalist partnerships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Content Quality</a:t>
            </a:r>
          </a:p>
          <a:p>
            <a:pPr algn="l">
              <a:spcAft>
                <a:spcPts val="300"/>
              </a:spcAft>
            </a:pPr>
            <a:r>
              <a:rPr sz="1200" b="0">
                <a:solidFill>
                  <a:srgbClr val="5B6372"/>
                </a:solidFill>
                <a:latin typeface="Arial"/>
              </a:rPr>
              <a:t>Create compelling, research-backed stories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190</a:t>
            </a:r>
          </a:p>
        </p:txBody>
      </p:sp>
      <p:sp>
        <p:nvSpPr>
          <p:cNvPr id="30" name="TextBox 29"/>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AMEC Integrated Evaluation Framework; Barcelona Principles 4.0 (2025)</a:t>
            </a:r>
          </a:p>
        </p:txBody>
      </p:sp>
    </p:spTree>
  </p:cSld>
  <p:clrMapOvr>
    <a:masterClrMapping/>
  </p:clrMapOvr>
  <p:transition spd="med">
    <p:fade/>
  </p:transition>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LO4 · LU4 · T5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Campaign Optimisation Process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3361944"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129028"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29028"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429000"/>
            <a:ext cx="3105912" cy="365760"/>
          </a:xfrm>
          <a:prstGeom prst="rect">
            <a:avLst/>
          </a:prstGeom>
          <a:noFill/>
        </p:spPr>
        <p:txBody>
          <a:bodyPr wrap="square" anchor="t">
            <a:spAutoFit/>
          </a:bodyPr>
          <a:lstStyle/>
          <a:p>
            <a:pPr algn="ctr">
              <a:spcAft>
                <a:spcPts val="400"/>
              </a:spcAft>
            </a:pPr>
            <a:r>
              <a:rPr sz="1250" b="1">
                <a:solidFill>
                  <a:srgbClr val="161B26"/>
                </a:solidFill>
                <a:latin typeface="Arial"/>
              </a:rPr>
              <a:t>Set Goals</a:t>
            </a:r>
          </a:p>
        </p:txBody>
      </p:sp>
      <p:sp>
        <p:nvSpPr>
          <p:cNvPr id="12" name="TextBox 11"/>
          <p:cNvSpPr txBox="1"/>
          <p:nvPr/>
        </p:nvSpPr>
        <p:spPr>
          <a:xfrm>
            <a:off x="905256" y="3813048"/>
            <a:ext cx="3105912" cy="1280160"/>
          </a:xfrm>
          <a:prstGeom prst="rect">
            <a:avLst/>
          </a:prstGeom>
          <a:noFill/>
        </p:spPr>
        <p:txBody>
          <a:bodyPr wrap="square" anchor="t">
            <a:spAutoFit/>
          </a:bodyPr>
          <a:lstStyle/>
          <a:p>
            <a:pPr algn="ctr">
              <a:spcAft>
                <a:spcPts val="400"/>
              </a:spcAft>
            </a:pPr>
            <a:r>
              <a:rPr sz="1050" b="0">
                <a:solidFill>
                  <a:srgbClr val="5B6372"/>
                </a:solidFill>
                <a:latin typeface="Arial"/>
              </a:rPr>
              <a:t>Define clear, measurable objectives.</a:t>
            </a:r>
          </a:p>
        </p:txBody>
      </p:sp>
      <p:sp>
        <p:nvSpPr>
          <p:cNvPr id="13" name="TextBox 12"/>
          <p:cNvSpPr txBox="1"/>
          <p:nvPr/>
        </p:nvSpPr>
        <p:spPr>
          <a:xfrm>
            <a:off x="4120896"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4" name="Rectangle 13"/>
          <p:cNvSpPr/>
          <p:nvPr/>
        </p:nvSpPr>
        <p:spPr>
          <a:xfrm>
            <a:off x="4413504" y="2331720"/>
            <a:ext cx="3361944"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13504" y="2331720"/>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765292"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765292"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4541520" y="3429000"/>
            <a:ext cx="3105912" cy="365760"/>
          </a:xfrm>
          <a:prstGeom prst="rect">
            <a:avLst/>
          </a:prstGeom>
          <a:noFill/>
        </p:spPr>
        <p:txBody>
          <a:bodyPr wrap="square" anchor="t">
            <a:spAutoFit/>
          </a:bodyPr>
          <a:lstStyle/>
          <a:p>
            <a:pPr algn="ctr">
              <a:spcAft>
                <a:spcPts val="400"/>
              </a:spcAft>
            </a:pPr>
            <a:r>
              <a:rPr sz="1250" b="1">
                <a:solidFill>
                  <a:srgbClr val="161B26"/>
                </a:solidFill>
                <a:latin typeface="Arial"/>
              </a:rPr>
              <a:t>Define Audience</a:t>
            </a:r>
          </a:p>
        </p:txBody>
      </p:sp>
      <p:sp>
        <p:nvSpPr>
          <p:cNvPr id="19" name="TextBox 18"/>
          <p:cNvSpPr txBox="1"/>
          <p:nvPr/>
        </p:nvSpPr>
        <p:spPr>
          <a:xfrm>
            <a:off x="4541520" y="3813048"/>
            <a:ext cx="3105912" cy="1280160"/>
          </a:xfrm>
          <a:prstGeom prst="rect">
            <a:avLst/>
          </a:prstGeom>
          <a:noFill/>
        </p:spPr>
        <p:txBody>
          <a:bodyPr wrap="square" anchor="t">
            <a:spAutoFit/>
          </a:bodyPr>
          <a:lstStyle/>
          <a:p>
            <a:pPr algn="ctr">
              <a:spcAft>
                <a:spcPts val="400"/>
              </a:spcAft>
            </a:pPr>
            <a:r>
              <a:rPr sz="1050" b="0">
                <a:solidFill>
                  <a:srgbClr val="5B6372"/>
                </a:solidFill>
                <a:latin typeface="Arial"/>
              </a:rPr>
              <a:t>Target specific stakeholder segments.</a:t>
            </a:r>
          </a:p>
        </p:txBody>
      </p:sp>
      <p:sp>
        <p:nvSpPr>
          <p:cNvPr id="20" name="TextBox 19"/>
          <p:cNvSpPr txBox="1"/>
          <p:nvPr/>
        </p:nvSpPr>
        <p:spPr>
          <a:xfrm>
            <a:off x="7757160" y="3497580"/>
            <a:ext cx="310896"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1" name="Rectangle 20"/>
          <p:cNvSpPr/>
          <p:nvPr/>
        </p:nvSpPr>
        <p:spPr>
          <a:xfrm>
            <a:off x="8049768" y="2331720"/>
            <a:ext cx="3361944"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49768" y="2331720"/>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401556"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01556"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8177784" y="3429000"/>
            <a:ext cx="3105912" cy="365760"/>
          </a:xfrm>
          <a:prstGeom prst="rect">
            <a:avLst/>
          </a:prstGeom>
          <a:noFill/>
        </p:spPr>
        <p:txBody>
          <a:bodyPr wrap="square" anchor="t">
            <a:spAutoFit/>
          </a:bodyPr>
          <a:lstStyle/>
          <a:p>
            <a:pPr algn="ctr">
              <a:spcAft>
                <a:spcPts val="400"/>
              </a:spcAft>
            </a:pPr>
            <a:r>
              <a:rPr sz="1250" b="1">
                <a:solidFill>
                  <a:srgbClr val="161B26"/>
                </a:solidFill>
                <a:latin typeface="Arial"/>
              </a:rPr>
              <a:t>Create Content</a:t>
            </a:r>
          </a:p>
        </p:txBody>
      </p:sp>
      <p:sp>
        <p:nvSpPr>
          <p:cNvPr id="26" name="TextBox 25"/>
          <p:cNvSpPr txBox="1"/>
          <p:nvPr/>
        </p:nvSpPr>
        <p:spPr>
          <a:xfrm>
            <a:off x="8177784" y="3813048"/>
            <a:ext cx="3105912" cy="1280160"/>
          </a:xfrm>
          <a:prstGeom prst="rect">
            <a:avLst/>
          </a:prstGeom>
          <a:noFill/>
        </p:spPr>
        <p:txBody>
          <a:bodyPr wrap="square" anchor="t">
            <a:spAutoFit/>
          </a:bodyPr>
          <a:lstStyle/>
          <a:p>
            <a:pPr algn="ctr">
              <a:spcAft>
                <a:spcPts val="400"/>
              </a:spcAft>
            </a:pPr>
            <a:r>
              <a:rPr sz="1050" b="0">
                <a:solidFill>
                  <a:srgbClr val="5B6372"/>
                </a:solidFill>
                <a:latin typeface="Arial"/>
              </a:rPr>
              <a:t>Develop compelling, research-backed stories.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191</a:t>
            </a:r>
          </a:p>
        </p:txBody>
      </p:sp>
    </p:spTree>
  </p:cSld>
  <p:clrMapOvr>
    <a:masterClrMapping/>
  </p:clrMapOvr>
  <p:transition spd="med">
    <p:fade/>
  </p:transition>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LU4 · T5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Output Metrics vs Outcome Metrics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Output Metrics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Outcome Metrics</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Reach — total audience exposure</a:t>
            </a:r>
          </a:p>
          <a:p>
            <a:pPr>
              <a:spcAft>
                <a:spcPts val="1000"/>
              </a:spcAft>
            </a:pPr>
            <a:r>
              <a:rPr sz="1600" b="0">
                <a:solidFill>
                  <a:srgbClr val="161B26"/>
                </a:solidFill>
                <a:latin typeface="Arial"/>
              </a:rPr>
              <a:t>•  Impressions — content visibility metrics</a:t>
            </a:r>
          </a:p>
          <a:p>
            <a:pPr>
              <a:spcAft>
                <a:spcPts val="1000"/>
              </a:spcAft>
            </a:pPr>
            <a:r>
              <a:rPr sz="1600" b="0">
                <a:solidFill>
                  <a:srgbClr val="161B26"/>
                </a:solidFill>
                <a:latin typeface="Arial"/>
              </a:rPr>
              <a:t>•  Volume — quantity of coverage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Business Impact — revenue and growth correlation</a:t>
            </a:r>
          </a:p>
          <a:p>
            <a:pPr>
              <a:spcAft>
                <a:spcPts val="1000"/>
              </a:spcAft>
            </a:pPr>
            <a:r>
              <a:rPr sz="1600" b="0">
                <a:solidFill>
                  <a:srgbClr val="161B26"/>
                </a:solidFill>
                <a:latin typeface="Arial"/>
              </a:rPr>
              <a:t>•  Behaviour Change — audience action and engagement</a:t>
            </a:r>
          </a:p>
          <a:p>
            <a:pPr>
              <a:spcAft>
                <a:spcPts val="1000"/>
              </a:spcAft>
            </a:pPr>
            <a:r>
              <a:rPr sz="1600" b="0">
                <a:solidFill>
                  <a:srgbClr val="161B26"/>
                </a:solidFill>
                <a:latin typeface="Arial"/>
              </a:rPr>
              <a:t>•  Quality Metrics — message penetration and sentiment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192</a:t>
            </a:r>
          </a:p>
        </p:txBody>
      </p:sp>
      <p:sp>
        <p:nvSpPr>
          <p:cNvPr id="16" name="TextBox 15"/>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AMEC Integrated Evaluation Framework; Barcelona Principles 4.0 (2025)</a:t>
            </a:r>
          </a:p>
        </p:txBody>
      </p:sp>
    </p:spTree>
  </p:cSld>
  <p:clrMapOvr>
    <a:masterClrMapping/>
  </p:clrMapOvr>
  <p:transition spd="med">
    <p:fade/>
  </p:transition>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LU4 · T5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AMEC Evaluation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Objectives</a:t>
            </a:r>
          </a:p>
          <a:p>
            <a:pPr algn="l">
              <a:spcAft>
                <a:spcPts val="300"/>
              </a:spcAft>
            </a:pPr>
            <a:r>
              <a:rPr sz="1200" b="0">
                <a:solidFill>
                  <a:srgbClr val="5B6372"/>
                </a:solidFill>
                <a:latin typeface="Arial"/>
              </a:rPr>
              <a:t>Set what the campaign is meant to change, not just what it will publish.</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Inputs</a:t>
            </a:r>
          </a:p>
          <a:p>
            <a:pPr algn="l">
              <a:spcAft>
                <a:spcPts val="300"/>
              </a:spcAft>
            </a:pPr>
            <a:r>
              <a:rPr sz="1200" b="0">
                <a:solidFill>
                  <a:srgbClr val="5B6372"/>
                </a:solidFill>
                <a:latin typeface="Arial"/>
              </a:rPr>
              <a:t>Budget, planning and content committed before anything goes live.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Outputs</a:t>
            </a:r>
          </a:p>
          <a:p>
            <a:pPr algn="l">
              <a:spcAft>
                <a:spcPts val="300"/>
              </a:spcAft>
            </a:pPr>
            <a:r>
              <a:rPr sz="1200" b="0">
                <a:solidFill>
                  <a:srgbClr val="5B6372"/>
                </a:solidFill>
                <a:latin typeface="Arial"/>
              </a:rPr>
              <a:t>What was actually distributed — releases, posts, pitches sent.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Outcomes</a:t>
            </a:r>
          </a:p>
          <a:p>
            <a:pPr algn="l">
              <a:spcAft>
                <a:spcPts val="300"/>
              </a:spcAft>
            </a:pPr>
            <a:r>
              <a:rPr sz="1200" b="0">
                <a:solidFill>
                  <a:srgbClr val="5B6372"/>
                </a:solidFill>
                <a:latin typeface="Arial"/>
              </a:rPr>
              <a:t>What the audience did as a result — recall, sentiment shift, enquiries.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Impact</a:t>
            </a:r>
          </a:p>
          <a:p>
            <a:pPr algn="l">
              <a:spcAft>
                <a:spcPts val="300"/>
              </a:spcAft>
            </a:pPr>
            <a:r>
              <a:rPr sz="1200" b="0">
                <a:solidFill>
                  <a:srgbClr val="5B6372"/>
                </a:solidFill>
                <a:latin typeface="Arial"/>
              </a:rPr>
              <a:t>The business result — sales lift, reputation recovery — that feeds the next round of objectives.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193</a:t>
            </a:r>
          </a:p>
        </p:txBody>
      </p:sp>
      <p:sp>
        <p:nvSpPr>
          <p:cNvPr id="35" name="TextBox 34"/>
          <p:cNvSpPr txBox="1"/>
          <p:nvPr/>
        </p:nvSpPr>
        <p:spPr>
          <a:xfrm>
            <a:off x="777240" y="6263640"/>
            <a:ext cx="10607040" cy="274320"/>
          </a:xfrm>
          <a:prstGeom prst="rect">
            <a:avLst/>
          </a:prstGeom>
          <a:noFill/>
        </p:spPr>
        <p:txBody>
          <a:bodyPr wrap="square" anchor="t">
            <a:spAutoFit/>
          </a:bodyPr>
          <a:lstStyle/>
          <a:p>
            <a:pPr algn="l">
              <a:spcAft>
                <a:spcPts val="400"/>
              </a:spcAft>
            </a:pPr>
            <a:r>
              <a:rPr sz="1000" b="0">
                <a:solidFill>
                  <a:srgbClr val="5B6372"/>
                </a:solidFill>
                <a:latin typeface="Arial"/>
              </a:rPr>
              <a:t>Source: AMEC Integrated Evaluation Framework; Barcelona Principles 4.0 (2025)</a:t>
            </a:r>
          </a:p>
        </p:txBody>
      </p:sp>
    </p:spTree>
  </p:cSld>
  <p:clrMapOvr>
    <a:masterClrMapping/>
  </p:clrMapOvr>
  <p:transition spd="med">
    <p:fade/>
  </p:transition>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LU4 · T5 · REAL-WORLD EXAMPLE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Two Decades of Tracked Impact, Not Just One Campaign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206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28016" cy="42062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97280" y="2103120"/>
            <a:ext cx="2834640"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103120"/>
            <a:ext cx="2834640" cy="502920"/>
          </a:xfrm>
          <a:prstGeom prst="rect">
            <a:avLst/>
          </a:prstGeom>
          <a:noFill/>
        </p:spPr>
        <p:txBody>
          <a:bodyPr wrap="square" anchor="ctr">
            <a:spAutoFit/>
          </a:bodyPr>
          <a:lstStyle/>
          <a:p>
            <a:pPr algn="ctr">
              <a:spcAft>
                <a:spcPts val="400"/>
              </a:spcAft>
            </a:pPr>
            <a:r>
              <a:rPr sz="1300" b="1">
                <a:solidFill>
                  <a:srgbClr val="FFFFFF"/>
                </a:solidFill>
                <a:latin typeface="Arial"/>
              </a:rPr>
              <a:t>REAL-WORLD EXAMPLE</a:t>
            </a:r>
          </a:p>
        </p:txBody>
      </p:sp>
      <p:sp>
        <p:nvSpPr>
          <p:cNvPr id="11" name="TextBox 10"/>
          <p:cNvSpPr txBox="1"/>
          <p:nvPr/>
        </p:nvSpPr>
        <p:spPr>
          <a:xfrm>
            <a:off x="1097280" y="2880360"/>
            <a:ext cx="9966960" cy="640080"/>
          </a:xfrm>
          <a:prstGeom prst="rect">
            <a:avLst/>
          </a:prstGeom>
          <a:noFill/>
        </p:spPr>
        <p:txBody>
          <a:bodyPr wrap="square" anchor="t">
            <a:spAutoFit/>
          </a:bodyPr>
          <a:lstStyle/>
          <a:p>
            <a:pPr algn="l">
              <a:spcAft>
                <a:spcPts val="400"/>
              </a:spcAft>
            </a:pPr>
            <a:r>
              <a:rPr sz="2600" b="1">
                <a:solidFill>
                  <a:srgbClr val="161B26"/>
                </a:solidFill>
                <a:latin typeface="Arial"/>
              </a:rPr>
              <a:t>Dove</a:t>
            </a:r>
          </a:p>
        </p:txBody>
      </p:sp>
      <p:sp>
        <p:nvSpPr>
          <p:cNvPr id="12" name="TextBox 11"/>
          <p:cNvSpPr txBox="1"/>
          <p:nvPr/>
        </p:nvSpPr>
        <p:spPr>
          <a:xfrm>
            <a:off x="1097280" y="3611880"/>
            <a:ext cx="9966960" cy="2194560"/>
          </a:xfrm>
          <a:prstGeom prst="rect">
            <a:avLst/>
          </a:prstGeom>
          <a:noFill/>
        </p:spPr>
        <p:txBody>
          <a:bodyPr wrap="square" anchor="t">
            <a:spAutoFit/>
          </a:bodyPr>
          <a:lstStyle/>
          <a:p>
            <a:pPr algn="l">
              <a:spcAft>
                <a:spcPts val="400"/>
              </a:spcAft>
            </a:pPr>
            <a:r>
              <a:rPr sz="1600" b="0">
                <a:solidFill>
                  <a:srgbClr val="5B6372"/>
                </a:solidFill>
                <a:latin typeface="Arial"/>
              </a:rPr>
              <a:t>Unilever's Dove "Real Beauty" campaign is one of the most measured PR campaigns in marketing history — tracked for over 20 years against brand-trust and sales metrics, the same Outcomes-to-Impact discipline an AMEC-style audit asks Nimbus to apply.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194</a:t>
            </a:r>
          </a:p>
        </p:txBody>
      </p:sp>
    </p:spTree>
  </p:cSld>
  <p:clrMapOvr>
    <a:masterClrMapping/>
  </p:clrMapOvr>
  <p:transition spd="med">
    <p:fade/>
  </p:transition>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LO4 · LU4 · T5 · ACTIVITY 17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PR Campaign Audit Exercise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CASE STUDY</a:t>
            </a:r>
          </a:p>
        </p:txBody>
      </p:sp>
      <p:sp>
        <p:nvSpPr>
          <p:cNvPr id="9" name="Rectangle 8"/>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2" name="TextBox 11"/>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It's now two months after the 5th-anniversary relaunch. The Board has seen the KPI dashboard designed in the last activity, and the numbers are mixed: impressions are up sharply, but the "doesn't feel personal anymore" sentiment has only partly recovered, and one retail partner is still hesitant to expand shelf space.</a:t>
            </a:r>
          </a:p>
          <a:p>
            <a:pPr algn="l">
              <a:spcAft>
                <a:spcPts val="800"/>
              </a:spcAft>
            </a:pPr>
            <a:r>
              <a:rPr sz="1450" b="0">
                <a:solidFill>
                  <a:srgbClr val="161B26"/>
                </a:solidFill>
                <a:latin typeface="Arial"/>
              </a:rPr>
              <a:t>The founder wants one final audit before she reports to the Board — not a scorecard of what Nimbus did, but a verdict on whether the relaunch campaign actually worked, and three concrete recommendations for what happens next.</a:t>
            </a:r>
          </a:p>
          <a:p>
            <a:pPr algn="l">
              <a:spcAft>
                <a:spcPts val="800"/>
              </a:spcAft>
            </a:pPr>
            <a:r>
              <a:rPr sz="1450" b="0">
                <a:solidFill>
                  <a:srgbClr val="161B26"/>
                </a:solidFill>
                <a:latin typeface="Arial"/>
              </a:rPr>
              <a:t>This is the same audit the Board will expect Nimbus to repeat after every future campaign — so your table isn't just closing out the relaunch, it's building the habit the brand will run on going forward.</a:t>
            </a:r>
          </a:p>
        </p:txBody>
      </p:sp>
      <p:sp>
        <p:nvSpPr>
          <p:cNvPr id="13" name="Rectangle 12"/>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An AMEC-based campaign audit (Inputs/Outputs/Outcomes/Impact) with three stage-specific recommendations for the next campaign</a:t>
            </a:r>
          </a:p>
        </p:txBody>
      </p:sp>
      <p:sp>
        <p:nvSpPr>
          <p:cNvPr id="15" name="TextBox 14"/>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25 minutes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195</a:t>
            </a:r>
          </a:p>
        </p:txBody>
      </p:sp>
    </p:spTree>
  </p:cSld>
  <p:clrMapOvr>
    <a:masterClrMapping/>
  </p:clrMapOvr>
  <p:transition spd="med">
    <p:fade/>
  </p:transition>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LO4 · LU4 · T5 · ACTIVITY 17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PR Campaign Audit Exercise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8" name="Rectangle 7"/>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2" name="TextBox 11"/>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Run the relaunch campaign through AMEC's Inputs → Outputs → Outcomes → Impact chain — at which stage does the evidence get weakest?</a:t>
            </a:r>
          </a:p>
        </p:txBody>
      </p:sp>
      <p:sp>
        <p:nvSpPr>
          <p:cNvPr id="13" name="Rectangle 12"/>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7" name="TextBox 16"/>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Impressions are up but the "feels personal" sentiment has only partly recovered — is that an Outputs success but an Outcomes failure, or something else?</a:t>
            </a:r>
          </a:p>
        </p:txBody>
      </p:sp>
      <p:sp>
        <p:nvSpPr>
          <p:cNvPr id="18" name="Rectangle 17"/>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would you tell the founder is the single biggest gap between what Nimbus measured and what the Board actually needed to know?</a:t>
            </a:r>
          </a:p>
        </p:txBody>
      </p:sp>
      <p:sp>
        <p:nvSpPr>
          <p:cNvPr id="23" name="Rectangle 22"/>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7" name="TextBox 26"/>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three recommendations would you make for the next campaign, and which AMEC stage does each one fix?</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196</a:t>
            </a:r>
          </a:p>
        </p:txBody>
      </p:sp>
    </p:spTree>
  </p:cSld>
  <p:clrMapOvr>
    <a:masterClrMapping/>
  </p:clrMapOvr>
  <p:transition spd="med">
    <p:fade/>
  </p:transition>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LO4 · LU4 · T5 · ACTIVITY 17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PR Campaign Audit Exercise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10" name="TextBox 9"/>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Looking back across all five LU4 activities, which measurement habit would have caught today's gap earliest — the reputation audit, the brand-health scorecard, or the KPI dashboard?</a:t>
            </a:r>
          </a:p>
          <a:p>
            <a:pPr>
              <a:spcAft>
                <a:spcPts val="900"/>
              </a:spcAft>
            </a:pPr>
            <a:r>
              <a:rPr sz="1450" b="0">
                <a:solidFill>
                  <a:srgbClr val="161B26"/>
                </a:solidFill>
                <a:latin typeface="Arial"/>
              </a:rPr>
              <a:t>•  Did your table's recommendations fix the root cause, or just add another metric to track?</a:t>
            </a:r>
          </a:p>
          <a:p>
            <a:pPr>
              <a:spcAft>
                <a:spcPts val="900"/>
              </a:spcAft>
            </a:pPr>
            <a:r>
              <a:rPr sz="1450" b="0">
                <a:solidFill>
                  <a:srgbClr val="161B26"/>
                </a:solidFill>
                <a:latin typeface="Arial"/>
              </a:rPr>
              <a:t>•  If Nimbus only adopts one habit from this whole course to run every future campaign by, what should it be?</a:t>
            </a:r>
          </a:p>
        </p:txBody>
      </p:sp>
      <p:sp>
        <p:nvSpPr>
          <p:cNvPr id="11" name="Rectangle 10"/>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3" name="TextBox 12"/>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Every group can map the relaunch campaign to all four AMEC stages (Inputs, Outputs, Outcomes, Impact), name the weakest stage with evidence, and give three recommendations that each fix a different stage — not three versions of the same idea.</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197</a:t>
            </a:r>
          </a:p>
        </p:txBody>
      </p:sp>
    </p:spTree>
  </p:cSld>
  <p:clrMapOvr>
    <a:masterClrMapping/>
  </p:clrMapOvr>
  <p:transition spd="med">
    <p:fade/>
  </p:transition>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LU4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Recap — Branding Effectiveness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Platform Reputation Audit</a:t>
            </a:r>
          </a:p>
          <a:p>
            <a:pPr algn="l">
              <a:spcAft>
                <a:spcPts val="300"/>
              </a:spcAft>
            </a:pPr>
            <a:r>
              <a:rPr sz="1200" b="0">
                <a:solidFill>
                  <a:srgbClr val="5B6372"/>
                </a:solidFill>
                <a:latin typeface="Arial"/>
              </a:rPr>
              <a:t>You can now: Identify measures or indicators of the organisation's reputation on different platforms.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Brand Health Assessment</a:t>
            </a:r>
          </a:p>
          <a:p>
            <a:pPr algn="l">
              <a:spcAft>
                <a:spcPts val="300"/>
              </a:spcAft>
            </a:pPr>
            <a:r>
              <a:rPr sz="1200" b="0">
                <a:solidFill>
                  <a:srgbClr val="5B6372"/>
                </a:solidFill>
                <a:latin typeface="Arial"/>
              </a:rPr>
              <a:t>You can now: Recognise the indicators of successful branding.</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 Crisis Response Plan</a:t>
            </a:r>
          </a:p>
          <a:p>
            <a:pPr algn="l">
              <a:spcAft>
                <a:spcPts val="300"/>
              </a:spcAft>
            </a:pPr>
            <a:r>
              <a:rPr sz="1200" b="0">
                <a:solidFill>
                  <a:srgbClr val="5B6372"/>
                </a:solidFill>
                <a:latin typeface="Arial"/>
              </a:rPr>
              <a:t>You can now: Apply public-relations tactics.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KPI Dashboard Design</a:t>
            </a:r>
          </a:p>
          <a:p>
            <a:pPr algn="l">
              <a:spcAft>
                <a:spcPts val="300"/>
              </a:spcAft>
            </a:pPr>
            <a:r>
              <a:rPr sz="1200" b="0">
                <a:solidFill>
                  <a:srgbClr val="5B6372"/>
                </a:solidFill>
                <a:latin typeface="Arial"/>
              </a:rPr>
              <a:t>You can now: Monitor the success of the brand against Key Performance Indicators (KPI).</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 Campaign Audit Exercise</a:t>
            </a:r>
          </a:p>
          <a:p>
            <a:pPr algn="l">
              <a:spcAft>
                <a:spcPts val="300"/>
              </a:spcAft>
            </a:pPr>
            <a:r>
              <a:rPr sz="1200" b="0">
                <a:solidFill>
                  <a:srgbClr val="5B6372"/>
                </a:solidFill>
                <a:latin typeface="Arial"/>
              </a:rPr>
              <a:t>You can now: Provide suggestions to improve public-relations campaign effectiveness.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198</a:t>
            </a:r>
          </a:p>
        </p:txBody>
      </p:sp>
    </p:spTree>
  </p:cSld>
  <p:clrMapOvr>
    <a:masterClrMapping/>
  </p:clrMapOvr>
  <p:transition spd="med">
    <p:fade/>
  </p:transition>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LU4 · WHY IT MATTERS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gets measured against a SMART target gets improved. Everything else just gets opinions.</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 Closing thought, LU4: Branding Effectiveness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199</a:t>
            </a:r>
          </a:p>
        </p:txBody>
      </p:sp>
    </p:spTree>
  </p:cSld>
  <p:clrMapOvr>
    <a:masterClrMapping/>
  </p:clrMapOvr>
  <p:transition spd="med">
    <p:fade/>
  </p:transition>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WRAP-UP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Customer-Centric Branding Playbook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2425446" cy="822960"/>
          </a:xfrm>
          <a:prstGeom prst="rect">
            <a:avLst/>
          </a:prstGeom>
          <a:noFill/>
        </p:spPr>
        <p:txBody>
          <a:bodyPr wrap="square" anchor="t">
            <a:spAutoFit/>
          </a:bodyPr>
          <a:lstStyle/>
          <a:p>
            <a:pPr algn="l">
              <a:spcAft>
                <a:spcPts val="400"/>
              </a:spcAft>
            </a:pPr>
            <a:r>
              <a:rPr sz="4400" b="1">
                <a:solidFill>
                  <a:srgbClr val="D7DFEA"/>
                </a:solidFill>
                <a:latin typeface="Arial"/>
              </a:rPr>
              <a:t>01</a:t>
            </a:r>
          </a:p>
        </p:txBody>
      </p:sp>
      <p:sp>
        <p:nvSpPr>
          <p:cNvPr id="8" name="TextBox 7"/>
          <p:cNvSpPr txBox="1"/>
          <p:nvPr/>
        </p:nvSpPr>
        <p:spPr>
          <a:xfrm>
            <a:off x="777240" y="2697480"/>
            <a:ext cx="2425446" cy="685800"/>
          </a:xfrm>
          <a:prstGeom prst="rect">
            <a:avLst/>
          </a:prstGeom>
          <a:noFill/>
        </p:spPr>
        <p:txBody>
          <a:bodyPr wrap="square" anchor="t">
            <a:spAutoFit/>
          </a:bodyPr>
          <a:lstStyle/>
          <a:p>
            <a:pPr algn="l">
              <a:spcAft>
                <a:spcPts val="400"/>
              </a:spcAft>
            </a:pPr>
            <a:r>
              <a:rPr sz="1600" b="1">
                <a:solidFill>
                  <a:srgbClr val="1F6FEB"/>
                </a:solidFill>
                <a:latin typeface="Arial"/>
              </a:rPr>
              <a:t>Map Before You Message</a:t>
            </a:r>
          </a:p>
        </p:txBody>
      </p:sp>
      <p:sp>
        <p:nvSpPr>
          <p:cNvPr id="9" name="TextBox 8"/>
          <p:cNvSpPr txBox="1"/>
          <p:nvPr/>
        </p:nvSpPr>
        <p:spPr>
          <a:xfrm>
            <a:off x="777240" y="3401568"/>
            <a:ext cx="2425446" cy="1737360"/>
          </a:xfrm>
          <a:prstGeom prst="rect">
            <a:avLst/>
          </a:prstGeom>
          <a:noFill/>
        </p:spPr>
        <p:txBody>
          <a:bodyPr wrap="square" anchor="t">
            <a:spAutoFit/>
          </a:bodyPr>
          <a:lstStyle/>
          <a:p>
            <a:pPr algn="l">
              <a:spcAft>
                <a:spcPts val="400"/>
              </a:spcAft>
            </a:pPr>
            <a:r>
              <a:rPr sz="1200" b="0">
                <a:solidFill>
                  <a:srgbClr val="161B26"/>
                </a:solidFill>
                <a:latin typeface="Arial"/>
              </a:rPr>
              <a:t>Know every stakeholder's real power, interest and concern before you speak to them (LU1).</a:t>
            </a:r>
          </a:p>
        </p:txBody>
      </p:sp>
      <p:sp>
        <p:nvSpPr>
          <p:cNvPr id="10" name="TextBox 9"/>
          <p:cNvSpPr txBox="1"/>
          <p:nvPr/>
        </p:nvSpPr>
        <p:spPr>
          <a:xfrm>
            <a:off x="3513582" y="1828800"/>
            <a:ext cx="2425446" cy="822960"/>
          </a:xfrm>
          <a:prstGeom prst="rect">
            <a:avLst/>
          </a:prstGeom>
          <a:noFill/>
        </p:spPr>
        <p:txBody>
          <a:bodyPr wrap="square" anchor="t">
            <a:spAutoFit/>
          </a:bodyPr>
          <a:lstStyle/>
          <a:p>
            <a:pPr algn="l">
              <a:spcAft>
                <a:spcPts val="400"/>
              </a:spcAft>
            </a:pPr>
            <a:r>
              <a:rPr sz="4400" b="1">
                <a:solidFill>
                  <a:srgbClr val="D7DFEA"/>
                </a:solidFill>
                <a:latin typeface="Arial"/>
              </a:rPr>
              <a:t>02</a:t>
            </a:r>
          </a:p>
        </p:txBody>
      </p:sp>
      <p:sp>
        <p:nvSpPr>
          <p:cNvPr id="11" name="TextBox 10"/>
          <p:cNvSpPr txBox="1"/>
          <p:nvPr/>
        </p:nvSpPr>
        <p:spPr>
          <a:xfrm>
            <a:off x="3513582" y="2697480"/>
            <a:ext cx="2425446" cy="685800"/>
          </a:xfrm>
          <a:prstGeom prst="rect">
            <a:avLst/>
          </a:prstGeom>
          <a:noFill/>
        </p:spPr>
        <p:txBody>
          <a:bodyPr wrap="square" anchor="t">
            <a:spAutoFit/>
          </a:bodyPr>
          <a:lstStyle/>
          <a:p>
            <a:pPr algn="l">
              <a:spcAft>
                <a:spcPts val="400"/>
              </a:spcAft>
            </a:pPr>
            <a:r>
              <a:rPr sz="1600" b="1">
                <a:solidFill>
                  <a:srgbClr val="10B981"/>
                </a:solidFill>
                <a:latin typeface="Arial"/>
              </a:rPr>
              <a:t>Listen Before You Assume</a:t>
            </a:r>
          </a:p>
        </p:txBody>
      </p:sp>
      <p:sp>
        <p:nvSpPr>
          <p:cNvPr id="12" name="TextBox 11"/>
          <p:cNvSpPr txBox="1"/>
          <p:nvPr/>
        </p:nvSpPr>
        <p:spPr>
          <a:xfrm>
            <a:off x="3513582" y="3401568"/>
            <a:ext cx="2425446" cy="1737360"/>
          </a:xfrm>
          <a:prstGeom prst="rect">
            <a:avLst/>
          </a:prstGeom>
          <a:noFill/>
        </p:spPr>
        <p:txBody>
          <a:bodyPr wrap="square" anchor="t">
            <a:spAutoFit/>
          </a:bodyPr>
          <a:lstStyle/>
          <a:p>
            <a:pPr algn="l">
              <a:spcAft>
                <a:spcPts val="400"/>
              </a:spcAft>
            </a:pPr>
            <a:r>
              <a:rPr sz="1200" b="0">
                <a:solidFill>
                  <a:srgbClr val="161B26"/>
                </a:solidFill>
                <a:latin typeface="Arial"/>
              </a:rPr>
              <a:t>Capture the actual customer perception gap through active listening, not internal belief (LU2).</a:t>
            </a:r>
          </a:p>
        </p:txBody>
      </p:sp>
      <p:sp>
        <p:nvSpPr>
          <p:cNvPr id="13" name="TextBox 12"/>
          <p:cNvSpPr txBox="1"/>
          <p:nvPr/>
        </p:nvSpPr>
        <p:spPr>
          <a:xfrm>
            <a:off x="6249924" y="1828800"/>
            <a:ext cx="2425446" cy="822960"/>
          </a:xfrm>
          <a:prstGeom prst="rect">
            <a:avLst/>
          </a:prstGeom>
          <a:noFill/>
        </p:spPr>
        <p:txBody>
          <a:bodyPr wrap="square" anchor="t">
            <a:spAutoFit/>
          </a:bodyPr>
          <a:lstStyle/>
          <a:p>
            <a:pPr algn="l">
              <a:spcAft>
                <a:spcPts val="400"/>
              </a:spcAft>
            </a:pPr>
            <a:r>
              <a:rPr sz="4400" b="1">
                <a:solidFill>
                  <a:srgbClr val="D7DFEA"/>
                </a:solidFill>
                <a:latin typeface="Arial"/>
              </a:rPr>
              <a:t>03</a:t>
            </a:r>
          </a:p>
        </p:txBody>
      </p:sp>
      <p:sp>
        <p:nvSpPr>
          <p:cNvPr id="14" name="TextBox 13"/>
          <p:cNvSpPr txBox="1"/>
          <p:nvPr/>
        </p:nvSpPr>
        <p:spPr>
          <a:xfrm>
            <a:off x="6249924" y="2697480"/>
            <a:ext cx="2425446" cy="685800"/>
          </a:xfrm>
          <a:prstGeom prst="rect">
            <a:avLst/>
          </a:prstGeom>
          <a:noFill/>
        </p:spPr>
        <p:txBody>
          <a:bodyPr wrap="square" anchor="t">
            <a:spAutoFit/>
          </a:bodyPr>
          <a:lstStyle/>
          <a:p>
            <a:pPr algn="l">
              <a:spcAft>
                <a:spcPts val="400"/>
              </a:spcAft>
            </a:pPr>
            <a:r>
              <a:rPr sz="1600" b="1">
                <a:solidFill>
                  <a:srgbClr val="7C3AED"/>
                </a:solidFill>
                <a:latin typeface="Arial"/>
              </a:rPr>
              <a:t>Brand Before You Campaign</a:t>
            </a:r>
          </a:p>
        </p:txBody>
      </p:sp>
      <p:sp>
        <p:nvSpPr>
          <p:cNvPr id="15" name="TextBox 14"/>
          <p:cNvSpPr txBox="1"/>
          <p:nvPr/>
        </p:nvSpPr>
        <p:spPr>
          <a:xfrm>
            <a:off x="6249924" y="3401568"/>
            <a:ext cx="2425446" cy="1737360"/>
          </a:xfrm>
          <a:prstGeom prst="rect">
            <a:avLst/>
          </a:prstGeom>
          <a:noFill/>
        </p:spPr>
        <p:txBody>
          <a:bodyPr wrap="square" anchor="t">
            <a:spAutoFit/>
          </a:bodyPr>
          <a:lstStyle/>
          <a:p>
            <a:pPr algn="l">
              <a:spcAft>
                <a:spcPts val="400"/>
              </a:spcAft>
            </a:pPr>
            <a:r>
              <a:rPr sz="1200" b="0">
                <a:solidFill>
                  <a:srgbClr val="161B26"/>
                </a:solidFill>
                <a:latin typeface="Arial"/>
              </a:rPr>
              <a:t>Anchor every awareness and PR activity to one consistent brand positioning (LU3).</a:t>
            </a:r>
          </a:p>
        </p:txBody>
      </p:sp>
      <p:sp>
        <p:nvSpPr>
          <p:cNvPr id="16" name="TextBox 15"/>
          <p:cNvSpPr txBox="1"/>
          <p:nvPr/>
        </p:nvSpPr>
        <p:spPr>
          <a:xfrm>
            <a:off x="8986266" y="1828800"/>
            <a:ext cx="2425446" cy="822960"/>
          </a:xfrm>
          <a:prstGeom prst="rect">
            <a:avLst/>
          </a:prstGeom>
          <a:noFill/>
        </p:spPr>
        <p:txBody>
          <a:bodyPr wrap="square" anchor="t">
            <a:spAutoFit/>
          </a:bodyPr>
          <a:lstStyle/>
          <a:p>
            <a:pPr algn="l">
              <a:spcAft>
                <a:spcPts val="400"/>
              </a:spcAft>
            </a:pPr>
            <a:r>
              <a:rPr sz="4400" b="1">
                <a:solidFill>
                  <a:srgbClr val="D7DFEA"/>
                </a:solidFill>
                <a:latin typeface="Arial"/>
              </a:rPr>
              <a:t>04</a:t>
            </a:r>
          </a:p>
        </p:txBody>
      </p:sp>
      <p:sp>
        <p:nvSpPr>
          <p:cNvPr id="17" name="TextBox 16"/>
          <p:cNvSpPr txBox="1"/>
          <p:nvPr/>
        </p:nvSpPr>
        <p:spPr>
          <a:xfrm>
            <a:off x="8986266" y="2697480"/>
            <a:ext cx="2425446" cy="685800"/>
          </a:xfrm>
          <a:prstGeom prst="rect">
            <a:avLst/>
          </a:prstGeom>
          <a:noFill/>
        </p:spPr>
        <p:txBody>
          <a:bodyPr wrap="square" anchor="t">
            <a:spAutoFit/>
          </a:bodyPr>
          <a:lstStyle/>
          <a:p>
            <a:pPr algn="l">
              <a:spcAft>
                <a:spcPts val="400"/>
              </a:spcAft>
            </a:pPr>
            <a:r>
              <a:rPr sz="1600" b="1">
                <a:solidFill>
                  <a:srgbClr val="F59E0B"/>
                </a:solidFill>
                <a:latin typeface="Arial"/>
              </a:rPr>
              <a:t>Measure to Improve</a:t>
            </a:r>
          </a:p>
        </p:txBody>
      </p:sp>
      <p:sp>
        <p:nvSpPr>
          <p:cNvPr id="18" name="TextBox 17"/>
          <p:cNvSpPr txBox="1"/>
          <p:nvPr/>
        </p:nvSpPr>
        <p:spPr>
          <a:xfrm>
            <a:off x="8986266" y="3401568"/>
            <a:ext cx="2425446" cy="1737360"/>
          </a:xfrm>
          <a:prstGeom prst="rect">
            <a:avLst/>
          </a:prstGeom>
          <a:noFill/>
        </p:spPr>
        <p:txBody>
          <a:bodyPr wrap="square" anchor="t">
            <a:spAutoFit/>
          </a:bodyPr>
          <a:lstStyle/>
          <a:p>
            <a:pPr algn="l">
              <a:spcAft>
                <a:spcPts val="400"/>
              </a:spcAft>
            </a:pPr>
            <a:r>
              <a:rPr sz="1200" b="0">
                <a:solidFill>
                  <a:srgbClr val="161B26"/>
                </a:solidFill>
                <a:latin typeface="Arial"/>
              </a:rPr>
              <a:t>Track reputation against SMART KPIs and treat every gap as the next action (LU4).</a:t>
            </a:r>
          </a:p>
        </p:txBody>
      </p:sp>
      <p:sp>
        <p:nvSpPr>
          <p:cNvPr id="19" name="Rectangle 18"/>
          <p:cNvSpPr/>
          <p:nvPr/>
        </p:nvSpPr>
        <p:spPr>
          <a:xfrm>
            <a:off x="777240" y="5440680"/>
            <a:ext cx="10634472" cy="7315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5440680"/>
            <a:ext cx="91440" cy="7315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97280" y="5440680"/>
            <a:ext cx="10058400" cy="731520"/>
          </a:xfrm>
          <a:prstGeom prst="rect">
            <a:avLst/>
          </a:prstGeom>
          <a:noFill/>
        </p:spPr>
        <p:txBody>
          <a:bodyPr wrap="square" anchor="ctr">
            <a:spAutoFit/>
          </a:bodyPr>
          <a:lstStyle/>
          <a:p>
            <a:pPr algn="l">
              <a:spcAft>
                <a:spcPts val="400"/>
              </a:spcAft>
            </a:pPr>
            <a:r>
              <a:rPr sz="1600" b="1">
                <a:solidFill>
                  <a:srgbClr val="161B26"/>
                </a:solidFill>
                <a:latin typeface="Arial"/>
              </a:rPr>
              <a:t>Trust cannot be retrofitted after the relaunch. It has to be engineered into every stakeholder, every customer conversation, every campaign and every KPI along the way.</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200</a:t>
            </a:r>
          </a:p>
        </p:txBody>
      </p:sp>
    </p:spTree>
  </p:cSld>
  <p:clrMapOvr>
    <a:masterClrMapping/>
  </p:clrMapOvr>
  <p:transition spd="med">
    <p:fade/>
  </p:transition>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201</a:t>
            </a:r>
          </a:p>
        </p:txBody>
      </p:sp>
    </p:spTree>
  </p:cSld>
  <p:clrMapOvr>
    <a:masterClrMapping/>
  </p:clrMapOvr>
  <p:transition spd="med">
    <p:fade/>
  </p:transition>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What You Achieved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Stakeholders &amp; Organisation</a:t>
            </a:r>
          </a:p>
          <a:p>
            <a:pPr algn="l">
              <a:spcAft>
                <a:spcPts val="300"/>
              </a:spcAft>
            </a:pPr>
            <a:r>
              <a:rPr sz="1300" b="0">
                <a:solidFill>
                  <a:srgbClr val="5B6372"/>
                </a:solidFill>
                <a:latin typeface="Arial"/>
              </a:rPr>
              <a:t>Mapped stakeholders and audiences; drafted brand designs and reputation assessments.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Customer Influence</a:t>
            </a:r>
          </a:p>
          <a:p>
            <a:pPr algn="l">
              <a:spcAft>
                <a:spcPts val="300"/>
              </a:spcAft>
            </a:pPr>
            <a:r>
              <a:rPr sz="1300" b="0">
                <a:solidFill>
                  <a:srgbClr val="5B6372"/>
                </a:solidFill>
                <a:latin typeface="Arial"/>
              </a:rPr>
              <a:t>Captured and documented customer perception through active listening.</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Branding in Marketing</a:t>
            </a:r>
          </a:p>
          <a:p>
            <a:pPr algn="l">
              <a:spcAft>
                <a:spcPts val="300"/>
              </a:spcAft>
            </a:pPr>
            <a:r>
              <a:rPr sz="1300" b="0">
                <a:solidFill>
                  <a:srgbClr val="5B6372"/>
                </a:solidFill>
                <a:latin typeface="Arial"/>
              </a:rPr>
              <a:t>Executed branding and PR campaigns aligned to strategy, plan and budget.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Branding Effectiveness</a:t>
            </a:r>
          </a:p>
          <a:p>
            <a:pPr algn="l">
              <a:spcAft>
                <a:spcPts val="300"/>
              </a:spcAft>
            </a:pPr>
            <a:r>
              <a:rPr sz="1300" b="0">
                <a:solidFill>
                  <a:srgbClr val="5B6372"/>
                </a:solidFill>
                <a:latin typeface="Arial"/>
              </a:rPr>
              <a:t>Measured reputation and PR performance against KPIs and proposed improvements.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202</a:t>
            </a:r>
          </a:p>
        </p:txBody>
      </p:sp>
    </p:spTree>
  </p:cSld>
  <p:clrMapOvr>
    <a:masterClrMapping/>
  </p:clrMapOvr>
  <p:transition spd="med">
    <p:fade/>
  </p:transition>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WRAP-UP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Written Assessment (WA)</a:t>
            </a:r>
          </a:p>
          <a:p>
            <a:pPr algn="l">
              <a:spcAft>
                <a:spcPts val="300"/>
              </a:spcAft>
            </a:pPr>
            <a:r>
              <a:rPr sz="1200" b="0">
                <a:solidFill>
                  <a:srgbClr val="5B6372"/>
                </a:solidFill>
                <a:latin typeface="Arial"/>
              </a:rPr>
              <a:t>SAQ — 1 hour, open book.</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Case Study (CS)</a:t>
            </a:r>
          </a:p>
          <a:p>
            <a:pPr algn="l">
              <a:spcAft>
                <a:spcPts val="300"/>
              </a:spcAft>
            </a:pPr>
            <a:r>
              <a:rPr sz="1200" b="0">
                <a:solidFill>
                  <a:srgbClr val="5B6372"/>
                </a:solidFill>
                <a:latin typeface="Arial"/>
              </a:rPr>
              <a:t>1 hour, open book.</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Open Book</a:t>
            </a:r>
          </a:p>
          <a:p>
            <a:pPr algn="l">
              <a:spcAft>
                <a:spcPts val="300"/>
              </a:spcAft>
            </a:pPr>
            <a:r>
              <a:rPr sz="1200" b="0">
                <a:solidFill>
                  <a:srgbClr val="5B6372"/>
                </a:solidFill>
                <a:latin typeface="Arial"/>
              </a:rPr>
              <a:t>Slides, Learner Guide and approved materials only.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Submit</a:t>
            </a:r>
          </a:p>
          <a:p>
            <a:pPr algn="l">
              <a:spcAft>
                <a:spcPts val="300"/>
              </a:spcAft>
            </a:pPr>
            <a:r>
              <a:rPr sz="1200" b="0">
                <a:solidFill>
                  <a:srgbClr val="5B6372"/>
                </a:solidFill>
                <a:latin typeface="Arial"/>
              </a:rPr>
              <a:t>On the LMS — lms-tms.tertiaryinfotech.com</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203</a:t>
            </a:r>
          </a:p>
        </p:txBody>
      </p:sp>
    </p:spTree>
  </p:cSld>
  <p:clrMapOvr>
    <a:masterClrMapping/>
  </p:clrMapOvr>
  <p:transition spd="med">
    <p:fade/>
  </p:transition>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1775"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177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23544"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TRAQOM survey — scan the QR code on the LMS</a:t>
            </a:r>
          </a:p>
        </p:txBody>
      </p:sp>
      <p:sp>
        <p:nvSpPr>
          <p:cNvPr id="12" name="TextBox 11"/>
          <p:cNvSpPr txBox="1"/>
          <p:nvPr/>
        </p:nvSpPr>
        <p:spPr>
          <a:xfrm>
            <a:off x="2666390" y="3497580"/>
            <a:ext cx="310896"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58998"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83533"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8353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105302"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Assessment digital attendance — scan the SSG QR</a:t>
            </a:r>
          </a:p>
        </p:txBody>
      </p:sp>
      <p:sp>
        <p:nvSpPr>
          <p:cNvPr id="18" name="TextBox 17"/>
          <p:cNvSpPr txBox="1"/>
          <p:nvPr/>
        </p:nvSpPr>
        <p:spPr>
          <a:xfrm>
            <a:off x="4848148" y="3497580"/>
            <a:ext cx="310896"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40756"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65291"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652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3" name="TextBox 22"/>
          <p:cNvSpPr txBox="1"/>
          <p:nvPr/>
        </p:nvSpPr>
        <p:spPr>
          <a:xfrm>
            <a:off x="5287060"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Sit WA (SAQ) then the Case Study — open book</a:t>
            </a:r>
          </a:p>
        </p:txBody>
      </p:sp>
      <p:sp>
        <p:nvSpPr>
          <p:cNvPr id="24" name="TextBox 23"/>
          <p:cNvSpPr txBox="1"/>
          <p:nvPr/>
        </p:nvSpPr>
        <p:spPr>
          <a:xfrm>
            <a:off x="7029906" y="3497580"/>
            <a:ext cx="310896"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22514"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22514"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47049"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704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29" name="TextBox 28"/>
          <p:cNvSpPr txBox="1"/>
          <p:nvPr/>
        </p:nvSpPr>
        <p:spPr>
          <a:xfrm>
            <a:off x="7468818"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Submit your answers on the LMS</a:t>
            </a:r>
          </a:p>
        </p:txBody>
      </p:sp>
      <p:sp>
        <p:nvSpPr>
          <p:cNvPr id="30" name="TextBox 29"/>
          <p:cNvSpPr txBox="1"/>
          <p:nvPr/>
        </p:nvSpPr>
        <p:spPr>
          <a:xfrm>
            <a:off x="9211664" y="3497580"/>
            <a:ext cx="310896"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04272"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04272"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128807"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128807"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5" name="TextBox 34"/>
          <p:cNvSpPr txBox="1"/>
          <p:nvPr/>
        </p:nvSpPr>
        <p:spPr>
          <a:xfrm>
            <a:off x="9650576"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Sign the Assessment Summary Record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204</a:t>
            </a:r>
          </a:p>
        </p:txBody>
      </p:sp>
    </p:spTree>
  </p:cSld>
  <p:clrMapOvr>
    <a:masterClrMapping/>
  </p:clrMapOvr>
  <p:transition spd="med">
    <p:fade/>
  </p:transition>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SSG DIGITAL ATTENDANCE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9427464" cy="768096"/>
          </a:xfrm>
          <a:prstGeom prst="rect">
            <a:avLst/>
          </a:prstGeom>
          <a:noFill/>
        </p:spPr>
        <p:txBody>
          <a:bodyPr wrap="square" anchor="ctr">
            <a:spAutoFit/>
          </a:bodyPr>
          <a:lstStyle/>
          <a:p>
            <a:pPr algn="l">
              <a:spcAft>
                <a:spcPts val="400"/>
              </a:spcAft>
            </a:pPr>
            <a:r>
              <a:rPr sz="1500" b="0">
                <a:solidFill>
                  <a:srgbClr val="161B26"/>
                </a:solidFill>
                <a:latin typeface="Arial"/>
              </a:rPr>
              <a:t>It is mandatory to take the AM, PM and Assessment digital attendance for WSQ-funded courses.</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26664"/>
            <a:ext cx="9427464" cy="768096"/>
          </a:xfrm>
          <a:prstGeom prst="rect">
            <a:avLst/>
          </a:prstGeom>
          <a:noFill/>
        </p:spPr>
        <p:txBody>
          <a:bodyPr wrap="square" anchor="ctr">
            <a:spAutoFit/>
          </a:bodyPr>
          <a:lstStyle/>
          <a:p>
            <a:pPr algn="l">
              <a:spcAft>
                <a:spcPts val="400"/>
              </a:spcAft>
            </a:pPr>
            <a:r>
              <a:rPr sz="1500" b="0">
                <a:solidFill>
                  <a:srgbClr val="161B26"/>
                </a:solidFill>
                <a:latin typeface="Arial"/>
              </a:rPr>
              <a:t>The trainer/administrator displays the digital attendance QR code from the SSG portal.</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9427464" cy="768096"/>
          </a:xfrm>
          <a:prstGeom prst="rect">
            <a:avLst/>
          </a:prstGeom>
          <a:noFill/>
        </p:spPr>
        <p:txBody>
          <a:bodyPr wrap="square" anchor="ctr">
            <a:spAutoFit/>
          </a:bodyPr>
          <a:lstStyle/>
          <a:p>
            <a:pPr algn="l">
              <a:spcAft>
                <a:spcPts val="400"/>
              </a:spcAft>
            </a:pPr>
            <a:r>
              <a:rPr sz="1500" b="0">
                <a:solidFill>
                  <a:srgbClr val="161B26"/>
                </a:solidFill>
                <a:latin typeface="Arial"/>
              </a:rPr>
              <a:t>Scan the QR code with your mobile phone camera and submit your attendance.</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30952"/>
            <a:ext cx="9427464" cy="768096"/>
          </a:xfrm>
          <a:prstGeom prst="rect">
            <a:avLst/>
          </a:prstGeom>
          <a:noFill/>
        </p:spPr>
        <p:txBody>
          <a:bodyPr wrap="square" anchor="ctr">
            <a:spAutoFit/>
          </a:bodyPr>
          <a:lstStyle/>
          <a:p>
            <a:pPr algn="l">
              <a:spcAft>
                <a:spcPts val="400"/>
              </a:spcAft>
            </a:pPr>
            <a:r>
              <a:rPr sz="1500" b="0">
                <a:solidFill>
                  <a:srgbClr val="161B26"/>
                </a:solidFill>
                <a:latin typeface="Arial"/>
              </a:rPr>
              <a:t>A minimum of 75% attendance is required to be eligible for assessment and funding.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205</a:t>
            </a:r>
          </a:p>
        </p:txBody>
      </p:sp>
    </p:spTree>
  </p:cSld>
  <p:clrMapOvr>
    <a:masterClrMapping/>
  </p:clrMapOvr>
  <p:transition spd="med">
    <p:fade/>
  </p:transition>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SEE YOU AT THE NEXT ONE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are now equipped to build customer-centric brand communication that earns trust and drives results.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Customer-Centric Branding and Communication Tactics  ·  TGS-2026061321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206</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