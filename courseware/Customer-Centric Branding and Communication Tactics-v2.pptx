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784080" y="658368"/>
            <a:ext cx="16916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822960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WSQ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118872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Customer-Centric Branding and Communication Tactics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TGS-2026061321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v2  ·  7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 / CREDENTIALS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20+ years of training and industry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customer-centric branding, marketing communications and business skills.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Your experience with branding, marketing or communications (if any).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brand you personally admire — and why it works on you.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Actively participate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Respect each other's views: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 for funding eligibility.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ACCREDITATION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Title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Brand Management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Code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ICT-SNM-3002-1.1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Proficiency Level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Level 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Structure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4 Learning Units (LU1–LU4), each mapped to a Learning Outcome.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4 LEARNING UNITS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LU1 — Stakeholders and Organisation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Internal &amp; External Stakeholders · Audience Types · Brand Design · Reputation Assessment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LU2 — Customer Influence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Customer Perceptions · Brand Reputation · Campaign Reception · Active Listening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LU3 — Branding in Marketing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Branding Basics · Role in Marketing · Awareness Campaigns · PR Execution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LU4 — Branding Effectiveness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Reputation Metrics · Success Indicators · PR Tactics · KPI Monitoring · Continuous Improvement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2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 &amp;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Stakeholders, Customer Influence &amp; Branding in Marketing (starts)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LU1: Stakeholders and Organisation (Activities 1–4)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LU2: Customer Influence (Activities 5–8)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LU3: Branding in Marketing — begins (Activities 9–12)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Branding in Marketing (cont'd), Branding Effectiveness &amp; Assessment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LU3: Branding in Marketing — continued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LU4: Branding Effectiveness (Activities 13–17)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Assessment: WA (1h) + Case Study (1h), 4:00–6:00pm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Daily timing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Day 1: 9:30am–6:30pm, 1-hour lunch. Day 2: 9:30am–6:00pm, 45-min lunch (to fit the assessment).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Stakeholders &amp; Organisation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Identify stakeholders/audiences and draft branding designs &amp; reputation assessments.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Customer Influence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Capture and analyse customer insight through active listening.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Branding in Marketing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Execute branding campaigns, events and PR activities that build awareness.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Branding Effectiveness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Evaluate reputation and PR performance against KPIs and recommend improvements.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Place phones and other materials under the table or on the floor.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photos or recording of assessment scripts.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discussion during the assessment.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Use a black/blue pen for hard-copy assessments.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No liquid paper / correction tape.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Scripts are collected when time is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(WA) — Short-Answer Questions (SAQ), 1 hour,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Case Study (CS) — one continuous branding scenario with open-ended tasks, 1 hour, open book.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Format: Open Book —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(per SSG Digital Attendance record) is required to be eligible for assessment and funding. Learners must be assessed as Competent and complete the TRAQOM survey.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An appeal process is available if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 (SAQ) then the Case Study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Courseware &amp;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Everything for the open-book assessment — slides, Learner Guide and submissions — lives on the LMS.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3749039" cy="3566160"/>
          </a:xfrm>
          <a:prstGeom prst="rect">
            <a:avLst/>
          </a:prstGeom>
          <a:solidFill>
            <a:srgbClr val="0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468880"/>
            <a:ext cx="50292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0040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Tertiary Infotech Academy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0332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B8C7E0"/>
                </a:solidFill>
                <a:latin typeface="Arial"/>
              </a:rPr>
              <a:t>LMS and TMS for SSG courses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4297680"/>
            <a:ext cx="182880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4297680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Sign in / OTP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2920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9CDCFE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2148840"/>
            <a:ext cx="6611112" cy="7406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00600" y="2148840"/>
            <a:ext cx="91440" cy="7406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029200" y="2290572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29057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148840"/>
            <a:ext cx="5559552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Sign in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Log in with your registered email (OTP or password).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00600" y="3090672"/>
            <a:ext cx="6611112" cy="7406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00600" y="3090672"/>
            <a:ext cx="91440" cy="7406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29200" y="3232404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323240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090672"/>
            <a:ext cx="5559552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Download materials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Slides and the Learner Guide from the course page — your open-book references.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4032504"/>
            <a:ext cx="6611112" cy="7406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00600" y="4032504"/>
            <a:ext cx="91440" cy="7406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29200" y="4174236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417423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4032504"/>
            <a:ext cx="5559552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Submit answers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Upload your Written Assessment and Case Study answers on the LMS.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4974336"/>
            <a:ext cx="6611112" cy="7406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00600" y="4974336"/>
            <a:ext cx="91440" cy="7406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29200" y="5116068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511606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974336"/>
            <a:ext cx="5559552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TRAQOM survey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Complete the TRAQOM survey via the QR code shown on the LMS.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5870448"/>
            <a:ext cx="10634472" cy="457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" y="5870448"/>
            <a:ext cx="914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870448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LU1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Stakeholders and Organisation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Internal &amp; External Stakeholders · Audience Types · Brand Design · Reputation 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LU1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Stakeholders and Organisation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Internal stakeholders (management, employees) and external stakeholders (customers, partners, investors, media) each hold a different level of influence over — and interest in — the brand.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External audiences segment into customers, partners, investors and media; each needs its own communication approach and message.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Branding designs and ideas should foreground the product or service's attributes and the concrete benefits they deliver to the audience.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Assessing an organisation's reputation on social media and other platforms — reviews, mentions, sentiment — is the starting point for every branding decision.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THE BIG PICTURE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Modern Brand Ecosystem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Four forces now shape how customers trust and choose brands.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The Shift — Philosophy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24328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Moving from product-centric innovation to a customer-back business model (CBM) to drive sustainable growth.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The Mechanics —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6" y="2624328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Abandoning the linear funnel for a non-linear, infinitely looping customer journey.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The Core — Emotion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77740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Engineering authenticity and shared values as the primary engines of brand loyalty and trust.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The Scale —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956" y="4777740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Governing the new frontier where agentic AI acts autonomously on behalf of the brand.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PRODUCT vs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Strategic Paradigm Shift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Customer-centric organisations think, innovate and measure differently.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Product-Centric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Customer-Centric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6032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Core philosophy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“If we build it, they will come”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“Obsession with customer pain points and delight”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45186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5186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Innovation style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High-risk, creates new markets, heavy R&amp;D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68896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Incremental, read-and-react, user research-driven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34340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4340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Risk profile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High tolerance for failure and pivots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8896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Lower risk, focused on continuous feedback loops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23494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23494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Success metric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One-time, big-ticket sales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68896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33488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Lifetime value, reduced churn, Net Promoter Scores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WHY IT PAYS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Economics of Customer Obsession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Firms implementing a customer-experience (CX) approach routinely outperform product-led peers.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3300984" cy="2834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3300984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200" b="1">
                <a:solidFill>
                  <a:srgbClr val="1F6FEB"/>
                </a:solidFill>
                <a:latin typeface="Arial"/>
              </a:rPr>
              <a:t>+49%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20"/>
            <a:ext cx="284378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Faster profit growth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3984" y="2240280"/>
            <a:ext cx="3300984" cy="2834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43984" y="2240280"/>
            <a:ext cx="3300984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4" y="2651760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200" b="1">
                <a:solidFill>
                  <a:srgbClr val="10B981"/>
                </a:solidFill>
                <a:latin typeface="Arial"/>
              </a:rPr>
              <a:t>+41%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3931920"/>
            <a:ext cx="284378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Higher revenue expansion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0728" y="2240280"/>
            <a:ext cx="3300984" cy="2834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8" y="2240280"/>
            <a:ext cx="3300984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0728" y="2651760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200" b="1">
                <a:solidFill>
                  <a:srgbClr val="7C3AED"/>
                </a:solidFill>
                <a:latin typeface="Arial"/>
              </a:rPr>
              <a:t>+51%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3931920"/>
            <a:ext cx="284378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Stronger customer retention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349240"/>
            <a:ext cx="10634472" cy="777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534924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34924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73% of customers now expect companies to treat them as individuals, not numbers — up from just 39% in 2023.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In-Class Activities — Stakeholders and Organisation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663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Activities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709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Stakeholder Influence Mapping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Audience Mapping Workshop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1783080"/>
            <a:ext cx="51663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011680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Activities 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697480"/>
            <a:ext cx="4709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Brand Attribute Mapping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Digital Reputation Audit Exercise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Stakeholder Influence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Your company is launching a new sustainability initiative. Map internal and external stakeholders, assess their influence levels, and design engagement strategies for each group.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0708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0708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List 6 internal and 6 external stakeholders for the sustainability initiative.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1830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95294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95294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2513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513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5022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Rate each stakeholder's influence on a 1–5 scale.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9884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3348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3348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243191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43191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3076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Identify each stakeholder's primary brand concern.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793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31402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31402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61245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1245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41130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Design a specific communication approach for each group.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stakeholder influence matrix (12 stakeholders) with an engagement strategy for each group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25 minutes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Audience Mapping Workshop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Your company is launching a new sustainability product line. Map external audiences and develop targeted messaging strategies for each segment.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Identify four primary external audience segments for the product.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Research the demographic and psychographic profile of each segment.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Create a tailored key message for each segment, emphasising the relevant benefit.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Select the appropriate communication channel(s) for each audience.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Present the audience mapping matrix with its messaging strategy.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 audience mapping matrix covering 4 external segments with tailored messaging and channels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Attribute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Design a brand identity for a new fitness app targeting busy professionals, mapping both hard attributes (features) and soft attributes (lifestyle benefits) into a compelling visual concept.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0708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0708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List 3 hard attributes and 3 soft attributes for the fitness app.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1830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95294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95294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2513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513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5022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Create a visual mood board that represents the brand personality.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9884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3348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3348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243191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43191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3076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Design a logo concept that incorporates the key attributes.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793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31402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31402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61245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1245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41130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Present a brand narrative that connects the features to the benefits.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brand attribute map (3 hard + 3 soft attributes), a mood board and a logo concept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30 minutes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Reputation Audit Exercise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Your organisation has received mixed customer feedback across social platforms. Conduct a reputation assessment to identify improvement opportunities and develop an action plan.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Select three platforms (e.g. Google, Facebook, one competitor platform).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Document 10 recent mentions/reviews per platform.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Categorise each piece of feedback as positive, neutral or negative.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Identify three recurring themes or issues across the feedback.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Develop a targeted response strategy for each theme.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reputation-assessment report covering 3 platforms with sentiment breakdown and an action plan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45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Stakeholders and Organisation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Stakeholder Influence Mapping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Identify internal and external stakeholders influencing the brand.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Audience Mapping Workshop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Recognise the types of external audience and their needs.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Brand Attribute Mapping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Draft branding designs and ideas highlighting the product or service's attributes and benefits.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Digital Reputation Audit Exercise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Assess the organisation's reputation on social media and other platforms.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LU2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Customer Influence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Customer Perceptions · Brand Reputation · Campaign Reception · Active Listening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LU2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Customer Influence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Customers form perceptions of a brand, its products and its services from quality, experience and communication — a gap often exists between what a company believes and what customers actually feel.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Customers actively shape brand reputation through word-of-mouth, reviews and advocacy — their voice can amplify or damage a brand faster than any paid campaign.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Documenting customer reception and the outcome of branding campaigns turns anecdotal feedback into evidence for future campaign decisions.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Active listening — full attention, a structured framework, and paraphrasing without judgement — reveals the customer's true perspective of the organisation.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TWO MENTAL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Marketing Funnel vs the Customer Journey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funnel explains where customers drop off; the journey explains why.</a:t>
            </a:r>
          </a:p>
        </p:txBody>
      </p:sp>
      <p:pic>
        <p:nvPicPr>
          <p:cNvPr id="8" name="Picture 7" descr="bt-funnel-vs-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715" y="2103120"/>
            <a:ext cx="7454265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THE JOURNEY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Mapping the 5-Stage Journey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Awareness → Consideration → Decision → Retention → Advocacy — and advocacy feeds awareness again.</a:t>
            </a:r>
          </a:p>
        </p:txBody>
      </p:sp>
      <p:pic>
        <p:nvPicPr>
          <p:cNvPr id="8" name="Picture 7" descr="bt-journey-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715" y="2103120"/>
            <a:ext cx="7454265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EMOTION DRIVES PERCEPTION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Engine of Loyalty: Emotional Branding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Affect-driven purchasing decisions outpace purely rational choices.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3300984" cy="2834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3300984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200" b="1">
                <a:solidFill>
                  <a:srgbClr val="1F6FEB"/>
                </a:solidFill>
                <a:latin typeface="Arial"/>
              </a:rPr>
              <a:t>45.2%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20"/>
            <a:ext cx="284378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say an emotional connection with a brand is very important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3984" y="2240280"/>
            <a:ext cx="3300984" cy="2834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43984" y="2240280"/>
            <a:ext cx="3300984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4" y="2651760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200" b="1">
                <a:solidFill>
                  <a:srgbClr val="10B981"/>
                </a:solidFill>
                <a:latin typeface="Arial"/>
              </a:rPr>
              <a:t>42%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3931920"/>
            <a:ext cx="284378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associate their favourite brands with trust &amp; reliability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0728" y="2240280"/>
            <a:ext cx="3300984" cy="2834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8" y="2240280"/>
            <a:ext cx="3300984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0728" y="2651760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200" b="1">
                <a:solidFill>
                  <a:srgbClr val="7C3AED"/>
                </a:solidFill>
                <a:latin typeface="Arial"/>
              </a:rPr>
              <a:t>88.1%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3931920"/>
            <a:ext cx="284378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actively choose branded products over non-branded alternatives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349240"/>
            <a:ext cx="10634472" cy="777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534924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34924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55% of loyalty is driven by quality — but 32% is driven entirely by customer service and emotional support.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In-Class Activities — Customer Influence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663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Activities 5–6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709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Brand Perception Audit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Brand Advocacy Assessment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1783080"/>
            <a:ext cx="51663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011680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Activities 7–8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697480"/>
            <a:ext cx="4709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Campaign Documentation Audit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Customer Perspective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Perception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Your company recently received mixed customer reviews. Management believes service quality is excellent, but customer-satisfaction scores are declining. Conduct a perception audit to identify the gaps.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0708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0708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Survey 20 recent customers about their service experience.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1830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95294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95294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2513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513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5022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Compare internal quality metrics with the customer feedback.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9884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3348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3348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243191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43191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3076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Identify the top 3 perception gaps.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793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31402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31402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61245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1245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41130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Develop an action plan to address the gaps.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perception-gap analysis report comparing internal quality metrics with customer feedback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25 minutes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Advocacy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Your company recently received mixed reviews online. As brand manager, analyse customer feedback and develop an advocacy strategy to improve brand reputation through existing satisfied customers.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0708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0708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Review the provided customer feedback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1830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95294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95294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2513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513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5022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Identify satisfied customers for the advocacy programme.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9884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3348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3348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243191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43191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3076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Design an advocacy campaign that leverages their positive experiences.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793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31402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31402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61245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1245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41130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Present the strategy together with its expected impact metrics.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customer-advocacy strategy document with target impact metrics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25 minutes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Campaign Documentation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Your company launched a new product branding campaign three months ago. Management needs a documentation report on customer reception and campaign outcomes to inform future marketing investment.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0708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0708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Identify three key metrics from the campaign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1830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95294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95294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2513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513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5022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Analyse customer feedback patterns and sentiment trends.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9884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3348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3348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243191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43191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3076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Create a documentation framework for ongoing measurement.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793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31402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31402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61245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1245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41130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Present the findings with actionable recommendations.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structured campaign-reception report with metrics, analysis and optimisation recommendations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25 minutes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Customer Perspective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 receive a complaint from a long-term customer expressing frustration about recent service changes. They say they feel 'unheard' and 'unimportant' to your organisation.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0708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0708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Apply the 3 P's framework — Presence, Patience, Paraphrasing — during the conversation.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1830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95294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95294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2513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513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5022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Identify the emotions behind the customer's specific words.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9884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3348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3348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243191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43191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3076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Paraphrase the customer's perspective back to them without judgement.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793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31402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31402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61245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1245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41130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Document the insights for strategic decision-making.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completed customer-perspective analysis report with actionable insights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25 minutes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Customer Influence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Brand Perception Audit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Assess customer perceptions of the brand, products and services.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Brand Advocacy Assessment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Recognise the importance of the customer in influencing brand reputation.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Campaign Documentation Audit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Document customer reception to the brand and the outcome of branding campaigns.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Customer Perspective Analysis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Perform active listening from the customer to understand the customer's perspective of the organisation.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LU3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Branding in Marketing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Branding Basics · Role in Marketing · Awareness Campaigns · PR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LU3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Branding in Marketing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Branding basics — visual identity, brand values, brand voice and brand guidelines — give a business a consistent, recognisable presence.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Branding plays a central role in marketing: it builds trust, differentiates from competitors and creates the emotional connection that drives loyalty.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Executing branding campaigns, events and activities — from social pushes to experiential pop-ups — raises brand awareness across the target audience.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Public-relations campaigns must align to the brand positioning strategy, the operational plan and the marketing budget to stay credible and sustainable.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AUTHENTICITY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Anatomy of Brand Authenticity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Authenticity is engineered through four repeatable practices.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Radical Transparency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24328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Open communication about business practices and product origins — e.g. Patagonia's Footprint Chronicles detailing supply-chain realities.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Value Alignment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6" y="2624328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Emotional connection forged through shared beliefs and societal commitment — e.g. Ben &amp; Jerry's integration of social justice into core operations.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Authentic Storytelling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77740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Humanising the brand through relatable, non-fabricated narratives — e.g. Nike highlighting genuine struggles and triumphs of real athletes.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Quality Assurance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956" y="4777740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Trust earned through unwavering consistency and reliability — e.g. Toyota's rigorous quality control building global dependability.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WHAT BREAKS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Trust Fracture: the Say-Do Gap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How trust fractures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Case: the Volkswagen emissions scandal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Brand authenticity is destroyed by inauthentic practices — when a company's actions contradict its stated promises.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Discrepancies between marketing claims and operational reality create a trust fracture that severs the customer journey loop permanently.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 campaigns can only amplify what operations can prove.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Software was installed to cheat emissions tests.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deception directly contradicted public claims of environmental responsibility.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Result: immediate, catastrophic loss of consumer trust — a say-do gap no campaign could repair.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In-Class Activities — Branding in Marketing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663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Activities 9–10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709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Brand Audit Workshop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Brand-Marketing Audit Exercise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1783080"/>
            <a:ext cx="51663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011680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Activities 11–12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697480"/>
            <a:ext cx="4709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Brand Activation Planning Workshop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 Campaign Budget 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Audit Workshop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 are consulting for a local restaurant with inconsistent branding across their website, social media, and physical location. The owner wants to understand how to create unified brand guidelines.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Analyse the current brand touchpoints and identify inconsistencies.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Define the core brand values and a mission statement.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Create visual identity specifications — logo and colours.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Develop brand-voice guidelines for customer communication.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Design an implementation plan with specific application examples.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brand-guidelines document — visual standards, voice guidelines and an implementation roadmap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30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Brand-Marketing Audit Exercise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 are a marketing manager evaluating how well your company's current marketing campaigns align with brand identity. Select a real company and analyse one of their recent marketing campaigns.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0708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0708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Choose a brand and identify its core identity elements.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1830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95294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95294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2513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513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5022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Analyse one recent marketing campaign for brand consistency.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9884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3348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3348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243191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43191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3076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Evaluate the alignment between the brand messaging and the campaign goals.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793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31402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31402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61245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1245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41130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Identify gaps and propose improvements for better integration.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brand-audit report with a consistency assessment and recommendations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20 minutes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Activation Planning Workshop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Your organisation wants to launch a new product line and needs to increase brand awareness by 40% within 6 months. Design a multi-channel campaign that includes both digital and experiential elements.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Define the target audience's demographics and psychographics.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Develop a core brand message aligned with the audience's values.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Select 3–4 marketing channels and design consistent visuals across them.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Plan one experiential event and its supporting digital content.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Create a measurement framework using brand-recall metrics.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campaign-strategy document with timeline, budget allocation and success metrics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30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 Campaign Budget Planning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You're the marketing manager for a growth-stage tech company launching a new product. Create a PR campaign budget aligned with the brand positioning strategy.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0708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0708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Define three core content pillars for the brand.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1830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95294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95294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2513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513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5022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Allocate 15% of the marketing budget to PR activities.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9884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3348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3348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243191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43191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3076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Distribute the PR budget across earned, owned and paid channels.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793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31402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31402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61245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1245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41130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Identify the key performance indicators for measurement.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PR budget proposal with channel allocation and success metrics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25 minutes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Branding in Marketing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Brand Audit Workshop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Explain the basics of branding.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Brand-Marketing Audit Exercise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Explain the role of branding in marketing.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Brand Activation Planning Workshop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Execute branding campaigns, events and activities to increase brand awareness.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 Campaign Budget Planning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Execute public-relations campaigns in alignment to brand positioning strategies, operational plans and budget.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LU4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Branding Effectiveness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Reputation Metrics · Success Indicators · PR Tactics · KPI Monitoring · Continuous Improvement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LU4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LU4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Branding Effectiveness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Reputation is measured through social metrics, digital metrics (traffic, mentions) and business KPIs (NPS, satisfaction) across every platform the organisation touches.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Successful branding shows up in awareness, customer loyalty, financial impact and trust metrics — tracked consistently over time, not measured once.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Public-relations tactics — media relations, community outreach, crisis management and digital engagement — extend the brand's message beyond paid channels.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Monitoring the brand against SMART KPIs and acting on the gaps turns brand management into a continuous-improvement cycle rather than a one-off campaign.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LU4 · THE NEXT FRONTIER: AGENTIC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“The agent is becoming the brand.”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Nine in ten US marketing agencies now use generative AI, and half use agentic AI for execution. AI is no longer just generating content — it is deciding, spending, personalising and interacting directly with customers.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LU4 · AI BRAND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Risk Vector: Authority Concentration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2425446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566160"/>
            <a:ext cx="213283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Content agent — permission to draft copy + access the CMS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240280"/>
            <a:ext cx="2425446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566160"/>
            <a:ext cx="213283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Media agent — permission to optimise spend + finance workflows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240280"/>
            <a:ext cx="2425446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6228" y="3566160"/>
            <a:ext cx="213283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Personalisation engine — tailors experiences + sensitive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240280"/>
            <a:ext cx="2425446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2570" y="3566160"/>
            <a:ext cx="213283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Concentration node — combined permissions create high risk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257800"/>
            <a:ext cx="10634472" cy="822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5257800"/>
            <a:ext cx="91440" cy="822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25780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In an agentic enterprise, risk moves through authority pathways, not people. Human approvals cannot scale at machine speed to monitor these intersections.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LU4 ·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Brand Authority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878177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58775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566160"/>
            <a:ext cx="158556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Identity — which human and non-human identities can act on behalf of the brand?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240280"/>
            <a:ext cx="1878177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58775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566160"/>
            <a:ext cx="158556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Access — what systems, data and workflows are they permitted to touch?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240280"/>
            <a:ext cx="1878177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58775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566160"/>
            <a:ext cx="158556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Inheritance — what authority do they hold after delegation and integrations?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240280"/>
            <a:ext cx="1878177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58775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566160"/>
            <a:ext cx="158556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Concentration — where does authority unintentionally combine into high risk?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240280"/>
            <a:ext cx="1878177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58775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566160"/>
            <a:ext cx="158556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Revocation — how quickly can authority be severed if boundaries are breached?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257800"/>
            <a:ext cx="10634472" cy="822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" y="5257800"/>
            <a:ext cx="91440" cy="8229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7280" y="525780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Enterprise Authority Assurance replaces the editorial calendar.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LU4 · PUTTING IT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Architecture of Modern Brand Trust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customer at the centre — anchored by emotion, navigated through journey mapping, scaled safely within strict AI authority boundaries.</a:t>
            </a:r>
          </a:p>
        </p:txBody>
      </p:sp>
      <p:pic>
        <p:nvPicPr>
          <p:cNvPr id="8" name="Picture 7" descr="bt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715" y="2103120"/>
            <a:ext cx="7454265" cy="4160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LU4 · FROM INSIGHT 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Executive Playbook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242544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D7DFEA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242544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Shift the 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01568"/>
            <a:ext cx="242544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Move away from pure acquisition costs. Restructure KPIs around lifetime value, Net Promoter Scores and journey retention.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3582" y="1828800"/>
            <a:ext cx="242544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D7DFEA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3582" y="2697480"/>
            <a:ext cx="242544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Map the Reality, Not the Theory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3582" y="3401568"/>
            <a:ext cx="242544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Audit the 5-stage customer journey loop using actual behavioural data, not internal corporate assumptions. Find the friction.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9924" y="1828800"/>
            <a:ext cx="242544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D7DFEA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9924" y="2697480"/>
            <a:ext cx="242544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Close the Say-Do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9924" y="3401568"/>
            <a:ext cx="242544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Audit your brand's authenticity. Ensure marketing claims — environmental, social, quality — are rigidly matched by operational reality.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6266" y="1828800"/>
            <a:ext cx="242544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D7DFEA"/>
                </a:solidFill>
                <a:latin typeface="Arial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6266" y="2697480"/>
            <a:ext cx="242544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Build the Authority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6266" y="3401568"/>
            <a:ext cx="242544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Stop relying on human bottlenecks for AI approval. Map identity, access and authority concentration for every agentic system touching your brand.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440680"/>
            <a:ext cx="10634472" cy="731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5440680"/>
            <a:ext cx="91440" cy="7315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44068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Trust cannot be retrofitted. It must be engineered.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In-Class Activities — Branding Effectiveness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43656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43656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8864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Activities 13–14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8864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Platform Reputation Audit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Brand Health Assessment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2648" y="1783080"/>
            <a:ext cx="3343656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2648" y="1783080"/>
            <a:ext cx="3343656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1248" y="2011680"/>
            <a:ext cx="28864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Activities 15–16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1248" y="2697480"/>
            <a:ext cx="28864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 Crisis Response Plan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KPI Dashboard Design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8056" y="1783080"/>
            <a:ext cx="3343656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8056" y="1783080"/>
            <a:ext cx="3343656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6656" y="2011680"/>
            <a:ext cx="28864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Activities 17–17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6656" y="2697480"/>
            <a:ext cx="28864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 Campaign Audit Exercise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ACTIVITY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Platform Reputation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Your organisation needs to establish reputation monitoring for a new product launch across social media, review sites, and business platforms.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0708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0708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Map the stakeholder groups and select 3 key platforms per group.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1830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95294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95294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2513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513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5022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Define specific KPIs for the social, digital and business indicators.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9884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3348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3348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243191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43191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3076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Set up monitoring tools and establish baseline measurements.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793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31402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31402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61245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1245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41130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Create a weekly reporting dashboard showing sentiment trends.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reputation-monitoring framework with defined metrics and tracking systems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20 minutes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ACTIVITY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Brand Health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 are a marketing manager evaluating your company's brand performance using both traditional and digital metrics.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0708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0708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Select 3 key metrics from the awareness, loyalty and performance categories.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1830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95294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95294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2513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513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5022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Design a measurement approach that combines survey and digital analytics.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29884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3348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3348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243191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43191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3076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Create a monthly tracking dashboard with benchmarks.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793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31402" y="3456432"/>
            <a:ext cx="2480310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31402" y="3456432"/>
            <a:ext cx="248031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61245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1245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41130" y="4114800"/>
            <a:ext cx="2260854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Present the findings with actionable recommendations.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brand-health scorecard with metric definitions, current performance and an improvement 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25 minutes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ACTIVITY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 Crisis Response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Your company faces negative social-media coverage about product-quality issues. Design a comprehensive PR response strategy using the tactics learned.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Identify the affected stakeholder groups and media outlets.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Develop core messaging that addresses the concerns transparently.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Create a media-outreach plan with personalised pitches.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Design the social-media response and community-engagement plan.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Establish measurement metrics for reputation recovery.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crisis-communication plan with timelines and responsible parties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ACTIVITY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KPI Dashboard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Create a brand KPI monitoring framework for a retail company launching new product 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3386328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3386328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60092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60092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3166872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Select 3 internal and 3 external KPIs.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78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01312" y="3456432"/>
            <a:ext cx="3386328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01312" y="3456432"/>
            <a:ext cx="3386328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84164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84164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1040" y="4114800"/>
            <a:ext cx="3166872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Define the measure, target, data source and frequency for each KPI.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1920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25384" y="3456432"/>
            <a:ext cx="3386328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25384" y="3456432"/>
            <a:ext cx="3386328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823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823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5112" y="4114800"/>
            <a:ext cx="3166872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Design a monthly tracking dashboard.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complete KPI framework with a tracking schedule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20 minutes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LU4 · ACTIVITY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 Campaign Audit Exercise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Your organisation's recent product-launch campaign achieved 500K impressions but only 15% top-tier coverage and 45% message penetration. Stakeholders are questioning the campaign's business impact.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3386328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3386328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60092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60092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3166872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Apply the AMEC framework to identify the performance gaps.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78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01312" y="3456432"/>
            <a:ext cx="3386328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01312" y="3456432"/>
            <a:ext cx="3386328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84164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84164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1040" y="4114800"/>
            <a:ext cx="3166872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Develop three strategic recommendations using best practice.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1920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25384" y="3456432"/>
            <a:ext cx="3386328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25384" y="3456432"/>
            <a:ext cx="3386328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823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823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5112" y="4114800"/>
            <a:ext cx="3166872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Create a measurement plan with specific KPIs.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 improvement proposal with metrics, built using the AMEC measurement framework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25 minutes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LU4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Branding Effectiveness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Platform Reputation Audit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Identify measures or indicators of the organisation's reputation on different platforms.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Brand Health Assessment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Recognise the indicators of successful branding.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 Crisis Response Plan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Apply public-relations tactics.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KPI Dashboard Design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Monitor the success of the brand against Key Performance Indicators (KPI).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 Campaign Audit Exercise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Provide suggestions to improve public-relations campaign effectiveness.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Stakeholders &amp; Organisation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Mapped stakeholders and audiences; drafted brand designs and reputation assessments.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Customer Influence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Captured and documented customer perception through active listening.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Branding in Marketing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Executed branding and PR campaigns aligned to strategy, plan and budget.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Branding Effectiveness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Measured reputation and PR performance against KPIs and proposed improvements.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Written Assessment (WA, SAQ) — 1 hour.  Case Study (CS) — 1 hour.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Open book: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Remember to complete the TRAQOM survey and take the Assessment digital attendance (two separate steps).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Submit your completed answers on the LMS at https://lms-tms.tertiaryinfotech.com/.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 (SAQ) then the Case Study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SEE YOU AT THE NEXT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are now equipped to build customer-centric brand communication that earns trust and drives results.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Customer-Centric Branding and Communication Tactics  ·  TGS-2026061321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