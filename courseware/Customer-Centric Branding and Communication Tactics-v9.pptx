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of consumers</c:v>
                </c:pt>
              </c:strCache>
            </c:strRef>
          </c:tx>
          <c:spPr>
            <a:solidFill>
              <a:srgbClr val="1F6FEB"/>
            </a:solidFill>
            <a:ln>
              <a:noFill/>
            </a:ln>
          </c:spPr>
          <c:cat>
            <c:strRef>
              <c:f>Sheet1!$A$2:$A$5</c:f>
              <c:strCache>
                <c:ptCount val="4"/>
                <c:pt idx="0">
                  <c:v>Say how a company communicates matters
as much as what it sells</c:v>
                </c:pt>
                <c:pt idx="1">
                  <c:v>Expect immediate response
when they make contact</c:v>
                </c:pt>
                <c:pt idx="2">
                  <c:v>Would switch after multiple
poor experiences</c:v>
                </c:pt>
                <c:pt idx="3">
                  <c:v>Expect to be treated as an individual,
not a number</c:v>
                </c:pt>
              </c:strCache>
            </c:strRef>
          </c:cat>
          <c:val>
            <c:numRef>
              <c:f>Sheet1!$B$2:$B$5</c:f>
              <c:numCache>
                <c:formatCode>General</c:formatCode>
                <c:ptCount val="4"/>
                <c:pt idx="0">
                  <c:v>88</c:v>
                </c:pt>
                <c:pt idx="1">
                  <c:v>77</c:v>
                </c:pt>
                <c:pt idx="2">
                  <c:v>73</c:v>
                </c:pt>
                <c:pt idx="3">
                  <c:v>73</c:v>
                </c:pt>
              </c:numCache>
            </c:numRef>
          </c:val>
        </c:ser>
        <c:dLbls>
          <c:numFmt formatCode="0&quot;%&quot;" sourceLinked="0"/>
          <c:txPr>
            <a:bodyPr/>
            <a:lstStyle/>
            <a:p>
              <a:pPr>
                <a:defRPr sz="1000" b="1">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E2E8F0"/>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E2E8F0"/>
            </a:solidFill>
          </a:ln>
        </c:spPr>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uplift / share of consumers</c:v>
                </c:pt>
              </c:strCache>
            </c:strRef>
          </c:tx>
          <c:spPr>
            <a:solidFill>
              <a:srgbClr val="1F6FEB"/>
            </a:solidFill>
            <a:ln>
              <a:noFill/>
            </a:ln>
          </c:spPr>
          <c:cat>
            <c:strRef>
              <c:f>Sheet1!$A$2:$A$5</c:f>
              <c:strCache>
                <c:ptCount val="4"/>
                <c:pt idx="0">
                  <c:v>Higher order rate using
3+ channels vs one</c:v>
                </c:pt>
                <c:pt idx="1">
                  <c:v>Spend more when issues resolve
on their preferred channel</c:v>
                </c:pt>
                <c:pt idx="2">
                  <c:v>Buy more with seamless
conversational experiences</c:v>
                </c:pt>
                <c:pt idx="3">
                  <c:v>Favour brands that respond
on social media</c:v>
                </c:pt>
              </c:strCache>
            </c:strRef>
          </c:cat>
          <c:val>
            <c:numRef>
              <c:f>Sheet1!$B$2:$B$5</c:f>
              <c:numCache>
                <c:formatCode>General</c:formatCode>
                <c:ptCount val="4"/>
                <c:pt idx="0">
                  <c:v>494</c:v>
                </c:pt>
                <c:pt idx="1">
                  <c:v>64</c:v>
                </c:pt>
                <c:pt idx="2">
                  <c:v>70</c:v>
                </c:pt>
                <c:pt idx="3">
                  <c:v>54</c:v>
                </c:pt>
              </c:numCache>
            </c:numRef>
          </c:val>
        </c:ser>
        <c:dLbls>
          <c:txPr>
            <a:bodyPr/>
            <a:lstStyle/>
            <a:p>
              <a:pPr>
                <a:defRPr sz="1000" b="1">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E2E8F0"/>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E2E8F0"/>
            </a:solidFill>
          </a:ln>
        </c:spPr>
        <c:crossAx val="-2068027336"/>
        <c:crosses val="autoZero"/>
      </c:valAx>
    </c:plotArea>
    <c:dispBlanksAs val="gap"/>
  </c:chart>
  <c:txPr>
    <a:bodyPr/>
    <a:lstStyle/>
    <a:p>
      <a:pPr>
        <a:defRPr sz="1000">
          <a:solidFill>
            <a:srgbClr val="5B6372"/>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8" name="TextBox 7"/>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3800" b="1">
                <a:solidFill>
                  <a:srgbClr val="161B26"/>
                </a:solidFill>
                <a:latin typeface="Arial"/>
              </a:rPr>
              <a:t>Customer-Centric Branding and Communication Tactics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TGS-2026061321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v9  ·  12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customer-centric branding, marketing communications and business skills.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branding, marketing or communications (if any).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A brand you personally admire — and why it works on you.</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Brand Management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ICT-SNM-3002-1.1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Level 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4 Learning Units (LU1–LU4), each mapped to a Learning Outcome.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4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Stakeholders and Organisation</a:t>
            </a:r>
          </a:p>
          <a:p>
            <a:pPr algn="l">
              <a:spcAft>
                <a:spcPts val="300"/>
              </a:spcAft>
            </a:pPr>
            <a:r>
              <a:rPr sz="1200" b="0">
                <a:solidFill>
                  <a:srgbClr val="5B6372"/>
                </a:solidFill>
                <a:latin typeface="Arial"/>
              </a:rPr>
              <a:t>Internal &amp; External Stakeholders · Audience Types · Brand Design · Reputation Assessment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Customer Influence</a:t>
            </a:r>
          </a:p>
          <a:p>
            <a:pPr algn="l">
              <a:spcAft>
                <a:spcPts val="300"/>
              </a:spcAft>
            </a:pPr>
            <a:r>
              <a:rPr sz="1200" b="0">
                <a:solidFill>
                  <a:srgbClr val="5B6372"/>
                </a:solidFill>
                <a:latin typeface="Arial"/>
              </a:rPr>
              <a:t>Customer Perceptions · Brand Reputation · Campaign Reception ·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Branding in Marketing</a:t>
            </a:r>
          </a:p>
          <a:p>
            <a:pPr algn="l">
              <a:spcAft>
                <a:spcPts val="300"/>
              </a:spcAft>
            </a:pPr>
            <a:r>
              <a:rPr sz="1200" b="0">
                <a:solidFill>
                  <a:srgbClr val="5B6372"/>
                </a:solidFill>
                <a:latin typeface="Arial"/>
              </a:rPr>
              <a:t>Branding Basics · Role in Marketing · Awareness Campaigns · PR Execution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LU4 — Branding Effectiveness</a:t>
            </a:r>
          </a:p>
          <a:p>
            <a:pPr algn="l">
              <a:spcAft>
                <a:spcPts val="300"/>
              </a:spcAft>
            </a:pPr>
            <a:r>
              <a:rPr sz="1200" b="0">
                <a:solidFill>
                  <a:srgbClr val="5B6372"/>
                </a:solidFill>
                <a:latin typeface="Arial"/>
              </a:rPr>
              <a:t>Reputation Metrics · Success Indicators · PR Tactics · KPI Monitoring · Continuous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2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Stakeholders, Customer Influence &amp; Branding in Marketing (starts)</a:t>
            </a:r>
          </a:p>
          <a:p>
            <a:pPr>
              <a:spcAft>
                <a:spcPts val="1000"/>
              </a:spcAft>
            </a:pPr>
            <a:r>
              <a:rPr sz="1400" b="0">
                <a:solidFill>
                  <a:srgbClr val="5B6372"/>
                </a:solidFill>
                <a:latin typeface="Arial"/>
              </a:rPr>
              <a:t>–  LU1: Stakeholders and Organisation (Activities 1–4)</a:t>
            </a:r>
          </a:p>
          <a:p>
            <a:pPr>
              <a:spcAft>
                <a:spcPts val="1000"/>
              </a:spcAft>
            </a:pPr>
            <a:r>
              <a:rPr sz="1400" b="0">
                <a:solidFill>
                  <a:srgbClr val="5B6372"/>
                </a:solidFill>
                <a:latin typeface="Arial"/>
              </a:rPr>
              <a:t>–  LU2: Customer Influence (Activities 5–8)</a:t>
            </a:r>
          </a:p>
          <a:p>
            <a:pPr>
              <a:spcAft>
                <a:spcPts val="1000"/>
              </a:spcAft>
            </a:pPr>
            <a:r>
              <a:rPr sz="1400" b="0">
                <a:solidFill>
                  <a:srgbClr val="5B6372"/>
                </a:solidFill>
                <a:latin typeface="Arial"/>
              </a:rPr>
              <a:t>–  LU3: Branding in Marketing — begins (Activities 9–12)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Branding in Marketing (cont'd), Branding Effectiveness &amp; Assessment</a:t>
            </a:r>
          </a:p>
          <a:p>
            <a:pPr>
              <a:spcAft>
                <a:spcPts val="1000"/>
              </a:spcAft>
            </a:pPr>
            <a:r>
              <a:rPr sz="1400" b="0">
                <a:solidFill>
                  <a:srgbClr val="5B6372"/>
                </a:solidFill>
                <a:latin typeface="Arial"/>
              </a:rPr>
              <a:t>–  LU3: Branding in Marketing — continued</a:t>
            </a:r>
          </a:p>
          <a:p>
            <a:pPr>
              <a:spcAft>
                <a:spcPts val="1000"/>
              </a:spcAft>
            </a:pPr>
            <a:r>
              <a:rPr sz="1400" b="0">
                <a:solidFill>
                  <a:srgbClr val="5B6372"/>
                </a:solidFill>
                <a:latin typeface="Arial"/>
              </a:rPr>
              <a:t>–  LU4: Branding Effectiveness (Activities 13–17)</a:t>
            </a:r>
          </a:p>
          <a:p>
            <a:pPr>
              <a:spcAft>
                <a:spcPts val="1000"/>
              </a:spcAft>
            </a:pPr>
            <a:r>
              <a:rPr sz="1400" b="0">
                <a:solidFill>
                  <a:srgbClr val="5B6372"/>
                </a:solidFill>
                <a:latin typeface="Arial"/>
              </a:rPr>
              <a:t>–  Assessment: WA (1h) + Case Study (1h), 4:00–6:00pm</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Day 1: 9:30am–6:30pm, 1-hour lunch. Day 2: 9:30am–6:00pm, 45-min lunch (to fit the assessment).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Stakeholders &amp; Organisation</a:t>
            </a:r>
          </a:p>
          <a:p>
            <a:pPr algn="l">
              <a:spcAft>
                <a:spcPts val="300"/>
              </a:spcAft>
            </a:pPr>
            <a:r>
              <a:rPr sz="1300" b="0">
                <a:solidFill>
                  <a:srgbClr val="5B6372"/>
                </a:solidFill>
                <a:latin typeface="Arial"/>
              </a:rPr>
              <a:t>Identify stakeholders/audiences and draft branding designs &amp; reputation assessments.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Customer Influence</a:t>
            </a:r>
          </a:p>
          <a:p>
            <a:pPr algn="l">
              <a:spcAft>
                <a:spcPts val="300"/>
              </a:spcAft>
            </a:pPr>
            <a:r>
              <a:rPr sz="1300" b="0">
                <a:solidFill>
                  <a:srgbClr val="5B6372"/>
                </a:solidFill>
                <a:latin typeface="Arial"/>
              </a:rPr>
              <a:t>Capture and analyse customer insight through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in Marketing</a:t>
            </a:r>
          </a:p>
          <a:p>
            <a:pPr algn="l">
              <a:spcAft>
                <a:spcPts val="300"/>
              </a:spcAft>
            </a:pPr>
            <a:r>
              <a:rPr sz="1300" b="0">
                <a:solidFill>
                  <a:srgbClr val="5B6372"/>
                </a:solidFill>
                <a:latin typeface="Arial"/>
              </a:rPr>
              <a:t>Execute branding campaigns, events and PR activities that build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Effectiveness</a:t>
            </a:r>
          </a:p>
          <a:p>
            <a:pPr algn="l">
              <a:spcAft>
                <a:spcPts val="300"/>
              </a:spcAft>
            </a:pPr>
            <a:r>
              <a:rPr sz="1300" b="0">
                <a:solidFill>
                  <a:srgbClr val="5B6372"/>
                </a:solidFill>
                <a:latin typeface="Arial"/>
              </a:rPr>
              <a:t>Evaluate reputation and PR performance against KPIs and recommend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 — Short-Answer Questions (SAQ), 1 hour, open book.</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Case Study (CS) — one continuous branding scenario with open-ended tasks, 1 hour, open book.</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(per SSG Digital Attendance record) is required to be eligible for assessment and funding. Learners must be assessed as Competent and complete the TRAQOM survey.</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66390"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48148"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 (SAQ) then the Case Study — open book</a:t>
            </a:r>
          </a:p>
        </p:txBody>
      </p:sp>
      <p:sp>
        <p:nvSpPr>
          <p:cNvPr id="24" name="TextBox 23"/>
          <p:cNvSpPr txBox="1"/>
          <p:nvPr/>
        </p:nvSpPr>
        <p:spPr>
          <a:xfrm>
            <a:off x="7029906"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211664"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10" name="TextBox 9"/>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1" name="TextBox 10"/>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2" name="Rectangle 11"/>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4" name="TextBox 13"/>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5" name="Rectangle 14"/>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9" name="TextBox 18"/>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20" name="Rectangle 19"/>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4" name="TextBox 23"/>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5" name="Rectangle 24"/>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Case Study answers on the LMS.</a:t>
            </a:r>
          </a:p>
        </p:txBody>
      </p:sp>
      <p:sp>
        <p:nvSpPr>
          <p:cNvPr id="30" name="Rectangle 29"/>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4" name="TextBox 33"/>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5" name="Rectangle 34"/>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Stakeholders and Organisation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Internal &amp; External Stakeholders · Audience Types · Brand Design · Reputation Assessment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Stakeholders and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Internal stakeholders (management, employees) and external stakeholders (customers, partners, investors, media) each hold a different level of influence over — and interest in — the brand.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External audiences segment into customers, partners, investors and media; each needs its own communication approach and message.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designs and ideas should foreground the product or service's attributes and the concrete benefits they deliver to the audience.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Assessing an organisation's reputation on social media and other platforms — reviews, mentions, sentiment — is the starting point for every branding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THE BIG PICTURE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Modern Brand Ecosystem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Four forces now shape how customers trust and choose brands.</a:t>
            </a:r>
          </a:p>
        </p:txBody>
      </p:sp>
      <p:sp>
        <p:nvSpPr>
          <p:cNvPr id="8" name="Rectangle 7"/>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The Shift — Philosophy</a:t>
            </a:r>
          </a:p>
        </p:txBody>
      </p:sp>
      <p:sp>
        <p:nvSpPr>
          <p:cNvPr id="11" name="TextBox 10"/>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Moving from product-centric innovation to a customer-back business model (CBM) to drive sustainable growth.</a:t>
            </a:r>
          </a:p>
        </p:txBody>
      </p:sp>
      <p:sp>
        <p:nvSpPr>
          <p:cNvPr id="12" name="Rectangle 11"/>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The Mechanics — System</a:t>
            </a:r>
          </a:p>
        </p:txBody>
      </p:sp>
      <p:sp>
        <p:nvSpPr>
          <p:cNvPr id="15" name="TextBox 14"/>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Abandoning the linear funnel for a non-linear, infinitely looping customer journey.</a:t>
            </a:r>
          </a:p>
        </p:txBody>
      </p:sp>
      <p:sp>
        <p:nvSpPr>
          <p:cNvPr id="16" name="Rectangle 15"/>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The Core — Emotion</a:t>
            </a:r>
          </a:p>
        </p:txBody>
      </p:sp>
      <p:sp>
        <p:nvSpPr>
          <p:cNvPr id="19" name="TextBox 18"/>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Engineering authenticity and shared values as the primary engines of brand loyalty and trust.</a:t>
            </a:r>
          </a:p>
        </p:txBody>
      </p:sp>
      <p:sp>
        <p:nvSpPr>
          <p:cNvPr id="20" name="Rectangle 19"/>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The Scale — AI</a:t>
            </a:r>
          </a:p>
        </p:txBody>
      </p:sp>
      <p:sp>
        <p:nvSpPr>
          <p:cNvPr id="23" name="TextBox 22"/>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Governing the new frontier where agentic AI acts autonomously on behalf of the brand.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PRODUCT vs CUSTOMER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Strategic Paradigm Shift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Customer-centric organisations think, innovate and measure differently.</a:t>
            </a:r>
          </a:p>
        </p:txBody>
      </p:sp>
      <p:sp>
        <p:nvSpPr>
          <p:cNvPr id="8" name="Rectangle 7"/>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Product-Centric</a:t>
            </a:r>
          </a:p>
        </p:txBody>
      </p:sp>
      <p:sp>
        <p:nvSpPr>
          <p:cNvPr id="10" name="Rectangle 9"/>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Customer-Centric</a:t>
            </a:r>
          </a:p>
        </p:txBody>
      </p:sp>
      <p:sp>
        <p:nvSpPr>
          <p:cNvPr id="12" name="Rectangle 11"/>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Core philosophy</a:t>
            </a:r>
          </a:p>
        </p:txBody>
      </p:sp>
      <p:sp>
        <p:nvSpPr>
          <p:cNvPr id="14" name="Rectangle 13"/>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“If we build it, they will come”</a:t>
            </a:r>
          </a:p>
        </p:txBody>
      </p:sp>
      <p:sp>
        <p:nvSpPr>
          <p:cNvPr id="16" name="Rectangle 15"/>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“Obsession with customer pain points and delight”</a:t>
            </a:r>
          </a:p>
        </p:txBody>
      </p:sp>
      <p:sp>
        <p:nvSpPr>
          <p:cNvPr id="18" name="Rectangle 17"/>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Innovation style</a:t>
            </a:r>
          </a:p>
        </p:txBody>
      </p:sp>
      <p:sp>
        <p:nvSpPr>
          <p:cNvPr id="20" name="Rectangle 19"/>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High-risk, creates new markets, heavy R&amp;D</a:t>
            </a:r>
          </a:p>
        </p:txBody>
      </p:sp>
      <p:sp>
        <p:nvSpPr>
          <p:cNvPr id="22" name="Rectangle 21"/>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Incremental, read-and-react, user research-driven</a:t>
            </a:r>
          </a:p>
        </p:txBody>
      </p:sp>
      <p:sp>
        <p:nvSpPr>
          <p:cNvPr id="24" name="Rectangle 23"/>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Risk profile</a:t>
            </a:r>
          </a:p>
        </p:txBody>
      </p:sp>
      <p:sp>
        <p:nvSpPr>
          <p:cNvPr id="26" name="Rectangle 25"/>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High tolerance for failure and pivots</a:t>
            </a:r>
          </a:p>
        </p:txBody>
      </p:sp>
      <p:sp>
        <p:nvSpPr>
          <p:cNvPr id="28" name="Rectangle 27"/>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Lower risk, focused on continuous feedback loops</a:t>
            </a:r>
          </a:p>
        </p:txBody>
      </p:sp>
      <p:sp>
        <p:nvSpPr>
          <p:cNvPr id="30" name="Rectangle 29"/>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Success metric</a:t>
            </a:r>
          </a:p>
        </p:txBody>
      </p:sp>
      <p:sp>
        <p:nvSpPr>
          <p:cNvPr id="32" name="Rectangle 31"/>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One-time, big-ticket sales</a:t>
            </a:r>
          </a:p>
        </p:txBody>
      </p:sp>
      <p:sp>
        <p:nvSpPr>
          <p:cNvPr id="34" name="Rectangle 33"/>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Lifetime value, reduced churn, Net Promoter Scores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WHY IT PAYS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Economics of Customer Obsession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Firms implementing a customer-experience (CX) approach routinely outperform product-led peers.</a:t>
            </a:r>
          </a:p>
        </p:txBody>
      </p:sp>
      <p:sp>
        <p:nvSpPr>
          <p:cNvPr id="8" name="Rectangle 7"/>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+49%</a:t>
            </a:r>
          </a:p>
        </p:txBody>
      </p:sp>
      <p:sp>
        <p:nvSpPr>
          <p:cNvPr id="11" name="TextBox 10"/>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Faster profit growth</a:t>
            </a:r>
          </a:p>
        </p:txBody>
      </p:sp>
      <p:sp>
        <p:nvSpPr>
          <p:cNvPr id="12" name="Rectangle 11"/>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+41%</a:t>
            </a:r>
          </a:p>
        </p:txBody>
      </p:sp>
      <p:sp>
        <p:nvSpPr>
          <p:cNvPr id="15" name="TextBox 14"/>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Higher revenue expansion</a:t>
            </a:r>
          </a:p>
        </p:txBody>
      </p:sp>
      <p:sp>
        <p:nvSpPr>
          <p:cNvPr id="16" name="Rectangle 15"/>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+51%</a:t>
            </a:r>
          </a:p>
        </p:txBody>
      </p:sp>
      <p:sp>
        <p:nvSpPr>
          <p:cNvPr id="19" name="TextBox 18"/>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Stronger customer retention</a:t>
            </a:r>
          </a:p>
        </p:txBody>
      </p:sp>
      <p:sp>
        <p:nvSpPr>
          <p:cNvPr id="20" name="Rectangle 19"/>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73% of customers now expect companies to treat them as individuals, not numbers — up from just 39% in 2023.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THE EXPECTATION GAP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Customers Now Expect From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Communication is no longer the wrapper around the product — for most customers it IS the product experience.</a:t>
            </a:r>
          </a:p>
        </p:txBody>
      </p:sp>
      <p:graphicFrame>
        <p:nvGraphicFramePr>
          <p:cNvPr id="8" name="Chart 7"/>
          <p:cNvGraphicFramePr>
            <a:graphicFrameLocks noGrp="1"/>
          </p:cNvGraphicFramePr>
          <p:nvPr/>
        </p:nvGraphicFramePr>
        <p:xfrm>
          <a:off x="1280160" y="2103120"/>
          <a:ext cx="9601200" cy="3749039"/>
        </p:xfrm>
        <a:graphic>
          <a:graphicData uri="http://schemas.openxmlformats.org/drawingml/2006/chart">
            <c:chart xmlns:c="http://schemas.openxmlformats.org/drawingml/2006/chart" r:id="rId2"/>
          </a:graphicData>
        </a:graphic>
      </p:graphicFrame>
      <p:sp>
        <p:nvSpPr>
          <p:cNvPr id="9" name="Rectangle 8"/>
          <p:cNvSpPr/>
          <p:nvPr/>
        </p:nvSpPr>
        <p:spPr>
          <a:xfrm>
            <a:off x="777240" y="5870448"/>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70448"/>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870448"/>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If 88% judge you on how you communicate, communication quality is a brand attribute — not an admin overhead.</a:t>
            </a:r>
          </a:p>
        </p:txBody>
      </p:sp>
      <p:sp>
        <p:nvSpPr>
          <p:cNvPr id="12" name="TextBox 11"/>
          <p:cNvSpPr txBox="1"/>
          <p:nvPr/>
        </p:nvSpPr>
        <p:spPr>
          <a:xfrm>
            <a:off x="777240" y="5513832"/>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HelpDesk, Slack and Zendesk customer-communication research, 2024–25</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Internal and external stakeholders influencing the brand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Internal and external stakeholders influencing the brand?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Employees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Retail Partners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Media &amp; Press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Regulators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Loyal Customers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Investors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
        <p:nvSpPr>
          <p:cNvPr id="40" name="TextBox 3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Mendelow, A. (1991), Stakeholder Mapping</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Management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Identify</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Map every stakeholder group touched by the decision.</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Map Power &amp; Interest</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Plot each group's influence and how much they care.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Match the Approach</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Engage, consult, inform or monitor — matched to the quadrant.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Power-Interest Grid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Keep Informed</a:t>
            </a:r>
          </a:p>
          <a:p>
            <a:pPr algn="l">
              <a:spcAft>
                <a:spcPts val="300"/>
              </a:spcAft>
            </a:pPr>
            <a:r>
              <a:rPr sz="1100" b="0">
                <a:solidFill>
                  <a:srgbClr val="5B6372"/>
                </a:solidFill>
                <a:latin typeface="Arial"/>
              </a:rPr>
              <a:t>Retail floor staff; Loyal-customer community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 Closely</a:t>
            </a:r>
          </a:p>
          <a:p>
            <a:pPr algn="l">
              <a:spcAft>
                <a:spcPts val="300"/>
              </a:spcAft>
            </a:pPr>
            <a:r>
              <a:rPr sz="1100" b="0">
                <a:solidFill>
                  <a:srgbClr val="5B6372"/>
                </a:solidFill>
                <a:latin typeface="Arial"/>
              </a:rPr>
              <a:t>Founder / CEO; Key retail partner buyer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Monitor</a:t>
            </a:r>
          </a:p>
          <a:p>
            <a:pPr algn="l">
              <a:spcAft>
                <a:spcPts val="300"/>
              </a:spcAft>
            </a:pPr>
            <a:r>
              <a:rPr sz="1100" b="0">
                <a:solidFill>
                  <a:srgbClr val="5B6372"/>
                </a:solidFill>
                <a:latin typeface="Arial"/>
              </a:rPr>
              <a:t>Peripheral suppliers; Distant regulators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Keep Satisfied</a:t>
            </a:r>
          </a:p>
          <a:p>
            <a:pPr algn="l">
              <a:spcAft>
                <a:spcPts val="300"/>
              </a:spcAft>
            </a:pPr>
            <a:r>
              <a:rPr sz="1100" b="0">
                <a:solidFill>
                  <a:srgbClr val="5B6372"/>
                </a:solidFill>
                <a:latin typeface="Arial"/>
              </a:rPr>
              <a:t>Board / investors; Wholesale distributors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Mendelow's Power-Interest Matrix, 1991 (adapted)</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Distribution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45%</a:t>
            </a:r>
          </a:p>
        </p:txBody>
      </p:sp>
      <p:sp>
        <p:nvSpPr>
          <p:cNvPr id="10" name="TextBox 9"/>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Internal</a:t>
            </a:r>
          </a:p>
        </p:txBody>
      </p:sp>
      <p:sp>
        <p:nvSpPr>
          <p:cNvPr id="11" name="Rectangle 10"/>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35%</a:t>
            </a:r>
          </a:p>
        </p:txBody>
      </p:sp>
      <p:sp>
        <p:nvSpPr>
          <p:cNvPr id="14" name="TextBox 13"/>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External</a:t>
            </a:r>
          </a:p>
        </p:txBody>
      </p:sp>
      <p:sp>
        <p:nvSpPr>
          <p:cNvPr id="15" name="Rectangle 14"/>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20%</a:t>
            </a:r>
          </a:p>
        </p:txBody>
      </p:sp>
      <p:sp>
        <p:nvSpPr>
          <p:cNvPr id="18" name="TextBox 17"/>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Hybrid</a:t>
            </a:r>
          </a:p>
        </p:txBody>
      </p:sp>
      <p:sp>
        <p:nvSpPr>
          <p:cNvPr id="19" name="Rectangle 18"/>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distribution, stakeholder-mapping workshops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Internal Culture Is the First Stakeholder You Manage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Singapore Airlines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SIA's famed inflight service isn't a customer-facing script — it's the product of decades of internal training investment. Staff who feel genuinely valued as stakeholders are the ones who convincingly make customers feel valued too.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 Pte Ltd, a 25-person Singapore boutique skincare and wellness brand, is three months from its 5th-anniversary relaunch. The founder has committed to a new sustainable-packaging line as the centrepiece of the relaunch story.</a:t>
            </a:r>
          </a:p>
          <a:p>
            <a:pPr algn="l">
              <a:spcAft>
                <a:spcPts val="800"/>
              </a:spcAft>
            </a:pPr>
            <a:r>
              <a:rPr sz="1450" b="0">
                <a:solidFill>
                  <a:srgbClr val="161B26"/>
                </a:solidFill>
                <a:latin typeface="Arial"/>
              </a:rPr>
              <a:t>Not everyone is convinced. Retail operations worries the new packaging will raise unit cost and slow reorders. A wellness retail chain that carries Nimbus in 40 outlets wants proof the change won't disrupt supply before it commits fresh shelf space. Meanwhile a vocal community of long-time customers on social media is already asking why Nimbus hasn't "gone green" sooner.</a:t>
            </a:r>
          </a:p>
          <a:p>
            <a:pPr algn="l">
              <a:spcAft>
                <a:spcPts val="800"/>
              </a:spcAft>
            </a:pPr>
            <a:r>
              <a:rPr sz="1450" b="0">
                <a:solidFill>
                  <a:srgbClr val="161B26"/>
                </a:solidFill>
                <a:latin typeface="Arial"/>
              </a:rPr>
              <a:t>Before the founder locks the relaunch brief, your table must map who genuinely has power and interest in this decision — and design how to bring each group along, not just announce it to them.</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stakeholder Power-Interest map (12 stakeholders) with a matched engagement approach for each quadrant</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The Founder</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the relaunch vision</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Wants sustainability to be the headline story of the anniversary campaign and is impatient with anything that looks like delay.</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Retail Operations Lead</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margin and delivery reliability</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Worried the new packaging supplier will slow reorders right before the relaunch peak season.</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Retail Partner Buyer</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their own shelf-space risk</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Will only commit expanded shelf space once supply reliability through the transition is proven.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wipe dir="l"/>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6 internal and 6 external stakeholders matter most to this relaunch decision, and why?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Power-Interest Grid, where does each stakeholder sit — and which quadrant deserves your table's limited attention this month?</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each stakeholder's real underlying concern, not just their stated position?</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engagement approach — brief, consult or co-design — fits each stakeholder's concern and influence level?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wipe dir="l"/>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stakeholder's position surprised you once you heard their actual concern instead of assuming it?</a:t>
            </a:r>
          </a:p>
          <a:p>
            <a:pPr>
              <a:spcAft>
                <a:spcPts val="900"/>
              </a:spcAft>
            </a:pPr>
            <a:r>
              <a:rPr sz="1450" b="0">
                <a:solidFill>
                  <a:srgbClr val="161B26"/>
                </a:solidFill>
                <a:latin typeface="Arial"/>
              </a:rPr>
              <a:t>•  Did power and interest always move together on your map, or did a low-power/high-interest voice turn out to be worth listening to anyway?</a:t>
            </a:r>
          </a:p>
          <a:p>
            <a:pPr>
              <a:spcAft>
                <a:spcPts val="900"/>
              </a:spcAft>
            </a:pPr>
            <a:r>
              <a:rPr sz="1450" b="0">
                <a:solidFill>
                  <a:srgbClr val="161B26"/>
                </a:solidFill>
                <a:latin typeface="Arial"/>
              </a:rPr>
              <a:t>•  If the retail partner buyer voiced hesitation publicly tomorrow, how would that change your grid?</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completed Power-Interest map with both internal and external stakeholders placed, and an engagement approach per quadrant that matches the stakeholder's real concern — not just their job title.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Types of external audience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Types of external audience?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Customers</a:t>
            </a:r>
          </a:p>
          <a:p>
            <a:pPr algn="l">
              <a:spcAft>
                <a:spcPts val="300"/>
              </a:spcAft>
            </a:pPr>
            <a:r>
              <a:rPr sz="1200" b="0">
                <a:solidFill>
                  <a:srgbClr val="5B6372"/>
                </a:solidFill>
                <a:latin typeface="Arial"/>
              </a:rPr>
              <a:t>Prospects and loyal brand advocates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Partners</a:t>
            </a:r>
          </a:p>
          <a:p>
            <a:pPr algn="l">
              <a:spcAft>
                <a:spcPts val="300"/>
              </a:spcAft>
            </a:pPr>
            <a:r>
              <a:rPr sz="1200" b="0">
                <a:solidFill>
                  <a:srgbClr val="5B6372"/>
                </a:solidFill>
                <a:latin typeface="Arial"/>
              </a:rPr>
              <a:t>Business collaborators and suppliers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Investors</a:t>
            </a:r>
          </a:p>
          <a:p>
            <a:pPr algn="l">
              <a:spcAft>
                <a:spcPts val="300"/>
              </a:spcAft>
            </a:pPr>
            <a:r>
              <a:rPr sz="1200" b="0">
                <a:solidFill>
                  <a:srgbClr val="5B6372"/>
                </a:solidFill>
                <a:latin typeface="Arial"/>
              </a:rPr>
              <a:t>Financial stakeholders and shareholders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a:t>
            </a:r>
          </a:p>
          <a:p>
            <a:pPr algn="l">
              <a:spcAft>
                <a:spcPts val="300"/>
              </a:spcAft>
            </a:pPr>
            <a:r>
              <a:rPr sz="1200" b="0">
                <a:solidFill>
                  <a:srgbClr val="5B6372"/>
                </a:solidFill>
                <a:latin typeface="Arial"/>
              </a:rPr>
              <a:t>Press and communication channels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external-audience segmentation frameworks</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Analysis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Identify Segments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Map the primary audience groups.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Demographics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Age, gender, education and other hard factors.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Study Psychographics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Values, attitudes and beliefs that drive behaviour.</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Map Preferences</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The communication channels each segment actually uses.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B2C vs B2B Audience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B2C — Consumers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B2B — Organisations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Emotion Driven — feeling-based purchase decisions</a:t>
            </a:r>
          </a:p>
          <a:p>
            <a:pPr>
              <a:spcAft>
                <a:spcPts val="1000"/>
              </a:spcAft>
            </a:pPr>
            <a:r>
              <a:rPr sz="1600" b="0">
                <a:solidFill>
                  <a:srgbClr val="161B26"/>
                </a:solidFill>
                <a:latin typeface="Arial"/>
              </a:rPr>
              <a:t>•  Broad Reach — mass-market targeting</a:t>
            </a:r>
          </a:p>
          <a:p>
            <a:pPr>
              <a:spcAft>
                <a:spcPts val="1000"/>
              </a:spcAft>
            </a:pPr>
            <a:r>
              <a:rPr sz="1600" b="0">
                <a:solidFill>
                  <a:srgbClr val="161B26"/>
                </a:solidFill>
                <a:latin typeface="Arial"/>
              </a:rPr>
              <a:t>•  Quick Decisions — impulse purchase patterns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Logic Driven — data-based purchase decisions</a:t>
            </a:r>
          </a:p>
          <a:p>
            <a:pPr>
              <a:spcAft>
                <a:spcPts val="1000"/>
              </a:spcAft>
            </a:pPr>
            <a:r>
              <a:rPr sz="1600" b="0">
                <a:solidFill>
                  <a:srgbClr val="161B26"/>
                </a:solidFill>
                <a:latin typeface="Arial"/>
              </a:rPr>
              <a:t>•  Targeted Approach — niche market focus</a:t>
            </a:r>
          </a:p>
          <a:p>
            <a:pPr>
              <a:spcAft>
                <a:spcPts val="1000"/>
              </a:spcAft>
            </a:pPr>
            <a:r>
              <a:rPr sz="1600" b="0">
                <a:solidFill>
                  <a:srgbClr val="161B26"/>
                </a:solidFill>
                <a:latin typeface="Arial"/>
              </a:rPr>
              <a:t>•  Long Process — extended, multi-stakeholder buying cycles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B2C/B2B marketing research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Two Nimbus Audience Personas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Amara Lim</a:t>
            </a:r>
          </a:p>
          <a:p>
            <a:pPr algn="l">
              <a:spcAft>
                <a:spcPts val="300"/>
              </a:spcAft>
            </a:pPr>
            <a:r>
              <a:rPr sz="1100" b="0">
                <a:solidFill>
                  <a:srgbClr val="5B6372"/>
                </a:solidFill>
                <a:latin typeface="Arial"/>
              </a:rPr>
              <a:t>Existing Loyal Customer — Wants: Feel like Nimbus still “gets” her; Be recognised for years of support. Concerns: New marketing feels generic; Unsure what's actually changed</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Wei Jie Tan</a:t>
            </a:r>
          </a:p>
          <a:p>
            <a:pPr algn="l">
              <a:spcAft>
                <a:spcPts val="300"/>
              </a:spcAft>
            </a:pPr>
            <a:r>
              <a:rPr sz="1100" b="0">
                <a:solidFill>
                  <a:srgbClr val="5B6372"/>
                </a:solidFill>
                <a:latin typeface="Arial"/>
              </a:rPr>
              <a:t>Retail Chain Buyer — Wants: Confirm the relaunch won't disrupt supply; See proof of consistent demand. Concerns: Cautious about more shelf space; Wants data, not just brand promises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
        <p:nvSpPr>
          <p:cNvPr id="20" name="TextBox 1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audience-mapping workshop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350"/>
                                        <p:tgtEl>
                                          <p:spTgt spid="16"/>
                                        </p:tgtEl>
                                      </p:cBhvr>
                                    </p:animEffect>
                                    <p:anim calcmode="lin" valueType="num">
                                      <p:cBhvr additive="base">
                                        <p:cTn id="5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350"/>
                                        <p:tgtEl>
                                          <p:spTgt spid="15"/>
                                        </p:tgtEl>
                                      </p:cBhvr>
                                    </p:animEffect>
                                    <p:anim calcmode="lin" valueType="num">
                                      <p:cBhvr additive="base">
                                        <p:cTn id="7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Brand, Radically Different Messages Per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Nike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Nike speaks to elite athletes through performance data and to everyday joggers through identity and self-belief — same brand, same logo, deliberately different message for each audience it serves.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Wellness's 5th-anniversary relaunch has to speak to four very different audiences at once: existing loyal customers who feel the brand has drifted from them, new customers discovering Nimbus while comparing it to a competitor, the wellness retail chain deciding whether to expand shelf space, and the lifestyle press deciding whether the relaunch is even a story worth covering.</a:t>
            </a:r>
          </a:p>
          <a:p>
            <a:pPr algn="l">
              <a:spcAft>
                <a:spcPts val="800"/>
              </a:spcAft>
            </a:pPr>
            <a:r>
              <a:rPr sz="1450" b="0">
                <a:solidFill>
                  <a:srgbClr val="161B26"/>
                </a:solidFill>
                <a:latin typeface="Arial"/>
              </a:rPr>
              <a:t>The Marketing Lead has one shared relaunch deck for all four groups. Your table's job is to show her, with evidence, why it cannot say the same thing to all four the same way — and what should change for each.</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audience mapping matrix (4 segments) with a tailored key message and primary channel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each of the four audience segments actually need to hear to act — not just what Nimbus wants to say?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do B2C emotional drivers and B2B/partner logic-driven drivers pull the message in different directions?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channel does each segment genuinely pay attention to, and does the current "one deck" plan reach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you only had budget to fully tailor one segment's message this month, which would you choose — and why?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wipe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audience did your table initially lump together with another — and what made you split them apart?</a:t>
            </a:r>
          </a:p>
          <a:p>
            <a:pPr>
              <a:spcAft>
                <a:spcPts val="900"/>
              </a:spcAft>
            </a:pPr>
            <a:r>
              <a:rPr sz="1450" b="0">
                <a:solidFill>
                  <a:srgbClr val="161B26"/>
                </a:solidFill>
                <a:latin typeface="Arial"/>
              </a:rPr>
              <a:t>•  Was a channel choice driven by what's easy for Nimbus to produce, or by where the audience actually spends attention?</a:t>
            </a:r>
          </a:p>
          <a:p>
            <a:pPr>
              <a:spcAft>
                <a:spcPts val="900"/>
              </a:spcAft>
            </a:pPr>
            <a:r>
              <a:rPr sz="1450" b="0">
                <a:solidFill>
                  <a:srgbClr val="161B26"/>
                </a:solidFill>
                <a:latin typeface="Arial"/>
              </a:rPr>
              <a:t>•  How would your messaging change if the lifestyle press turned out to be sceptical rather than curious about the relaunch?</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matrix with a tailored key message and a named primary channel for all four segments, and can explain in one sentence why each message differs from the others.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Draft branding designs and ideas highlighting the product or service's attributes and benefits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Draft branding designs and ideas highlighting the product or service's attributes and benefits?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Strategy</a:t>
            </a:r>
          </a:p>
          <a:p>
            <a:pPr algn="l">
              <a:spcAft>
                <a:spcPts val="300"/>
              </a:spcAft>
            </a:pPr>
            <a:r>
              <a:rPr sz="1200" b="0">
                <a:solidFill>
                  <a:srgbClr val="5B6372"/>
                </a:solidFill>
                <a:latin typeface="Arial"/>
              </a:rPr>
              <a:t>Defines the unique selling proposition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Builds a recognisable design system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 Communication</a:t>
            </a:r>
          </a:p>
          <a:p>
            <a:pPr algn="l">
              <a:spcAft>
                <a:spcPts val="300"/>
              </a:spcAft>
            </a:pPr>
            <a:r>
              <a:rPr sz="1200" b="0">
                <a:solidFill>
                  <a:srgbClr val="5B6372"/>
                </a:solidFill>
                <a:latin typeface="Arial"/>
              </a:rPr>
              <a:t>Translates features into benefits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One brand experience, every touchpoint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strategy &amp; identity practice</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Systematic Brand Development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Strategy</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 positioning framework.</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Research Industry</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Analyse competitors and the target audience.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Identify Attributes</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Define the hard and soft characteristics to lead with.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Hard vs Soft Brand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Hard Attributes — Features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Soft Attributes — Feelings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Performance — quantifiable product capabilities</a:t>
            </a:r>
          </a:p>
          <a:p>
            <a:pPr>
              <a:spcAft>
                <a:spcPts val="1000"/>
              </a:spcAft>
            </a:pPr>
            <a:r>
              <a:rPr sz="1600" b="0">
                <a:solidFill>
                  <a:srgbClr val="161B26"/>
                </a:solidFill>
                <a:latin typeface="Arial"/>
              </a:rPr>
              <a:t>•  Features — specific functional elements</a:t>
            </a:r>
          </a:p>
          <a:p>
            <a:pPr>
              <a:spcAft>
                <a:spcPts val="1000"/>
              </a:spcAft>
            </a:pPr>
            <a:r>
              <a:rPr sz="1600" b="0">
                <a:solidFill>
                  <a:srgbClr val="161B26"/>
                </a:solidFill>
                <a:latin typeface="Arial"/>
              </a:rPr>
              <a:t>•  Quality — measurable build/ingredient standards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Prestige — perceived status and craft</a:t>
            </a:r>
          </a:p>
          <a:p>
            <a:pPr>
              <a:spcAft>
                <a:spcPts val="1000"/>
              </a:spcAft>
            </a:pPr>
            <a:r>
              <a:rPr sz="1600" b="0">
                <a:solidFill>
                  <a:srgbClr val="161B26"/>
                </a:solidFill>
                <a:latin typeface="Arial"/>
              </a:rPr>
              <a:t>•  Trust — reliability and confidence</a:t>
            </a:r>
          </a:p>
          <a:p>
            <a:pPr>
              <a:spcAft>
                <a:spcPts val="1000"/>
              </a:spcAft>
            </a:pPr>
            <a:r>
              <a:rPr sz="1600" b="0">
                <a:solidFill>
                  <a:srgbClr val="161B26"/>
                </a:solidFill>
                <a:latin typeface="Arial"/>
              </a:rPr>
              <a:t>•  Belonging — the feeling of being genuinely known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hard/soft brand-attribute framework</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Keller's Customer-Based Brand Equity Pyramid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Salience — Identity</a:t>
            </a:r>
          </a:p>
          <a:p>
            <a:pPr algn="l">
              <a:spcAft>
                <a:spcPts val="300"/>
              </a:spcAft>
            </a:pPr>
            <a:r>
              <a:rPr sz="1200" b="0">
                <a:solidFill>
                  <a:srgbClr val="5B6372"/>
                </a:solidFill>
                <a:latin typeface="Arial"/>
              </a:rPr>
              <a:t>Is the brand noticed, and easily recalled, at 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&amp; Imagery — Meaning</a:t>
            </a:r>
          </a:p>
          <a:p>
            <a:pPr algn="l">
              <a:spcAft>
                <a:spcPts val="300"/>
              </a:spcAft>
            </a:pPr>
            <a:r>
              <a:rPr sz="1200" b="0">
                <a:solidFill>
                  <a:srgbClr val="5B6372"/>
                </a:solidFill>
                <a:latin typeface="Arial"/>
              </a:rPr>
              <a:t>What the product does, and the lifestyle it signals.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Judgments &amp; Feelings — Response</a:t>
            </a:r>
          </a:p>
          <a:p>
            <a:pPr algn="l">
              <a:spcAft>
                <a:spcPts val="300"/>
              </a:spcAft>
            </a:pPr>
            <a:r>
              <a:rPr sz="1200" b="0">
                <a:solidFill>
                  <a:srgbClr val="5B6372"/>
                </a:solidFill>
                <a:latin typeface="Arial"/>
              </a:rPr>
              <a:t>The customer's rational verdict and emotional reaction.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Resonance — Relationships</a:t>
            </a:r>
          </a:p>
          <a:p>
            <a:pPr algn="l">
              <a:spcAft>
                <a:spcPts val="300"/>
              </a:spcAft>
            </a:pPr>
            <a:r>
              <a:rPr sz="1200" b="0">
                <a:solidFill>
                  <a:srgbClr val="5B6372"/>
                </a:solidFill>
                <a:latin typeface="Arial"/>
              </a:rPr>
              <a:t>Deep loyalty — the customer becomes an active advocate.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Keller, K.L. — Customer-Based Brand Equity (CBBE) Model, Strategic Brand Management</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Hard Specs Sold as a Soft Feeling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Apple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"Designed by Apple in California" turns a hard attribute (where it's engineered) into a soft one (craft, care, exclusivity) — the same discipline Nimbus needs to turn "3 clinically-tested actives" into "your skin, genuinely cared for."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For the relaunch, the founder wants one page that finally settles what Nimbus stands for — because right now the brand isn't described the same way twice. Retail calls it "affordable self-care." Marketing calls it "clean beauty for real skin." Customer Service calls it "the brand that actually replies."</a:t>
            </a:r>
          </a:p>
          <a:p>
            <a:pPr algn="l">
              <a:spcAft>
                <a:spcPts val="800"/>
              </a:spcAft>
            </a:pPr>
            <a:r>
              <a:rPr sz="1450" b="0">
                <a:solidFill>
                  <a:srgbClr val="161B26"/>
                </a:solidFill>
                <a:latin typeface="Arial"/>
              </a:rPr>
              <a:t>Your table must map Nimbus's hard attributes (the real product facts) and soft attributes (the feelings those facts create) into one brand concept the founder can approve — and that all three teams could say in their own words.</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 attribute map (3 hard + 3 soft attributes) linked to one approved brand concept line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are three hard attributes (measurable facts) Nimbus can genuinely claim about its skincare range?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soft attribute — the feeling — does each hard attribute actually create, and is it the same feeling Retail, Marketing and Customer Service currently describe?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Keller's Brand Equity Pyramid, which level is Nimbus weakest at right now: being noticed (Salience), understood (Performance/Imagery), felt (Judgments/Feelings), or trusted enough to be recommended (Resonance)?</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single brand concept line could the founder approve that all three teams could restate consistently?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wipe dir="l"/>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it harder for your table to agree on the hard attributes or the soft attributes — and why?</a:t>
            </a:r>
          </a:p>
          <a:p>
            <a:pPr>
              <a:spcAft>
                <a:spcPts val="900"/>
              </a:spcAft>
            </a:pPr>
            <a:r>
              <a:rPr sz="1450" b="0">
                <a:solidFill>
                  <a:srgbClr val="161B26"/>
                </a:solidFill>
                <a:latin typeface="Arial"/>
              </a:rPr>
              <a:t>•  Which pyramid level did your table disagree about the most?</a:t>
            </a:r>
          </a:p>
          <a:p>
            <a:pPr>
              <a:spcAft>
                <a:spcPts val="900"/>
              </a:spcAft>
            </a:pPr>
            <a:r>
              <a:rPr sz="1450" b="0">
                <a:solidFill>
                  <a:srgbClr val="161B26"/>
                </a:solidFill>
                <a:latin typeface="Arial"/>
              </a:rPr>
              <a:t>•  If a customer only ever experienced Nimbus through a five-minute Customer Service chat, which attribute would that conversation need to prove true?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3 hard + 3 soft attributes connected to one brand concept line, and can name the CBBE pyramid level the concept is designed to strengthen.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Assess organisation's reputation on social media and other platforms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Assess organisation's reputation on social media and other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Monitoring</a:t>
            </a:r>
          </a:p>
          <a:p>
            <a:pPr algn="l">
              <a:spcAft>
                <a:spcPts val="300"/>
              </a:spcAft>
            </a:pPr>
            <a:r>
              <a:rPr sz="1200" b="0">
                <a:solidFill>
                  <a:srgbClr val="5B6372"/>
                </a:solidFill>
                <a:latin typeface="Arial"/>
              </a:rPr>
              <a:t>Tracks mentions across digital platforms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Sentiment Analysis</a:t>
            </a:r>
          </a:p>
          <a:p>
            <a:pPr algn="l">
              <a:spcAft>
                <a:spcPts val="300"/>
              </a:spcAft>
            </a:pPr>
            <a:r>
              <a:rPr sz="1200" b="0">
                <a:solidFill>
                  <a:srgbClr val="5B6372"/>
                </a:solidFill>
                <a:latin typeface="Arial"/>
              </a:rPr>
              <a:t>Reads the tone behind customer feedback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Multi-Platform</a:t>
            </a:r>
          </a:p>
          <a:p>
            <a:pPr algn="l">
              <a:spcAft>
                <a:spcPts val="300"/>
              </a:spcAft>
            </a:pPr>
            <a:r>
              <a:rPr sz="1200" b="0">
                <a:solidFill>
                  <a:srgbClr val="5B6372"/>
                </a:solidFill>
                <a:latin typeface="Arial"/>
              </a:rPr>
              <a:t>Covers every social and review site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Response</a:t>
            </a:r>
          </a:p>
          <a:p>
            <a:pPr algn="l">
              <a:spcAft>
                <a:spcPts val="300"/>
              </a:spcAft>
            </a:pPr>
            <a:r>
              <a:rPr sz="1200" b="0">
                <a:solidFill>
                  <a:srgbClr val="5B6372"/>
                </a:solidFill>
                <a:latin typeface="Arial"/>
              </a:rPr>
              <a:t>Turns findings into an action plan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digital reputation monitoring practice</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Reputation Assessment Process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Conduct Audit</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Review the organisation's current digital presence.</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Set Monitoring</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Implement tracking systems across the chosen platforms.</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Analyse Sentiment</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Evaluate the tone of customer feedback.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Reactive vs Proactive Reputation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Reactive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Proactive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Damage Control — Crisis-response focus, after the fact</a:t>
            </a:r>
          </a:p>
          <a:p>
            <a:pPr>
              <a:spcAft>
                <a:spcPts val="1000"/>
              </a:spcAft>
            </a:pPr>
            <a:r>
              <a:rPr sz="1600" b="0">
                <a:solidFill>
                  <a:srgbClr val="161B26"/>
                </a:solidFill>
                <a:latin typeface="Arial"/>
              </a:rPr>
              <a:t>•  Post-Issue — Action only once problems occur</a:t>
            </a:r>
          </a:p>
          <a:p>
            <a:pPr>
              <a:spcAft>
                <a:spcPts val="1000"/>
              </a:spcAft>
            </a:pPr>
            <a:r>
              <a:rPr sz="1600" b="0">
                <a:solidFill>
                  <a:srgbClr val="161B26"/>
                </a:solidFill>
                <a:latin typeface="Arial"/>
              </a:rPr>
              <a:t>•  High Risk — Damage is already visible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Prevention Focus — Early issue identification</a:t>
            </a:r>
          </a:p>
          <a:p>
            <a:pPr>
              <a:spcAft>
                <a:spcPts val="1000"/>
              </a:spcAft>
            </a:pPr>
            <a:r>
              <a:rPr sz="1600" b="0">
                <a:solidFill>
                  <a:srgbClr val="161B26"/>
                </a:solidFill>
                <a:latin typeface="Arial"/>
              </a:rPr>
              <a:t>•  Continuous Tracking — Ongoing brand monitoring</a:t>
            </a:r>
          </a:p>
          <a:p>
            <a:pPr>
              <a:spcAft>
                <a:spcPts val="1000"/>
              </a:spcAft>
            </a:pPr>
            <a:r>
              <a:rPr sz="1600" b="0">
                <a:solidFill>
                  <a:srgbClr val="161B26"/>
                </a:solidFill>
                <a:latin typeface="Arial"/>
              </a:rPr>
              <a:t>•  Risk Mitigation — Caught before it spreads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reputation-monitoring best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Distribution Statistics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38%</a:t>
            </a:r>
          </a:p>
        </p:txBody>
      </p:sp>
      <p:sp>
        <p:nvSpPr>
          <p:cNvPr id="10" name="TextBox 9"/>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Google</a:t>
            </a:r>
          </a:p>
        </p:txBody>
      </p:sp>
      <p:sp>
        <p:nvSpPr>
          <p:cNvPr id="11" name="Rectangle 10"/>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38%</a:t>
            </a:r>
          </a:p>
        </p:txBody>
      </p:sp>
      <p:sp>
        <p:nvSpPr>
          <p:cNvPr id="14" name="TextBox 13"/>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Instagram</a:t>
            </a:r>
          </a:p>
        </p:txBody>
      </p:sp>
      <p:sp>
        <p:nvSpPr>
          <p:cNvPr id="15" name="Rectangle 14"/>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24%</a:t>
            </a:r>
          </a:p>
        </p:txBody>
      </p:sp>
      <p:sp>
        <p:nvSpPr>
          <p:cNvPr id="18" name="TextBox 17"/>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Other Platforms</a:t>
            </a:r>
          </a:p>
        </p:txBody>
      </p:sp>
      <p:sp>
        <p:nvSpPr>
          <p:cNvPr id="19" name="Rectangle 18"/>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distribution, digital reputation audits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Reviews Are the Reputation, Not Just a Reflection of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Airbnb</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Airbnb's entire trust model runs on visible, unfiltered reviews — hosts who monitor and respond fast build measurably higher booking rates than hosts who only check in when something goes wrong.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Six months ago a competitor's viral campaign pulled attention away from Nimbus Wellness. Since then, engagement has fallen and reviews increasingly say the brand "doesn't feel personal anymore."</a:t>
            </a:r>
          </a:p>
          <a:p>
            <a:pPr algn="l">
              <a:spcAft>
                <a:spcPts val="800"/>
              </a:spcAft>
            </a:pPr>
            <a:r>
              <a:rPr sz="1450" b="0">
                <a:solidFill>
                  <a:srgbClr val="161B26"/>
                </a:solidFill>
                <a:latin typeface="Arial"/>
              </a:rPr>
              <a:t>Before the founder finalises the relaunch brief, leadership wants a clear-eyed audit of where Nimbus's reputation actually stands today — not where the founder assumes it stands.</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reputation-assessment report (3 platforms) with sentiment breakdown and a response action per theme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three platforms will actually reveal how customers feel about Nimbus right now — and why those three?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Looking at a sample of recent mentions and reviews, what recurring themes sit behind "doesn't feel personal anymore"?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you categorise the balance of positive, neutral and negative sentiment — and does it match what the founder currently believes?</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highest-priority response action leadership should take before the relaunch brief is finalised?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wipe dir="l"/>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sentiment split match what you expected before you actually read the reviews?</a:t>
            </a:r>
          </a:p>
          <a:p>
            <a:pPr>
              <a:spcAft>
                <a:spcPts val="900"/>
              </a:spcAft>
            </a:pPr>
            <a:r>
              <a:rPr sz="1450" b="0">
                <a:solidFill>
                  <a:srgbClr val="161B26"/>
                </a:solidFill>
                <a:latin typeface="Arial"/>
              </a:rPr>
              <a:t>•  Which recurring theme was hardest to reduce to one line for a leadership summary?</a:t>
            </a:r>
          </a:p>
          <a:p>
            <a:pPr>
              <a:spcAft>
                <a:spcPts val="900"/>
              </a:spcAft>
            </a:pPr>
            <a:r>
              <a:rPr sz="1450" b="0">
                <a:solidFill>
                  <a:srgbClr val="161B26"/>
                </a:solidFill>
                <a:latin typeface="Arial"/>
              </a:rPr>
              <a:t>•  If "doesn't feel personal anymore" kept appearing after the relaunch too, what would that tell you about the relaunch plan itself?</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platform-by-platform sentiment breakdown, three named recurring themes, and one response action per theme leadership could act on this week.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Stakeholders and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Stakeholder Influence Mapping</a:t>
            </a:r>
          </a:p>
          <a:p>
            <a:pPr algn="l">
              <a:spcAft>
                <a:spcPts val="300"/>
              </a:spcAft>
            </a:pPr>
            <a:r>
              <a:rPr sz="1200" b="0">
                <a:solidFill>
                  <a:srgbClr val="5B6372"/>
                </a:solidFill>
                <a:latin typeface="Arial"/>
              </a:rPr>
              <a:t>You can now: Identify internal and external stakeholders influencing the brand.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 Mapping Workshop</a:t>
            </a:r>
          </a:p>
          <a:p>
            <a:pPr algn="l">
              <a:spcAft>
                <a:spcPts val="300"/>
              </a:spcAft>
            </a:pPr>
            <a:r>
              <a:rPr sz="1200" b="0">
                <a:solidFill>
                  <a:srgbClr val="5B6372"/>
                </a:solidFill>
                <a:latin typeface="Arial"/>
              </a:rPr>
              <a:t>You can now: Recognise the types of external audience and their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Attribute Mapping</a:t>
            </a:r>
          </a:p>
          <a:p>
            <a:pPr algn="l">
              <a:spcAft>
                <a:spcPts val="300"/>
              </a:spcAft>
            </a:pPr>
            <a:r>
              <a:rPr sz="1200" b="0">
                <a:solidFill>
                  <a:srgbClr val="5B6372"/>
                </a:solidFill>
                <a:latin typeface="Arial"/>
              </a:rPr>
              <a:t>You can now: Draft branding designs and ideas highlighting the product or service's attributes and benefits.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Reputation Audit Exercise</a:t>
            </a:r>
          </a:p>
          <a:p>
            <a:pPr algn="l">
              <a:spcAft>
                <a:spcPts val="300"/>
              </a:spcAft>
            </a:pPr>
            <a:r>
              <a:rPr sz="1200" b="0">
                <a:solidFill>
                  <a:srgbClr val="5B6372"/>
                </a:solidFill>
                <a:latin typeface="Arial"/>
              </a:rPr>
              <a:t>You can now: Assess the organisation's reputation on social media and other platforms.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brand that hasn't mapped its stakeholders is still being defined by them.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LU1: Stakeholders and Organisation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zoom/>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Customer Influence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Customer Perceptions · Brand Reputation · Campaign Reception · Active Listening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push dir="l"/>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Customer Influence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Customers form perceptions of a brand, its products and its services from quality, experience and communication — a gap often exists between what a company believes and what customers actually feel.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Customers actively shape brand reputation through word-of-mouth, reviews and advocacy — their voice can amplify or damage a brand faster than any paid campaign.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Documenting customer reception and the outcome of branding campaigns turns anecdotal feedback into evidence for future campaign decisions.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Active listening — full attention, a structured framework, and paraphrasing without judgement — reveals the customer's true perspective of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TWO MENTAL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Marketing Funnel vs the Customer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funnel explains where customers drop off; the journey explains why.</a:t>
            </a:r>
          </a:p>
        </p:txBody>
      </p:sp>
      <p:sp>
        <p:nvSpPr>
          <p:cNvPr id="8" name="Rectangle 7"/>
          <p:cNvSpPr/>
          <p:nvPr/>
        </p:nvSpPr>
        <p:spPr>
          <a:xfrm>
            <a:off x="777240" y="2148840"/>
            <a:ext cx="5193792" cy="3429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50008"/>
            <a:ext cx="5193792" cy="310896"/>
          </a:xfrm>
          <a:prstGeom prst="rect">
            <a:avLst/>
          </a:prstGeom>
          <a:noFill/>
        </p:spPr>
        <p:txBody>
          <a:bodyPr wrap="square" anchor="t">
            <a:spAutoFit/>
          </a:bodyPr>
          <a:lstStyle/>
          <a:p>
            <a:pPr algn="ctr">
              <a:spcAft>
                <a:spcPts val="400"/>
              </a:spcAft>
            </a:pPr>
            <a:r>
              <a:rPr sz="1300" b="1">
                <a:solidFill>
                  <a:srgbClr val="1F6FEB"/>
                </a:solidFill>
                <a:latin typeface="Arial"/>
              </a:rPr>
              <a:t>THE MARKETING FUNNEL</a:t>
            </a:r>
          </a:p>
        </p:txBody>
      </p:sp>
      <p:sp>
        <p:nvSpPr>
          <p:cNvPr id="11" name="TextBox 10"/>
          <p:cNvSpPr txBox="1"/>
          <p:nvPr/>
        </p:nvSpPr>
        <p:spPr>
          <a:xfrm>
            <a:off x="777240" y="2679192"/>
            <a:ext cx="5193792" cy="274320"/>
          </a:xfrm>
          <a:prstGeom prst="rect">
            <a:avLst/>
          </a:prstGeom>
          <a:noFill/>
        </p:spPr>
        <p:txBody>
          <a:bodyPr wrap="square" anchor="t">
            <a:spAutoFit/>
          </a:bodyPr>
          <a:lstStyle/>
          <a:p>
            <a:pPr algn="ctr">
              <a:spcAft>
                <a:spcPts val="400"/>
              </a:spcAft>
            </a:pPr>
            <a:r>
              <a:rPr sz="1050" b="0">
                <a:solidFill>
                  <a:srgbClr val="5B6372"/>
                </a:solidFill>
                <a:latin typeface="Arial"/>
              </a:rPr>
              <a:t>Business-centric  ·  linear  ·  ends at the sale</a:t>
            </a:r>
          </a:p>
        </p:txBody>
      </p:sp>
      <p:sp>
        <p:nvSpPr>
          <p:cNvPr id="12" name="Rectangle 11"/>
          <p:cNvSpPr/>
          <p:nvPr/>
        </p:nvSpPr>
        <p:spPr>
          <a:xfrm>
            <a:off x="1316736" y="3063240"/>
            <a:ext cx="4114800" cy="365760"/>
          </a:xfrm>
          <a:prstGeom prst="rect">
            <a:avLst/>
          </a:prstGeom>
          <a:solidFill>
            <a:srgbClr val="8AB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6736" y="3063240"/>
            <a:ext cx="4114800" cy="365760"/>
          </a:xfrm>
          <a:prstGeom prst="rect">
            <a:avLst/>
          </a:prstGeom>
          <a:noFill/>
        </p:spPr>
        <p:txBody>
          <a:bodyPr wrap="square" anchor="ctr">
            <a:spAutoFit/>
          </a:bodyPr>
          <a:lstStyle/>
          <a:p>
            <a:pPr algn="ctr">
              <a:spcAft>
                <a:spcPts val="400"/>
              </a:spcAft>
            </a:pPr>
            <a:r>
              <a:rPr sz="1050" b="1">
                <a:solidFill>
                  <a:srgbClr val="FFFFFF"/>
                </a:solidFill>
                <a:latin typeface="Arial"/>
              </a:rPr>
              <a:t>AWARENESS</a:t>
            </a:r>
          </a:p>
        </p:txBody>
      </p:sp>
      <p:sp>
        <p:nvSpPr>
          <p:cNvPr id="14" name="Rectangle 13"/>
          <p:cNvSpPr/>
          <p:nvPr/>
        </p:nvSpPr>
        <p:spPr>
          <a:xfrm>
            <a:off x="1613916" y="3493008"/>
            <a:ext cx="3520440" cy="365760"/>
          </a:xfrm>
          <a:prstGeom prst="rect">
            <a:avLst/>
          </a:prstGeom>
          <a:solidFill>
            <a:srgbClr val="8AB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13916" y="3493008"/>
            <a:ext cx="3520440" cy="365760"/>
          </a:xfrm>
          <a:prstGeom prst="rect">
            <a:avLst/>
          </a:prstGeom>
          <a:noFill/>
        </p:spPr>
        <p:txBody>
          <a:bodyPr wrap="square" anchor="ctr">
            <a:spAutoFit/>
          </a:bodyPr>
          <a:lstStyle/>
          <a:p>
            <a:pPr algn="ctr">
              <a:spcAft>
                <a:spcPts val="400"/>
              </a:spcAft>
            </a:pPr>
            <a:r>
              <a:rPr sz="1050" b="1">
                <a:solidFill>
                  <a:srgbClr val="FFFFFF"/>
                </a:solidFill>
                <a:latin typeface="Arial"/>
              </a:rPr>
              <a:t>INTEREST</a:t>
            </a:r>
          </a:p>
        </p:txBody>
      </p:sp>
      <p:sp>
        <p:nvSpPr>
          <p:cNvPr id="16" name="Rectangle 15"/>
          <p:cNvSpPr/>
          <p:nvPr/>
        </p:nvSpPr>
        <p:spPr>
          <a:xfrm>
            <a:off x="1911096" y="3922776"/>
            <a:ext cx="2926080" cy="365760"/>
          </a:xfrm>
          <a:prstGeom prst="rect">
            <a:avLst/>
          </a:prstGeom>
          <a:solidFill>
            <a:srgbClr val="8AB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11096" y="3922776"/>
            <a:ext cx="2926080" cy="365760"/>
          </a:xfrm>
          <a:prstGeom prst="rect">
            <a:avLst/>
          </a:prstGeom>
          <a:noFill/>
        </p:spPr>
        <p:txBody>
          <a:bodyPr wrap="square" anchor="ctr">
            <a:spAutoFit/>
          </a:bodyPr>
          <a:lstStyle/>
          <a:p>
            <a:pPr algn="ctr">
              <a:spcAft>
                <a:spcPts val="400"/>
              </a:spcAft>
            </a:pPr>
            <a:r>
              <a:rPr sz="1050" b="1">
                <a:solidFill>
                  <a:srgbClr val="FFFFFF"/>
                </a:solidFill>
                <a:latin typeface="Arial"/>
              </a:rPr>
              <a:t>CONSIDERATION</a:t>
            </a:r>
          </a:p>
        </p:txBody>
      </p:sp>
      <p:sp>
        <p:nvSpPr>
          <p:cNvPr id="18" name="Rectangle 17"/>
          <p:cNvSpPr/>
          <p:nvPr/>
        </p:nvSpPr>
        <p:spPr>
          <a:xfrm>
            <a:off x="2208276" y="4352544"/>
            <a:ext cx="2331720" cy="365760"/>
          </a:xfrm>
          <a:prstGeom prst="rect">
            <a:avLst/>
          </a:prstGeom>
          <a:solidFill>
            <a:srgbClr val="8AB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08276" y="4352544"/>
            <a:ext cx="2331720" cy="365760"/>
          </a:xfrm>
          <a:prstGeom prst="rect">
            <a:avLst/>
          </a:prstGeom>
          <a:noFill/>
        </p:spPr>
        <p:txBody>
          <a:bodyPr wrap="square" anchor="ctr">
            <a:spAutoFit/>
          </a:bodyPr>
          <a:lstStyle/>
          <a:p>
            <a:pPr algn="ctr">
              <a:spcAft>
                <a:spcPts val="400"/>
              </a:spcAft>
            </a:pPr>
            <a:r>
              <a:rPr sz="1050" b="1">
                <a:solidFill>
                  <a:srgbClr val="FFFFFF"/>
                </a:solidFill>
                <a:latin typeface="Arial"/>
              </a:rPr>
              <a:t>INTENT</a:t>
            </a:r>
          </a:p>
        </p:txBody>
      </p:sp>
      <p:sp>
        <p:nvSpPr>
          <p:cNvPr id="20" name="Rectangle 19"/>
          <p:cNvSpPr/>
          <p:nvPr/>
        </p:nvSpPr>
        <p:spPr>
          <a:xfrm>
            <a:off x="2505456" y="4782312"/>
            <a:ext cx="173736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05456" y="4782312"/>
            <a:ext cx="1737360" cy="365760"/>
          </a:xfrm>
          <a:prstGeom prst="rect">
            <a:avLst/>
          </a:prstGeom>
          <a:noFill/>
        </p:spPr>
        <p:txBody>
          <a:bodyPr wrap="square" anchor="ctr">
            <a:spAutoFit/>
          </a:bodyPr>
          <a:lstStyle/>
          <a:p>
            <a:pPr algn="ctr">
              <a:spcAft>
                <a:spcPts val="400"/>
              </a:spcAft>
            </a:pPr>
            <a:r>
              <a:rPr sz="1050" b="1">
                <a:solidFill>
                  <a:srgbClr val="FFFFFF"/>
                </a:solidFill>
                <a:latin typeface="Arial"/>
              </a:rPr>
              <a:t>PURCHASE</a:t>
            </a:r>
          </a:p>
        </p:txBody>
      </p:sp>
      <p:sp>
        <p:nvSpPr>
          <p:cNvPr id="22" name="TextBox 21"/>
          <p:cNvSpPr txBox="1"/>
          <p:nvPr/>
        </p:nvSpPr>
        <p:spPr>
          <a:xfrm>
            <a:off x="1051560" y="5120640"/>
            <a:ext cx="4645152" cy="384048"/>
          </a:xfrm>
          <a:prstGeom prst="rect">
            <a:avLst/>
          </a:prstGeom>
          <a:noFill/>
        </p:spPr>
        <p:txBody>
          <a:bodyPr wrap="square" anchor="t">
            <a:spAutoFit/>
          </a:bodyPr>
          <a:lstStyle/>
          <a:p>
            <a:pPr algn="ctr">
              <a:spcAft>
                <a:spcPts val="400"/>
              </a:spcAft>
            </a:pPr>
            <a:r>
              <a:rPr sz="1050" b="0">
                <a:solidFill>
                  <a:srgbClr val="161B26"/>
                </a:solidFill>
                <a:latin typeface="Arial"/>
              </a:rPr>
              <a:t>Tracks drop-off and acquisition cost.</a:t>
            </a:r>
          </a:p>
        </p:txBody>
      </p:sp>
      <p:sp>
        <p:nvSpPr>
          <p:cNvPr id="23" name="Rectangle 22"/>
          <p:cNvSpPr/>
          <p:nvPr/>
        </p:nvSpPr>
        <p:spPr>
          <a:xfrm>
            <a:off x="6217920" y="2148840"/>
            <a:ext cx="5193792" cy="3429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148840"/>
            <a:ext cx="519379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2350008"/>
            <a:ext cx="5193792" cy="310896"/>
          </a:xfrm>
          <a:prstGeom prst="rect">
            <a:avLst/>
          </a:prstGeom>
          <a:noFill/>
        </p:spPr>
        <p:txBody>
          <a:bodyPr wrap="square" anchor="t">
            <a:spAutoFit/>
          </a:bodyPr>
          <a:lstStyle/>
          <a:p>
            <a:pPr algn="ctr">
              <a:spcAft>
                <a:spcPts val="400"/>
              </a:spcAft>
            </a:pPr>
            <a:r>
              <a:rPr sz="1300" b="1">
                <a:solidFill>
                  <a:srgbClr val="10B981"/>
                </a:solidFill>
                <a:latin typeface="Arial"/>
              </a:rPr>
              <a:t>THE CUSTOMER JOURNEY</a:t>
            </a:r>
          </a:p>
        </p:txBody>
      </p:sp>
      <p:sp>
        <p:nvSpPr>
          <p:cNvPr id="26" name="TextBox 25"/>
          <p:cNvSpPr txBox="1"/>
          <p:nvPr/>
        </p:nvSpPr>
        <p:spPr>
          <a:xfrm>
            <a:off x="6217920" y="2679192"/>
            <a:ext cx="5193792" cy="274320"/>
          </a:xfrm>
          <a:prstGeom prst="rect">
            <a:avLst/>
          </a:prstGeom>
          <a:noFill/>
        </p:spPr>
        <p:txBody>
          <a:bodyPr wrap="square" anchor="t">
            <a:spAutoFit/>
          </a:bodyPr>
          <a:lstStyle/>
          <a:p>
            <a:pPr algn="ctr">
              <a:spcAft>
                <a:spcPts val="400"/>
              </a:spcAft>
            </a:pPr>
            <a:r>
              <a:rPr sz="1050" b="0">
                <a:solidFill>
                  <a:srgbClr val="5B6372"/>
                </a:solidFill>
                <a:latin typeface="Arial"/>
              </a:rPr>
              <a:t>Customer-centric  ·  non-linear  ·  loops into advocacy</a:t>
            </a:r>
          </a:p>
        </p:txBody>
      </p:sp>
      <p:sp>
        <p:nvSpPr>
          <p:cNvPr id="27" name="Rectangle 26"/>
          <p:cNvSpPr/>
          <p:nvPr/>
        </p:nvSpPr>
        <p:spPr>
          <a:xfrm>
            <a:off x="8165592" y="3008375"/>
            <a:ext cx="129844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65592" y="300837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DISCOVERY</a:t>
            </a:r>
          </a:p>
        </p:txBody>
      </p:sp>
      <p:sp>
        <p:nvSpPr>
          <p:cNvPr id="29" name="Rectangle 28"/>
          <p:cNvSpPr/>
          <p:nvPr/>
        </p:nvSpPr>
        <p:spPr>
          <a:xfrm>
            <a:off x="9765217" y="3419855"/>
            <a:ext cx="1298448" cy="384048"/>
          </a:xfrm>
          <a:prstGeom prst="rect">
            <a:avLst/>
          </a:prstGeom>
          <a:solidFill>
            <a:srgbClr val="5AC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5217" y="341985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RESEARCH</a:t>
            </a:r>
          </a:p>
        </p:txBody>
      </p:sp>
      <p:sp>
        <p:nvSpPr>
          <p:cNvPr id="31" name="Rectangle 30"/>
          <p:cNvSpPr/>
          <p:nvPr/>
        </p:nvSpPr>
        <p:spPr>
          <a:xfrm>
            <a:off x="9765217" y="4242815"/>
            <a:ext cx="1298448" cy="384048"/>
          </a:xfrm>
          <a:prstGeom prst="rect">
            <a:avLst/>
          </a:prstGeom>
          <a:solidFill>
            <a:srgbClr val="5AC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65217" y="424281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PURCHASE</a:t>
            </a:r>
          </a:p>
        </p:txBody>
      </p:sp>
      <p:sp>
        <p:nvSpPr>
          <p:cNvPr id="33" name="Rectangle 32"/>
          <p:cNvSpPr/>
          <p:nvPr/>
        </p:nvSpPr>
        <p:spPr>
          <a:xfrm>
            <a:off x="8165592" y="4654295"/>
            <a:ext cx="1298448" cy="384048"/>
          </a:xfrm>
          <a:prstGeom prst="rect">
            <a:avLst/>
          </a:prstGeom>
          <a:solidFill>
            <a:srgbClr val="5AC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5592" y="465429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EXPERIENCE</a:t>
            </a:r>
          </a:p>
        </p:txBody>
      </p:sp>
      <p:sp>
        <p:nvSpPr>
          <p:cNvPr id="35" name="Rectangle 34"/>
          <p:cNvSpPr/>
          <p:nvPr/>
        </p:nvSpPr>
        <p:spPr>
          <a:xfrm>
            <a:off x="6565966" y="4242815"/>
            <a:ext cx="1298448" cy="384048"/>
          </a:xfrm>
          <a:prstGeom prst="rect">
            <a:avLst/>
          </a:prstGeom>
          <a:solidFill>
            <a:srgbClr val="5AC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65966" y="424281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RETENTION</a:t>
            </a:r>
          </a:p>
        </p:txBody>
      </p:sp>
      <p:sp>
        <p:nvSpPr>
          <p:cNvPr id="37" name="Rectangle 36"/>
          <p:cNvSpPr/>
          <p:nvPr/>
        </p:nvSpPr>
        <p:spPr>
          <a:xfrm>
            <a:off x="6565966" y="3419855"/>
            <a:ext cx="129844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966" y="3419855"/>
            <a:ext cx="1298448" cy="384048"/>
          </a:xfrm>
          <a:prstGeom prst="rect">
            <a:avLst/>
          </a:prstGeom>
          <a:noFill/>
        </p:spPr>
        <p:txBody>
          <a:bodyPr wrap="square" anchor="ctr">
            <a:spAutoFit/>
          </a:bodyPr>
          <a:lstStyle/>
          <a:p>
            <a:pPr algn="ctr">
              <a:spcAft>
                <a:spcPts val="400"/>
              </a:spcAft>
            </a:pPr>
            <a:r>
              <a:rPr sz="900" b="1">
                <a:solidFill>
                  <a:srgbClr val="FFFFFF"/>
                </a:solidFill>
                <a:latin typeface="Arial"/>
              </a:rPr>
              <a:t>ADVOCACY</a:t>
            </a:r>
          </a:p>
        </p:txBody>
      </p:sp>
      <p:sp>
        <p:nvSpPr>
          <p:cNvPr id="39" name="Oval 38"/>
          <p:cNvSpPr/>
          <p:nvPr/>
        </p:nvSpPr>
        <p:spPr>
          <a:xfrm>
            <a:off x="8366760" y="3575303"/>
            <a:ext cx="896112" cy="8961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3575303"/>
            <a:ext cx="896112" cy="896112"/>
          </a:xfrm>
          <a:prstGeom prst="rect">
            <a:avLst/>
          </a:prstGeom>
          <a:noFill/>
        </p:spPr>
        <p:txBody>
          <a:bodyPr wrap="square" anchor="ctr">
            <a:spAutoFit/>
          </a:bodyPr>
          <a:lstStyle/>
          <a:p>
            <a:pPr algn="ctr">
              <a:spcAft>
                <a:spcPts val="0"/>
              </a:spcAft>
            </a:pPr>
            <a:r>
              <a:rPr sz="2000" b="1">
                <a:solidFill>
                  <a:srgbClr val="10B981"/>
                </a:solidFill>
                <a:latin typeface="Arial"/>
              </a:rPr>
              <a:t>↻</a:t>
            </a:r>
          </a:p>
          <a:p>
            <a:pPr algn="ctr">
              <a:spcAft>
                <a:spcPts val="0"/>
              </a:spcAft>
            </a:pPr>
            <a:r>
              <a:rPr sz="850" b="0">
                <a:solidFill>
                  <a:srgbClr val="5B6372"/>
                </a:solidFill>
                <a:latin typeface="Arial"/>
              </a:rPr>
              <a:t>loops</a:t>
            </a:r>
          </a:p>
        </p:txBody>
      </p:sp>
      <p:sp>
        <p:nvSpPr>
          <p:cNvPr id="41" name="TextBox 40"/>
          <p:cNvSpPr txBox="1"/>
          <p:nvPr/>
        </p:nvSpPr>
        <p:spPr>
          <a:xfrm>
            <a:off x="6492240" y="5120640"/>
            <a:ext cx="4645152" cy="384048"/>
          </a:xfrm>
          <a:prstGeom prst="rect">
            <a:avLst/>
          </a:prstGeom>
          <a:noFill/>
        </p:spPr>
        <p:txBody>
          <a:bodyPr wrap="square" anchor="t">
            <a:spAutoFit/>
          </a:bodyPr>
          <a:lstStyle/>
          <a:p>
            <a:pPr algn="ctr">
              <a:spcAft>
                <a:spcPts val="400"/>
              </a:spcAft>
            </a:pPr>
            <a:r>
              <a:rPr sz="1050" b="0">
                <a:solidFill>
                  <a:srgbClr val="161B26"/>
                </a:solidFill>
                <a:latin typeface="Arial"/>
              </a:rPr>
              <a:t>Advocacy feeds the next customer's discovery.</a:t>
            </a:r>
          </a:p>
        </p:txBody>
      </p:sp>
      <p:sp>
        <p:nvSpPr>
          <p:cNvPr id="42" name="Rectangle 41"/>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580644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280" y="5806440"/>
            <a:ext cx="10058400" cy="566928"/>
          </a:xfrm>
          <a:prstGeom prst="rect">
            <a:avLst/>
          </a:prstGeom>
          <a:noFill/>
        </p:spPr>
        <p:txBody>
          <a:bodyPr wrap="square" anchor="ctr">
            <a:spAutoFit/>
          </a:bodyPr>
          <a:lstStyle/>
          <a:p>
            <a:pPr algn="l">
              <a:spcAft>
                <a:spcPts val="400"/>
              </a:spcAft>
            </a:pPr>
            <a:r>
              <a:rPr sz="1300" b="1">
                <a:solidFill>
                  <a:srgbClr val="161B26"/>
                </a:solidFill>
                <a:latin typeface="Arial"/>
              </a:rPr>
              <a:t>The funnel ends at the sale. The journey treats the sale as the halfway point.</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anim calcmode="lin" valueType="num">
                                      <p:cBhvr additive="base">
                                        <p:cTn id="25" dur="350" fill="hold"/>
                                        <p:tgtEl>
                                          <p:spTgt spid="23"/>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350"/>
                                        <p:tgtEl>
                                          <p:spTgt spid="39"/>
                                        </p:tgtEl>
                                      </p:cBhvr>
                                    </p:animEffect>
                                    <p:anim calcmode="lin" valueType="num">
                                      <p:cBhvr additive="base">
                                        <p:cTn id="35" dur="350" fill="hold"/>
                                        <p:tgtEl>
                                          <p:spTgt spid="39"/>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anim calcmode="lin" valueType="num">
                                      <p:cBhvr additive="base">
                                        <p:cTn id="45" dur="350" fill="hold"/>
                                        <p:tgtEl>
                                          <p:spTgt spid="40"/>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350"/>
                                        <p:tgtEl>
                                          <p:spTgt spid="42"/>
                                        </p:tgtEl>
                                      </p:cBhvr>
                                    </p:animEffect>
                                    <p:anim calcmode="lin" valueType="num">
                                      <p:cBhvr additive="base">
                                        <p:cTn id="55" dur="350" fill="hold"/>
                                        <p:tgtEl>
                                          <p:spTgt spid="42"/>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350"/>
                                        <p:tgtEl>
                                          <p:spTgt spid="43"/>
                                        </p:tgtEl>
                                      </p:cBhvr>
                                    </p:animEffect>
                                    <p:anim calcmode="lin" valueType="num">
                                      <p:cBhvr additive="base">
                                        <p:cTn id="65" dur="350" fill="hold"/>
                                        <p:tgtEl>
                                          <p:spTgt spid="4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350"/>
                                        <p:tgtEl>
                                          <p:spTgt spid="44"/>
                                        </p:tgtEl>
                                      </p:cBhvr>
                                    </p:animEffect>
                                    <p:anim calcmode="lin" valueType="num">
                                      <p:cBhvr additive="base">
                                        <p:cTn id="75" dur="350" fill="hold"/>
                                        <p:tgtEl>
                                          <p:spTgt spid="4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THE JOURNEY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Mapping the 5-Stage Journey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Awareness → Consideration → Decision → Retention → Advocacy — and advocacy feeds awareness again.</a:t>
            </a:r>
          </a:p>
        </p:txBody>
      </p:sp>
      <p:sp>
        <p:nvSpPr>
          <p:cNvPr id="8" name="Rectangle 7"/>
          <p:cNvSpPr/>
          <p:nvPr/>
        </p:nvSpPr>
        <p:spPr>
          <a:xfrm>
            <a:off x="777240" y="2331720"/>
            <a:ext cx="1936699" cy="2423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331720"/>
            <a:ext cx="193669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443837" y="2624328"/>
            <a:ext cx="603504" cy="6035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43837" y="2624328"/>
            <a:ext cx="603504" cy="603504"/>
          </a:xfrm>
          <a:prstGeom prst="rect">
            <a:avLst/>
          </a:prstGeom>
          <a:noFill/>
        </p:spPr>
        <p:txBody>
          <a:bodyPr wrap="square" anchor="ctr">
            <a:spAutoFit/>
          </a:bodyPr>
          <a:lstStyle/>
          <a:p>
            <a:pPr algn="ctr">
              <a:spcAft>
                <a:spcPts val="400"/>
              </a:spcAft>
            </a:pPr>
            <a:r>
              <a:rPr sz="2100" b="1">
                <a:solidFill>
                  <a:srgbClr val="FFFFFF"/>
                </a:solidFill>
                <a:latin typeface="Arial"/>
              </a:rPr>
              <a:t>1</a:t>
            </a:r>
          </a:p>
        </p:txBody>
      </p:sp>
      <p:sp>
        <p:nvSpPr>
          <p:cNvPr id="12" name="TextBox 11"/>
          <p:cNvSpPr txBox="1"/>
          <p:nvPr/>
        </p:nvSpPr>
        <p:spPr>
          <a:xfrm>
            <a:off x="886968" y="3355848"/>
            <a:ext cx="1717243" cy="347472"/>
          </a:xfrm>
          <a:prstGeom prst="rect">
            <a:avLst/>
          </a:prstGeom>
          <a:noFill/>
        </p:spPr>
        <p:txBody>
          <a:bodyPr wrap="square" anchor="t">
            <a:spAutoFit/>
          </a:bodyPr>
          <a:lstStyle/>
          <a:p>
            <a:pPr algn="ctr">
              <a:spcAft>
                <a:spcPts val="400"/>
              </a:spcAft>
            </a:pPr>
            <a:r>
              <a:rPr sz="1250" b="1">
                <a:solidFill>
                  <a:srgbClr val="161B26"/>
                </a:solidFill>
                <a:latin typeface="Arial"/>
              </a:rPr>
              <a:t>Awareness</a:t>
            </a:r>
          </a:p>
        </p:txBody>
      </p:sp>
      <p:sp>
        <p:nvSpPr>
          <p:cNvPr id="13" name="TextBox 12"/>
          <p:cNvSpPr txBox="1"/>
          <p:nvPr/>
        </p:nvSpPr>
        <p:spPr>
          <a:xfrm>
            <a:off x="886968" y="3721608"/>
            <a:ext cx="1717243" cy="923544"/>
          </a:xfrm>
          <a:prstGeom prst="rect">
            <a:avLst/>
          </a:prstGeom>
          <a:noFill/>
        </p:spPr>
        <p:txBody>
          <a:bodyPr wrap="square" anchor="t">
            <a:spAutoFit/>
          </a:bodyPr>
          <a:lstStyle/>
          <a:p>
            <a:pPr algn="ctr">
              <a:spcAft>
                <a:spcPts val="400"/>
              </a:spcAft>
            </a:pPr>
            <a:r>
              <a:rPr sz="1000" b="0">
                <a:solidFill>
                  <a:srgbClr val="5B6372"/>
                </a:solidFill>
                <a:latin typeface="Arial"/>
              </a:rPr>
              <a:t>The customer first encounters the brand.</a:t>
            </a:r>
          </a:p>
        </p:txBody>
      </p:sp>
      <p:sp>
        <p:nvSpPr>
          <p:cNvPr id="14" name="TextBox 13"/>
          <p:cNvSpPr txBox="1"/>
          <p:nvPr/>
        </p:nvSpPr>
        <p:spPr>
          <a:xfrm>
            <a:off x="2695651" y="3268980"/>
            <a:ext cx="274320"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5" name="Rectangle 14"/>
          <p:cNvSpPr/>
          <p:nvPr/>
        </p:nvSpPr>
        <p:spPr>
          <a:xfrm>
            <a:off x="2951683" y="2331720"/>
            <a:ext cx="1936699" cy="2423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51683" y="2331720"/>
            <a:ext cx="193669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8280" y="2624328"/>
            <a:ext cx="603504" cy="6035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8280" y="2624328"/>
            <a:ext cx="603504" cy="603504"/>
          </a:xfrm>
          <a:prstGeom prst="rect">
            <a:avLst/>
          </a:prstGeom>
          <a:noFill/>
        </p:spPr>
        <p:txBody>
          <a:bodyPr wrap="square" anchor="ctr">
            <a:spAutoFit/>
          </a:bodyPr>
          <a:lstStyle/>
          <a:p>
            <a:pPr algn="ctr">
              <a:spcAft>
                <a:spcPts val="400"/>
              </a:spcAft>
            </a:pPr>
            <a:r>
              <a:rPr sz="2100" b="1">
                <a:solidFill>
                  <a:srgbClr val="FFFFFF"/>
                </a:solidFill>
                <a:latin typeface="Arial"/>
              </a:rPr>
              <a:t>2</a:t>
            </a:r>
          </a:p>
        </p:txBody>
      </p:sp>
      <p:sp>
        <p:nvSpPr>
          <p:cNvPr id="19" name="TextBox 18"/>
          <p:cNvSpPr txBox="1"/>
          <p:nvPr/>
        </p:nvSpPr>
        <p:spPr>
          <a:xfrm>
            <a:off x="3061411" y="3355848"/>
            <a:ext cx="1717243" cy="347472"/>
          </a:xfrm>
          <a:prstGeom prst="rect">
            <a:avLst/>
          </a:prstGeom>
          <a:noFill/>
        </p:spPr>
        <p:txBody>
          <a:bodyPr wrap="square" anchor="t">
            <a:spAutoFit/>
          </a:bodyPr>
          <a:lstStyle/>
          <a:p>
            <a:pPr algn="ctr">
              <a:spcAft>
                <a:spcPts val="400"/>
              </a:spcAft>
            </a:pPr>
            <a:r>
              <a:rPr sz="1250" b="1">
                <a:solidFill>
                  <a:srgbClr val="161B26"/>
                </a:solidFill>
                <a:latin typeface="Arial"/>
              </a:rPr>
              <a:t>Consideration</a:t>
            </a:r>
          </a:p>
        </p:txBody>
      </p:sp>
      <p:sp>
        <p:nvSpPr>
          <p:cNvPr id="20" name="TextBox 19"/>
          <p:cNvSpPr txBox="1"/>
          <p:nvPr/>
        </p:nvSpPr>
        <p:spPr>
          <a:xfrm>
            <a:off x="3061411" y="3721608"/>
            <a:ext cx="1717243" cy="923544"/>
          </a:xfrm>
          <a:prstGeom prst="rect">
            <a:avLst/>
          </a:prstGeom>
          <a:noFill/>
        </p:spPr>
        <p:txBody>
          <a:bodyPr wrap="square" anchor="t">
            <a:spAutoFit/>
          </a:bodyPr>
          <a:lstStyle/>
          <a:p>
            <a:pPr algn="ctr">
              <a:spcAft>
                <a:spcPts val="400"/>
              </a:spcAft>
            </a:pPr>
            <a:r>
              <a:rPr sz="1000" b="0">
                <a:solidFill>
                  <a:srgbClr val="5B6372"/>
                </a:solidFill>
                <a:latin typeface="Arial"/>
              </a:rPr>
              <a:t>They compare it against alternatives.</a:t>
            </a:r>
          </a:p>
        </p:txBody>
      </p:sp>
      <p:sp>
        <p:nvSpPr>
          <p:cNvPr id="21" name="TextBox 20"/>
          <p:cNvSpPr txBox="1"/>
          <p:nvPr/>
        </p:nvSpPr>
        <p:spPr>
          <a:xfrm>
            <a:off x="4870094" y="3268980"/>
            <a:ext cx="274320"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5126126" y="2331720"/>
            <a:ext cx="1936699" cy="2423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331720"/>
            <a:ext cx="1936699"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92723" y="2624328"/>
            <a:ext cx="603504" cy="6035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92723" y="2624328"/>
            <a:ext cx="603504" cy="603504"/>
          </a:xfrm>
          <a:prstGeom prst="rect">
            <a:avLst/>
          </a:prstGeom>
          <a:noFill/>
        </p:spPr>
        <p:txBody>
          <a:bodyPr wrap="square" anchor="ctr">
            <a:spAutoFit/>
          </a:bodyPr>
          <a:lstStyle/>
          <a:p>
            <a:pPr algn="ctr">
              <a:spcAft>
                <a:spcPts val="400"/>
              </a:spcAft>
            </a:pPr>
            <a:r>
              <a:rPr sz="2100" b="1">
                <a:solidFill>
                  <a:srgbClr val="FFFFFF"/>
                </a:solidFill>
                <a:latin typeface="Arial"/>
              </a:rPr>
              <a:t>3</a:t>
            </a:r>
          </a:p>
        </p:txBody>
      </p:sp>
      <p:sp>
        <p:nvSpPr>
          <p:cNvPr id="26" name="TextBox 25"/>
          <p:cNvSpPr txBox="1"/>
          <p:nvPr/>
        </p:nvSpPr>
        <p:spPr>
          <a:xfrm>
            <a:off x="5235854" y="3355848"/>
            <a:ext cx="1717243" cy="347472"/>
          </a:xfrm>
          <a:prstGeom prst="rect">
            <a:avLst/>
          </a:prstGeom>
          <a:noFill/>
        </p:spPr>
        <p:txBody>
          <a:bodyPr wrap="square" anchor="t">
            <a:spAutoFit/>
          </a:bodyPr>
          <a:lstStyle/>
          <a:p>
            <a:pPr algn="ctr">
              <a:spcAft>
                <a:spcPts val="400"/>
              </a:spcAft>
            </a:pPr>
            <a:r>
              <a:rPr sz="1250" b="1">
                <a:solidFill>
                  <a:srgbClr val="161B26"/>
                </a:solidFill>
                <a:latin typeface="Arial"/>
              </a:rPr>
              <a:t>Decision</a:t>
            </a:r>
          </a:p>
        </p:txBody>
      </p:sp>
      <p:sp>
        <p:nvSpPr>
          <p:cNvPr id="27" name="TextBox 26"/>
          <p:cNvSpPr txBox="1"/>
          <p:nvPr/>
        </p:nvSpPr>
        <p:spPr>
          <a:xfrm>
            <a:off x="5235854" y="3721608"/>
            <a:ext cx="1717243" cy="923544"/>
          </a:xfrm>
          <a:prstGeom prst="rect">
            <a:avLst/>
          </a:prstGeom>
          <a:noFill/>
        </p:spPr>
        <p:txBody>
          <a:bodyPr wrap="square" anchor="t">
            <a:spAutoFit/>
          </a:bodyPr>
          <a:lstStyle/>
          <a:p>
            <a:pPr algn="ctr">
              <a:spcAft>
                <a:spcPts val="400"/>
              </a:spcAft>
            </a:pPr>
            <a:r>
              <a:rPr sz="1000" b="0">
                <a:solidFill>
                  <a:srgbClr val="5B6372"/>
                </a:solidFill>
                <a:latin typeface="Arial"/>
              </a:rPr>
              <a:t>They buy — the funnel would stop here.</a:t>
            </a:r>
          </a:p>
        </p:txBody>
      </p:sp>
      <p:sp>
        <p:nvSpPr>
          <p:cNvPr id="28" name="TextBox 27"/>
          <p:cNvSpPr txBox="1"/>
          <p:nvPr/>
        </p:nvSpPr>
        <p:spPr>
          <a:xfrm>
            <a:off x="7044537" y="3268980"/>
            <a:ext cx="274320"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9" name="Rectangle 28"/>
          <p:cNvSpPr/>
          <p:nvPr/>
        </p:nvSpPr>
        <p:spPr>
          <a:xfrm>
            <a:off x="7300569" y="2331720"/>
            <a:ext cx="1936699" cy="2423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00569" y="2331720"/>
            <a:ext cx="193669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67166" y="2624328"/>
            <a:ext cx="603504" cy="6035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67166" y="2624328"/>
            <a:ext cx="603504" cy="603504"/>
          </a:xfrm>
          <a:prstGeom prst="rect">
            <a:avLst/>
          </a:prstGeom>
          <a:noFill/>
        </p:spPr>
        <p:txBody>
          <a:bodyPr wrap="square" anchor="ctr">
            <a:spAutoFit/>
          </a:bodyPr>
          <a:lstStyle/>
          <a:p>
            <a:pPr algn="ctr">
              <a:spcAft>
                <a:spcPts val="400"/>
              </a:spcAft>
            </a:pPr>
            <a:r>
              <a:rPr sz="2100" b="1">
                <a:solidFill>
                  <a:srgbClr val="FFFFFF"/>
                </a:solidFill>
                <a:latin typeface="Arial"/>
              </a:rPr>
              <a:t>4</a:t>
            </a:r>
          </a:p>
        </p:txBody>
      </p:sp>
      <p:sp>
        <p:nvSpPr>
          <p:cNvPr id="33" name="TextBox 32"/>
          <p:cNvSpPr txBox="1"/>
          <p:nvPr/>
        </p:nvSpPr>
        <p:spPr>
          <a:xfrm>
            <a:off x="7410297" y="3355848"/>
            <a:ext cx="1717243" cy="347472"/>
          </a:xfrm>
          <a:prstGeom prst="rect">
            <a:avLst/>
          </a:prstGeom>
          <a:noFill/>
        </p:spPr>
        <p:txBody>
          <a:bodyPr wrap="square" anchor="t">
            <a:spAutoFit/>
          </a:bodyPr>
          <a:lstStyle/>
          <a:p>
            <a:pPr algn="ctr">
              <a:spcAft>
                <a:spcPts val="400"/>
              </a:spcAft>
            </a:pPr>
            <a:r>
              <a:rPr sz="1250" b="1">
                <a:solidFill>
                  <a:srgbClr val="161B26"/>
                </a:solidFill>
                <a:latin typeface="Arial"/>
              </a:rPr>
              <a:t>Retention</a:t>
            </a:r>
          </a:p>
        </p:txBody>
      </p:sp>
      <p:sp>
        <p:nvSpPr>
          <p:cNvPr id="34" name="TextBox 33"/>
          <p:cNvSpPr txBox="1"/>
          <p:nvPr/>
        </p:nvSpPr>
        <p:spPr>
          <a:xfrm>
            <a:off x="7410297" y="3721608"/>
            <a:ext cx="1717243" cy="923544"/>
          </a:xfrm>
          <a:prstGeom prst="rect">
            <a:avLst/>
          </a:prstGeom>
          <a:noFill/>
        </p:spPr>
        <p:txBody>
          <a:bodyPr wrap="square" anchor="t">
            <a:spAutoFit/>
          </a:bodyPr>
          <a:lstStyle/>
          <a:p>
            <a:pPr algn="ctr">
              <a:spcAft>
                <a:spcPts val="400"/>
              </a:spcAft>
            </a:pPr>
            <a:r>
              <a:rPr sz="1000" b="0">
                <a:solidFill>
                  <a:srgbClr val="5B6372"/>
                </a:solidFill>
                <a:latin typeface="Arial"/>
              </a:rPr>
              <a:t>The experience decides whether they stay.</a:t>
            </a:r>
          </a:p>
        </p:txBody>
      </p:sp>
      <p:sp>
        <p:nvSpPr>
          <p:cNvPr id="35" name="TextBox 34"/>
          <p:cNvSpPr txBox="1"/>
          <p:nvPr/>
        </p:nvSpPr>
        <p:spPr>
          <a:xfrm>
            <a:off x="9218980" y="3268980"/>
            <a:ext cx="274320"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6" name="Rectangle 35"/>
          <p:cNvSpPr/>
          <p:nvPr/>
        </p:nvSpPr>
        <p:spPr>
          <a:xfrm>
            <a:off x="9475012" y="2331720"/>
            <a:ext cx="1936699" cy="2423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75012" y="2331720"/>
            <a:ext cx="193669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41609" y="2624328"/>
            <a:ext cx="603504" cy="6035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41609" y="2624328"/>
            <a:ext cx="603504" cy="603504"/>
          </a:xfrm>
          <a:prstGeom prst="rect">
            <a:avLst/>
          </a:prstGeom>
          <a:noFill/>
        </p:spPr>
        <p:txBody>
          <a:bodyPr wrap="square" anchor="ctr">
            <a:spAutoFit/>
          </a:bodyPr>
          <a:lstStyle/>
          <a:p>
            <a:pPr algn="ctr">
              <a:spcAft>
                <a:spcPts val="400"/>
              </a:spcAft>
            </a:pPr>
            <a:r>
              <a:rPr sz="2100" b="1">
                <a:solidFill>
                  <a:srgbClr val="FFFFFF"/>
                </a:solidFill>
                <a:latin typeface="Arial"/>
              </a:rPr>
              <a:t>5</a:t>
            </a:r>
          </a:p>
        </p:txBody>
      </p:sp>
      <p:sp>
        <p:nvSpPr>
          <p:cNvPr id="40" name="TextBox 39"/>
          <p:cNvSpPr txBox="1"/>
          <p:nvPr/>
        </p:nvSpPr>
        <p:spPr>
          <a:xfrm>
            <a:off x="9584740" y="3355848"/>
            <a:ext cx="1717243" cy="347472"/>
          </a:xfrm>
          <a:prstGeom prst="rect">
            <a:avLst/>
          </a:prstGeom>
          <a:noFill/>
        </p:spPr>
        <p:txBody>
          <a:bodyPr wrap="square" anchor="t">
            <a:spAutoFit/>
          </a:bodyPr>
          <a:lstStyle/>
          <a:p>
            <a:pPr algn="ctr">
              <a:spcAft>
                <a:spcPts val="400"/>
              </a:spcAft>
            </a:pPr>
            <a:r>
              <a:rPr sz="1250" b="1">
                <a:solidFill>
                  <a:srgbClr val="161B26"/>
                </a:solidFill>
                <a:latin typeface="Arial"/>
              </a:rPr>
              <a:t>Advocacy</a:t>
            </a:r>
          </a:p>
        </p:txBody>
      </p:sp>
      <p:sp>
        <p:nvSpPr>
          <p:cNvPr id="41" name="TextBox 40"/>
          <p:cNvSpPr txBox="1"/>
          <p:nvPr/>
        </p:nvSpPr>
        <p:spPr>
          <a:xfrm>
            <a:off x="9584740" y="3721608"/>
            <a:ext cx="1717243" cy="923544"/>
          </a:xfrm>
          <a:prstGeom prst="rect">
            <a:avLst/>
          </a:prstGeom>
          <a:noFill/>
        </p:spPr>
        <p:txBody>
          <a:bodyPr wrap="square" anchor="t">
            <a:spAutoFit/>
          </a:bodyPr>
          <a:lstStyle/>
          <a:p>
            <a:pPr algn="ctr">
              <a:spcAft>
                <a:spcPts val="400"/>
              </a:spcAft>
            </a:pPr>
            <a:r>
              <a:rPr sz="1000" b="0">
                <a:solidFill>
                  <a:srgbClr val="5B6372"/>
                </a:solidFill>
                <a:latin typeface="Arial"/>
              </a:rPr>
              <a:t>They tell others, feeding new awareness.</a:t>
            </a:r>
          </a:p>
        </p:txBody>
      </p:sp>
      <p:sp>
        <p:nvSpPr>
          <p:cNvPr id="42" name="Rectangle 41"/>
          <p:cNvSpPr/>
          <p:nvPr/>
        </p:nvSpPr>
        <p:spPr>
          <a:xfrm>
            <a:off x="777240" y="4919472"/>
            <a:ext cx="10634472"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4919472"/>
            <a:ext cx="54864"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356848" y="4919472"/>
            <a:ext cx="54864"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029200"/>
            <a:ext cx="10634472" cy="384048"/>
          </a:xfrm>
          <a:prstGeom prst="rect">
            <a:avLst/>
          </a:prstGeom>
          <a:noFill/>
        </p:spPr>
        <p:txBody>
          <a:bodyPr wrap="square" anchor="t">
            <a:spAutoFit/>
          </a:bodyPr>
          <a:lstStyle/>
          <a:p>
            <a:pPr algn="ctr">
              <a:spcAft>
                <a:spcPts val="400"/>
              </a:spcAft>
            </a:pPr>
            <a:r>
              <a:rPr sz="1150" b="1">
                <a:solidFill>
                  <a:srgbClr val="10B981"/>
                </a:solidFill>
                <a:latin typeface="Arial"/>
              </a:rPr>
              <a:t>◀  advocacy feeds awareness — the journey loops, it does not end</a:t>
            </a:r>
          </a:p>
        </p:txBody>
      </p:sp>
      <p:sp>
        <p:nvSpPr>
          <p:cNvPr id="46" name="Rectangle 45"/>
          <p:cNvSpPr/>
          <p:nvPr/>
        </p:nvSpPr>
        <p:spPr>
          <a:xfrm>
            <a:off x="777240" y="587044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870448"/>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870448"/>
            <a:ext cx="10058400" cy="530352"/>
          </a:xfrm>
          <a:prstGeom prst="rect">
            <a:avLst/>
          </a:prstGeom>
          <a:noFill/>
        </p:spPr>
        <p:txBody>
          <a:bodyPr wrap="square" anchor="ctr">
            <a:spAutoFit/>
          </a:bodyPr>
          <a:lstStyle/>
          <a:p>
            <a:pPr algn="l">
              <a:spcAft>
                <a:spcPts val="400"/>
              </a:spcAft>
            </a:pPr>
            <a:r>
              <a:rPr sz="1250" b="1">
                <a:solidFill>
                  <a:srgbClr val="161B26"/>
                </a:solidFill>
                <a:latin typeface="Arial"/>
              </a:rPr>
              <a:t>Every stage is a listening post: what you hear there tells you what to fix at the stage before it.</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EMOTION DRIVES PERCEPTION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Engine of Loyalty: Emotional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Affect-driven purchasing decisions outpace purely rational choices.</a:t>
            </a:r>
          </a:p>
        </p:txBody>
      </p:sp>
      <p:sp>
        <p:nvSpPr>
          <p:cNvPr id="8" name="Rectangle 7"/>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45.2%</a:t>
            </a:r>
          </a:p>
        </p:txBody>
      </p:sp>
      <p:sp>
        <p:nvSpPr>
          <p:cNvPr id="11" name="TextBox 10"/>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say an emotional connection with a brand is very important</a:t>
            </a:r>
          </a:p>
        </p:txBody>
      </p:sp>
      <p:sp>
        <p:nvSpPr>
          <p:cNvPr id="12" name="Rectangle 11"/>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42%</a:t>
            </a:r>
          </a:p>
        </p:txBody>
      </p:sp>
      <p:sp>
        <p:nvSpPr>
          <p:cNvPr id="15" name="TextBox 14"/>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associate their favourite brands with trust &amp; reliability</a:t>
            </a:r>
          </a:p>
        </p:txBody>
      </p:sp>
      <p:sp>
        <p:nvSpPr>
          <p:cNvPr id="16" name="Rectangle 15"/>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88.1%</a:t>
            </a:r>
          </a:p>
        </p:txBody>
      </p:sp>
      <p:sp>
        <p:nvSpPr>
          <p:cNvPr id="19" name="TextBox 18"/>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actively choose branded products over non-branded alternatives</a:t>
            </a:r>
          </a:p>
        </p:txBody>
      </p:sp>
      <p:sp>
        <p:nvSpPr>
          <p:cNvPr id="20" name="Rectangle 19"/>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55% of loyalty is driven by quality — but 32% is driven entirely by customer service and emotional support.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A MESSAGE QUALITY TEST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5 C's of Customer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Run any customer message through these five tests before it is sent.</a:t>
            </a:r>
          </a:p>
        </p:txBody>
      </p:sp>
      <p:sp>
        <p:nvSpPr>
          <p:cNvPr id="8" name="Rectangle 7"/>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Clear</a:t>
            </a:r>
          </a:p>
        </p:txBody>
      </p:sp>
      <p:sp>
        <p:nvSpPr>
          <p:cNvPr id="11" name="TextBox 10"/>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Could the reader act on it without asking a follow-up question? Plain language beats precise jargon every time.</a:t>
            </a:r>
          </a:p>
        </p:txBody>
      </p:sp>
      <p:sp>
        <p:nvSpPr>
          <p:cNvPr id="12" name="Rectangle 11"/>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Concise</a:t>
            </a:r>
          </a:p>
        </p:txBody>
      </p:sp>
      <p:sp>
        <p:nvSpPr>
          <p:cNvPr id="15" name="TextBox 14"/>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Is every word doing work? Length is not thoroughness — it is usually an unedited first draft.</a:t>
            </a:r>
          </a:p>
        </p:txBody>
      </p:sp>
      <p:sp>
        <p:nvSpPr>
          <p:cNvPr id="16" name="Rectangle 15"/>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Concrete</a:t>
            </a:r>
          </a:p>
        </p:txBody>
      </p:sp>
      <p:sp>
        <p:nvSpPr>
          <p:cNvPr id="19" name="TextBox 18"/>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Are there specifics — a date, a number, a name — rather than generalities the reader has to interpret?</a:t>
            </a:r>
          </a:p>
        </p:txBody>
      </p:sp>
      <p:sp>
        <p:nvSpPr>
          <p:cNvPr id="20" name="Rectangle 19"/>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Correct</a:t>
            </a:r>
          </a:p>
        </p:txBody>
      </p:sp>
      <p:sp>
        <p:nvSpPr>
          <p:cNvPr id="23" name="TextBox 22"/>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Is it accurate, current and error-free? One wrong detail undermines the credibility of everything around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WHAT GOOD LISTENING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Active Listening — The 3 P's in a Live Conversation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Active listening is a sequence you can observe and coach, not a personality trait.</a:t>
            </a:r>
          </a:p>
        </p:txBody>
      </p:sp>
      <p:sp>
        <p:nvSpPr>
          <p:cNvPr id="8" name="Rectangle 7"/>
          <p:cNvSpPr/>
          <p:nvPr/>
        </p:nvSpPr>
        <p:spPr>
          <a:xfrm>
            <a:off x="777240" y="2194560"/>
            <a:ext cx="1874519"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194560"/>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Presence</a:t>
            </a:r>
          </a:p>
        </p:txBody>
      </p:sp>
      <p:sp>
        <p:nvSpPr>
          <p:cNvPr id="10" name="Rectangle 9"/>
          <p:cNvSpPr/>
          <p:nvPr/>
        </p:nvSpPr>
        <p:spPr>
          <a:xfrm>
            <a:off x="2834639" y="2194560"/>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39" y="2194560"/>
            <a:ext cx="64008"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1" y="2194560"/>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Remove distractions</a:t>
            </a:r>
          </a:p>
        </p:txBody>
      </p:sp>
      <p:sp>
        <p:nvSpPr>
          <p:cNvPr id="13" name="Rectangle 12"/>
          <p:cNvSpPr/>
          <p:nvPr/>
        </p:nvSpPr>
        <p:spPr>
          <a:xfrm>
            <a:off x="5070347" y="2194560"/>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70347" y="2194560"/>
            <a:ext cx="64008"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4939" y="2194560"/>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Let the customer finish</a:t>
            </a:r>
          </a:p>
        </p:txBody>
      </p:sp>
      <p:sp>
        <p:nvSpPr>
          <p:cNvPr id="16" name="Rectangle 15"/>
          <p:cNvSpPr/>
          <p:nvPr/>
        </p:nvSpPr>
        <p:spPr>
          <a:xfrm>
            <a:off x="7306055" y="2194560"/>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06055" y="2194560"/>
            <a:ext cx="64008"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7" y="2194560"/>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Note the emotion, not just the facts</a:t>
            </a:r>
          </a:p>
        </p:txBody>
      </p:sp>
      <p:sp>
        <p:nvSpPr>
          <p:cNvPr id="19" name="Rectangle 18"/>
          <p:cNvSpPr/>
          <p:nvPr/>
        </p:nvSpPr>
        <p:spPr>
          <a:xfrm>
            <a:off x="777240" y="3410712"/>
            <a:ext cx="1874519"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410712"/>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Patience</a:t>
            </a:r>
          </a:p>
        </p:txBody>
      </p:sp>
      <p:sp>
        <p:nvSpPr>
          <p:cNvPr id="21" name="Rectangle 20"/>
          <p:cNvSpPr/>
          <p:nvPr/>
        </p:nvSpPr>
        <p:spPr>
          <a:xfrm>
            <a:off x="2834639" y="3410712"/>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410712"/>
            <a:ext cx="64008"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410712"/>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Allow silence to sit</a:t>
            </a:r>
          </a:p>
        </p:txBody>
      </p:sp>
      <p:sp>
        <p:nvSpPr>
          <p:cNvPr id="24" name="Rectangle 23"/>
          <p:cNvSpPr/>
          <p:nvPr/>
        </p:nvSpPr>
        <p:spPr>
          <a:xfrm>
            <a:off x="5070347" y="3410712"/>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70347" y="3410712"/>
            <a:ext cx="64008"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34939" y="3410712"/>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Resist solving too early</a:t>
            </a:r>
          </a:p>
        </p:txBody>
      </p:sp>
      <p:sp>
        <p:nvSpPr>
          <p:cNvPr id="27" name="Rectangle 26"/>
          <p:cNvSpPr/>
          <p:nvPr/>
        </p:nvSpPr>
        <p:spPr>
          <a:xfrm>
            <a:off x="7306055" y="3410712"/>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6055" y="3410712"/>
            <a:ext cx="64008"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0647" y="3410712"/>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Ask one clarifying question</a:t>
            </a:r>
          </a:p>
        </p:txBody>
      </p:sp>
      <p:sp>
        <p:nvSpPr>
          <p:cNvPr id="30" name="Rectangle 29"/>
          <p:cNvSpPr/>
          <p:nvPr/>
        </p:nvSpPr>
        <p:spPr>
          <a:xfrm>
            <a:off x="777240" y="4626864"/>
            <a:ext cx="1874519"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 y="4626864"/>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Paraphrasing</a:t>
            </a:r>
          </a:p>
        </p:txBody>
      </p:sp>
      <p:sp>
        <p:nvSpPr>
          <p:cNvPr id="32" name="Rectangle 31"/>
          <p:cNvSpPr/>
          <p:nvPr/>
        </p:nvSpPr>
        <p:spPr>
          <a:xfrm>
            <a:off x="2834639" y="4626864"/>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834639" y="4626864"/>
            <a:ext cx="64008"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99231" y="4626864"/>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Reflect the meaning back</a:t>
            </a:r>
          </a:p>
        </p:txBody>
      </p:sp>
      <p:sp>
        <p:nvSpPr>
          <p:cNvPr id="35" name="Rectangle 34"/>
          <p:cNvSpPr/>
          <p:nvPr/>
        </p:nvSpPr>
        <p:spPr>
          <a:xfrm>
            <a:off x="5070347" y="4626864"/>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0347" y="4626864"/>
            <a:ext cx="64008"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34939" y="4626864"/>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Check: 'have I got that right?'</a:t>
            </a:r>
          </a:p>
        </p:txBody>
      </p:sp>
      <p:sp>
        <p:nvSpPr>
          <p:cNvPr id="38" name="Rectangle 37"/>
          <p:cNvSpPr/>
          <p:nvPr/>
        </p:nvSpPr>
        <p:spPr>
          <a:xfrm>
            <a:off x="7306055" y="4626864"/>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06055" y="4626864"/>
            <a:ext cx="64008"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70647" y="4626864"/>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Confirm before resolving</a:t>
            </a:r>
          </a:p>
        </p:txBody>
      </p:sp>
      <p:sp>
        <p:nvSpPr>
          <p:cNvPr id="41" name="Rectangle 40"/>
          <p:cNvSpPr/>
          <p:nvPr/>
        </p:nvSpPr>
        <p:spPr>
          <a:xfrm>
            <a:off x="9541763" y="4626864"/>
            <a:ext cx="2052828"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41763" y="4626864"/>
            <a:ext cx="64008"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06355" y="4626864"/>
            <a:ext cx="1778508" cy="1088136"/>
          </a:xfrm>
          <a:prstGeom prst="rect">
            <a:avLst/>
          </a:prstGeom>
          <a:noFill/>
        </p:spPr>
        <p:txBody>
          <a:bodyPr wrap="square" anchor="ctr">
            <a:spAutoFit/>
          </a:bodyPr>
          <a:lstStyle/>
          <a:p>
            <a:pPr algn="l">
              <a:spcAft>
                <a:spcPts val="400"/>
              </a:spcAft>
            </a:pPr>
            <a:r>
              <a:rPr sz="1050" b="0">
                <a:solidFill>
                  <a:srgbClr val="161B26"/>
                </a:solidFill>
                <a:latin typeface="Arial"/>
              </a:rPr>
              <a:t>Close the loop</a:t>
            </a:r>
          </a:p>
        </p:txBody>
      </p:sp>
      <p:sp>
        <p:nvSpPr>
          <p:cNvPr id="44" name="TextBox 43"/>
          <p:cNvSpPr txBox="1"/>
          <p:nvPr/>
        </p:nvSpPr>
        <p:spPr>
          <a:xfrm>
            <a:off x="4887467" y="5024628"/>
            <a:ext cx="182880" cy="292608"/>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45" name="TextBox 44"/>
          <p:cNvSpPr txBox="1"/>
          <p:nvPr/>
        </p:nvSpPr>
        <p:spPr>
          <a:xfrm>
            <a:off x="7123175" y="5024628"/>
            <a:ext cx="182880" cy="292608"/>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46" name="TextBox 45"/>
          <p:cNvSpPr txBox="1"/>
          <p:nvPr/>
        </p:nvSpPr>
        <p:spPr>
          <a:xfrm>
            <a:off x="9358883" y="5024628"/>
            <a:ext cx="182880" cy="292608"/>
          </a:xfrm>
          <a:prstGeom prst="rect">
            <a:avLst/>
          </a:prstGeom>
          <a:noFill/>
        </p:spPr>
        <p:txBody>
          <a:bodyPr wrap="square" anchor="ctr">
            <a:spAutoFit/>
          </a:bodyPr>
          <a:lstStyle/>
          <a:p>
            <a:pPr algn="ctr">
              <a:spcAft>
                <a:spcPts val="400"/>
              </a:spcAft>
            </a:pPr>
            <a:r>
              <a:rPr sz="1100" b="1">
                <a:solidFill>
                  <a:srgbClr val="7C3AED"/>
                </a:solidFill>
                <a:latin typeface="Arial"/>
              </a:rPr>
              <a:t>▶</a:t>
            </a:r>
          </a:p>
        </p:txBody>
      </p:sp>
      <p:sp>
        <p:nvSpPr>
          <p:cNvPr id="47" name="Rectangle 46"/>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Courteous is the fifth C — and the one most often lost when a team is under time pressure.</a:t>
            </a:r>
          </a:p>
        </p:txBody>
      </p:sp>
      <p:sp>
        <p:nvSpPr>
          <p:cNvPr id="50" name="TextBox 4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Zendesk, Freshworks and Bitrix24 active-listening guidance</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wipe dir="l"/>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SAY THIS, NOT THAT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Language That Builds Trust vs Language That Breaks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fact, framed two ways, produces two different customer relationships.</a:t>
            </a:r>
          </a:p>
        </p:txBody>
      </p:sp>
      <p:sp>
        <p:nvSpPr>
          <p:cNvPr id="8" name="Rectangle 7"/>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Avoid — closes the conversation</a:t>
            </a:r>
          </a:p>
        </p:txBody>
      </p:sp>
      <p:sp>
        <p:nvSpPr>
          <p:cNvPr id="10" name="Rectangle 9"/>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 — keeps it open</a:t>
            </a:r>
          </a:p>
        </p:txBody>
      </p:sp>
      <p:sp>
        <p:nvSpPr>
          <p:cNvPr id="12" name="Rectangle 11"/>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Deflecting</a:t>
            </a:r>
          </a:p>
        </p:txBody>
      </p:sp>
      <p:sp>
        <p:nvSpPr>
          <p:cNvPr id="14" name="Rectangle 13"/>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“That's not something I deal with.”</a:t>
            </a:r>
          </a:p>
        </p:txBody>
      </p:sp>
      <p:sp>
        <p:nvSpPr>
          <p:cNvPr id="16" name="Rectangle 15"/>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“Let me find that out for you and come back by 3pm.”</a:t>
            </a:r>
          </a:p>
        </p:txBody>
      </p:sp>
      <p:sp>
        <p:nvSpPr>
          <p:cNvPr id="18" name="Rectangle 17"/>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Leading with the limit</a:t>
            </a:r>
          </a:p>
        </p:txBody>
      </p:sp>
      <p:sp>
        <p:nvSpPr>
          <p:cNvPr id="20" name="Rectangle 19"/>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“The dress isn't in stock for two weeks.”</a:t>
            </a:r>
          </a:p>
        </p:txBody>
      </p:sp>
      <p:sp>
        <p:nvSpPr>
          <p:cNvPr id="22" name="Rectangle 21"/>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“You can have the dress in two weeks — I can order it now.”</a:t>
            </a:r>
          </a:p>
        </p:txBody>
      </p:sp>
      <p:sp>
        <p:nvSpPr>
          <p:cNvPr id="24" name="Rectangle 23"/>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Dismissing the feeling</a:t>
            </a:r>
          </a:p>
        </p:txBody>
      </p:sp>
      <p:sp>
        <p:nvSpPr>
          <p:cNvPr id="26" name="Rectangle 25"/>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“There's nothing wrong with the product.”</a:t>
            </a:r>
          </a:p>
        </p:txBody>
      </p:sp>
      <p:sp>
        <p:nvSpPr>
          <p:cNvPr id="28" name="Rectangle 27"/>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 can see why that was frustrating — let me look into it.”</a:t>
            </a:r>
          </a:p>
        </p:txBody>
      </p:sp>
      <p:sp>
        <p:nvSpPr>
          <p:cNvPr id="30" name="Rectangle 29"/>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Vague commitment</a:t>
            </a:r>
          </a:p>
        </p:txBody>
      </p:sp>
      <p:sp>
        <p:nvSpPr>
          <p:cNvPr id="32" name="Rectangle 31"/>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“We'll look into it and revert.”</a:t>
            </a:r>
          </a:p>
        </p:txBody>
      </p:sp>
      <p:sp>
        <p:nvSpPr>
          <p:cNvPr id="34" name="Rectangle 33"/>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“I'll update you by Thursday, even if it isn't resolved yet.”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Perceptions of customers of the brand, products and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Perceptions of customers of the brand, products and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 View</a:t>
            </a:r>
          </a:p>
          <a:p>
            <a:pPr algn="l">
              <a:spcAft>
                <a:spcPts val="300"/>
              </a:spcAft>
            </a:pPr>
            <a:r>
              <a:rPr sz="1200" b="0">
                <a:solidFill>
                  <a:srgbClr val="5B6372"/>
                </a:solidFill>
                <a:latin typeface="Arial"/>
              </a:rPr>
              <a:t>Customer verdict on product quality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Identity</a:t>
            </a:r>
          </a:p>
          <a:p>
            <a:pPr algn="l">
              <a:spcAft>
                <a:spcPts val="300"/>
              </a:spcAft>
            </a:pPr>
            <a:r>
              <a:rPr sz="1200" b="0">
                <a:solidFill>
                  <a:srgbClr val="5B6372"/>
                </a:solidFill>
                <a:latin typeface="Arial"/>
              </a:rPr>
              <a:t>Customer grasp of core brand values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Quality</a:t>
            </a:r>
          </a:p>
          <a:p>
            <a:pPr algn="l">
              <a:spcAft>
                <a:spcPts val="300"/>
              </a:spcAft>
            </a:pPr>
            <a:r>
              <a:rPr sz="1200" b="0">
                <a:solidFill>
                  <a:srgbClr val="5B6372"/>
                </a:solidFill>
                <a:latin typeface="Arial"/>
              </a:rPr>
              <a:t>Perceived value of every interaction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Perception Gap</a:t>
            </a:r>
          </a:p>
          <a:p>
            <a:pPr algn="l">
              <a:spcAft>
                <a:spcPts val="300"/>
              </a:spcAft>
            </a:pPr>
            <a:r>
              <a:rPr sz="1200" b="0">
                <a:solidFill>
                  <a:srgbClr val="5B6372"/>
                </a:solidFill>
                <a:latin typeface="Arial"/>
              </a:rPr>
              <a:t>Gap between belief and reality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Qualtrics, 2024</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Perception Management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Gather Feedback</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Collect systematic customer input, not just anecdotes.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Gaps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where perception differs from reality.</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Align Values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Match delivery to customer expectations.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Deliver Quality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Make the brand experience consistent, every time.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Technical Quality vs Value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Technical Quality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Value Quality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Specifications — what the product objectively does</a:t>
            </a:r>
          </a:p>
          <a:p>
            <a:pPr>
              <a:spcAft>
                <a:spcPts val="1000"/>
              </a:spcAft>
            </a:pPr>
            <a:r>
              <a:rPr sz="1600" b="0">
                <a:solidFill>
                  <a:srgbClr val="161B26"/>
                </a:solidFill>
                <a:latin typeface="Arial"/>
              </a:rPr>
              <a:t>•  Performance — how reliably it does it</a:t>
            </a:r>
          </a:p>
          <a:p>
            <a:pPr>
              <a:spcAft>
                <a:spcPts val="1000"/>
              </a:spcAft>
            </a:pPr>
            <a:r>
              <a:rPr sz="1600" b="0">
                <a:solidFill>
                  <a:srgbClr val="161B26"/>
                </a:solidFill>
                <a:latin typeface="Arial"/>
              </a:rPr>
              <a:t>•  Reliability — consistency over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Brand Image — how the brand is perceived</a:t>
            </a:r>
          </a:p>
          <a:p>
            <a:pPr>
              <a:spcAft>
                <a:spcPts val="1000"/>
              </a:spcAft>
            </a:pPr>
            <a:r>
              <a:rPr sz="1600" b="0">
                <a:solidFill>
                  <a:srgbClr val="161B26"/>
                </a:solidFill>
                <a:latin typeface="Arial"/>
              </a:rPr>
              <a:t>•  Perception — the customer's subjective read</a:t>
            </a:r>
          </a:p>
          <a:p>
            <a:pPr>
              <a:spcAft>
                <a:spcPts val="1000"/>
              </a:spcAft>
            </a:pPr>
            <a:r>
              <a:rPr sz="1600" b="0">
                <a:solidFill>
                  <a:srgbClr val="161B26"/>
                </a:solidFill>
                <a:latin typeface="Arial"/>
              </a:rPr>
              <a:t>•  Experience — how it feels to interact with the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perception-gap research, CX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Nimbus Perception Gap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Discovers Nimbus</a:t>
            </a:r>
          </a:p>
          <a:p>
            <a:pPr algn="l">
              <a:spcAft>
                <a:spcPts val="300"/>
              </a:spcAft>
            </a:pPr>
            <a:r>
              <a:rPr sz="1100" b="0">
                <a:solidFill>
                  <a:srgbClr val="5B6372"/>
                </a:solidFill>
                <a:latin typeface="Arial"/>
              </a:rPr>
              <a:t>Sees the anniversary relaunch teaser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Reads Reviews</a:t>
            </a:r>
          </a:p>
          <a:p>
            <a:pPr algn="l">
              <a:spcAft>
                <a:spcPts val="300"/>
              </a:spcAft>
            </a:pPr>
            <a:r>
              <a:rPr sz="1100" b="0">
                <a:solidFill>
                  <a:srgbClr val="5B6372"/>
                </a:solidFill>
                <a:latin typeface="Arial"/>
              </a:rPr>
              <a:t>Spots "doesn't feel personal" comments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Contacts Support</a:t>
            </a:r>
          </a:p>
          <a:p>
            <a:pPr algn="l">
              <a:spcAft>
                <a:spcPts val="300"/>
              </a:spcAft>
            </a:pPr>
            <a:r>
              <a:rPr sz="1100" b="0">
                <a:solidFill>
                  <a:srgbClr val="5B6372"/>
                </a:solidFill>
                <a:latin typeface="Arial"/>
              </a:rPr>
              <a:t>Fast reply, but feels scripted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Makes a Purchase</a:t>
            </a:r>
          </a:p>
          <a:p>
            <a:pPr algn="l">
              <a:spcAft>
                <a:spcPts val="300"/>
              </a:spcAft>
            </a:pPr>
            <a:r>
              <a:rPr sz="1100" b="0">
                <a:solidFill>
                  <a:srgbClr val="5B6372"/>
                </a:solidFill>
                <a:latin typeface="Arial"/>
              </a:rPr>
              <a:t>Product quality still meets expectations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Post-Purchase Follow-Up</a:t>
            </a:r>
          </a:p>
          <a:p>
            <a:pPr algn="l">
              <a:spcAft>
                <a:spcPts val="300"/>
              </a:spcAft>
            </a:pPr>
            <a:r>
              <a:rPr sz="1100" b="0">
                <a:solidFill>
                  <a:srgbClr val="5B6372"/>
                </a:solidFill>
                <a:latin typeface="Arial"/>
              </a:rPr>
              <a:t>A genuine, personal thank-you note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illustrative distribution, Qualtrics &amp; Zendesk 2024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Radical Customer Focus Closes the Perception Gap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Zappos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Zappos reps have no call-time targets and no scripts — one legendary call ran past ten hours because the goal was connection, not resolution. That is the instinct Nimbus's faster-but-generic chat macros are quietly losing: speed without warmth is still a gap.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Activity 4 reputation audit surfaced one theme again and again: customers say Nimbus Wellness "doesn't feel personal anymore." Marketing's official position is that nothing has changed — the formulas, ingredients and packaging are exactly what they were a year ago. If the product itself hasn't moved, something else has.</a:t>
            </a:r>
          </a:p>
          <a:p>
            <a:pPr algn="l">
              <a:spcAft>
                <a:spcPts val="800"/>
              </a:spcAft>
            </a:pPr>
            <a:r>
              <a:rPr sz="1450" b="0">
                <a:solidFill>
                  <a:srgbClr val="161B26"/>
                </a:solidFill>
                <a:latin typeface="Arial"/>
              </a:rPr>
              <a:t>A closer look at Customer Service's own numbers hints at where: average reply time has improved since two outlets added self-checkout kiosks and the contact-centre adopted faster chat macros. The technical quality — what the product does — looks unchanged on paper. But the value quality — how it feels to deal with Nimbus — may have quietly slipped underneath the metrics leadership actually tracks.</a:t>
            </a:r>
          </a:p>
          <a:p>
            <a:pPr algn="l">
              <a:spcAft>
                <a:spcPts val="800"/>
              </a:spcAft>
            </a:pPr>
            <a:r>
              <a:rPr sz="1450" b="0">
                <a:solidFill>
                  <a:srgbClr val="161B26"/>
                </a:solidFill>
                <a:latin typeface="Arial"/>
              </a:rPr>
              <a:t>Before the founder locks the relaunch brief, your table must compare what Marketing believes against what a sample of real customer feedback actually says, and turn the difference into a short, prioritised gap list leadership can act on this week.</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Nimbus perception-gap analysis comparing internal quality metrics with customer feedback, ranking the top 3 gaps with an action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Looking at the Activity 4 findings alongside what Marketing believes internally, where exactly does customer perception diverge from the company's own view of itself?</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Is the drift really in Technical Quality (the product itself) or in Value Quality (the experience around it) — and what evidence from the audit supports that?</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are the top 3 perception gaps your table would put in front of the founder, and which one is most urgent to close before the relaunch brief is finalised?</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For each gap, what would "closed" actually look like, and which team would need to own fixing 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table's top gap turn out to be about the product itself, or about how people are treated when they interact with the brand?</a:t>
            </a:r>
          </a:p>
          <a:p>
            <a:pPr>
              <a:spcAft>
                <a:spcPts val="900"/>
              </a:spcAft>
            </a:pPr>
            <a:r>
              <a:rPr sz="1450" b="0">
                <a:solidFill>
                  <a:srgbClr val="161B26"/>
                </a:solidFill>
                <a:latin typeface="Arial"/>
              </a:rPr>
              <a:t>•  Was there a gap the data supported that still felt uncomfortable to put in front of the founder — and why?</a:t>
            </a:r>
          </a:p>
          <a:p>
            <a:pPr>
              <a:spcAft>
                <a:spcPts val="900"/>
              </a:spcAft>
            </a:pPr>
            <a:r>
              <a:rPr sz="1450" b="0">
                <a:solidFill>
                  <a:srgbClr val="161B26"/>
                </a:solidFill>
                <a:latin typeface="Arial"/>
              </a:rPr>
              <a:t>•  If Marketing pushed back and insisted the product is the whole story, what evidence would you point to first?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gap-analysis table comparing Marketing's internal belief against real customer feedback, with the top 3 perception gaps ranked and one concrete action proposed for each.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Importance of the customer in influencing the brand reputation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Importance of the customer in influencing the brand reputation?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Factor</a:t>
            </a:r>
          </a:p>
          <a:p>
            <a:pPr algn="l">
              <a:spcAft>
                <a:spcPts val="300"/>
              </a:spcAft>
            </a:pPr>
            <a:r>
              <a:rPr sz="1200" b="0">
                <a:solidFill>
                  <a:srgbClr val="5B6372"/>
                </a:solidFill>
                <a:latin typeface="Arial"/>
              </a:rPr>
              <a:t>Personal recommendations drive purchase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Viral Spread</a:t>
            </a:r>
          </a:p>
          <a:p>
            <a:pPr algn="l">
              <a:spcAft>
                <a:spcPts val="300"/>
              </a:spcAft>
            </a:pPr>
            <a:r>
              <a:rPr sz="1200" b="0">
                <a:solidFill>
                  <a:srgbClr val="5B6372"/>
                </a:solidFill>
                <a:latin typeface="Arial"/>
              </a:rPr>
              <a:t>Positive experiences multiply through networks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Voice</a:t>
            </a:r>
          </a:p>
          <a:p>
            <a:pPr algn="l">
              <a:spcAft>
                <a:spcPts val="300"/>
              </a:spcAft>
            </a:pPr>
            <a:r>
              <a:rPr sz="1200" b="0">
                <a:solidFill>
                  <a:srgbClr val="5B6372"/>
                </a:solidFill>
                <a:latin typeface="Arial"/>
              </a:rPr>
              <a:t>Online reviews equal family recommendations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Reputation Control</a:t>
            </a:r>
          </a:p>
          <a:p>
            <a:pPr algn="l">
              <a:spcAft>
                <a:spcPts val="300"/>
              </a:spcAft>
            </a:pPr>
            <a:r>
              <a:rPr sz="1200" b="0">
                <a:solidFill>
                  <a:srgbClr val="5B6372"/>
                </a:solidFill>
                <a:latin typeface="Arial"/>
              </a:rPr>
              <a:t>Customers actively shape the brand image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WebFX, Digital Silk 2024</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Advocacy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Experience</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interacts with the brand.</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Evaluate</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forms an emotional connection — or doesn't.</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Share</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tells others about the experience.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Positive vs Negative Word-of-Mouth Impact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Positive Experience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Negative Experience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Recommendation — 36% recommend within two weeks</a:t>
            </a:r>
          </a:p>
          <a:p>
            <a:pPr>
              <a:spcAft>
                <a:spcPts val="1000"/>
              </a:spcAft>
            </a:pPr>
            <a:r>
              <a:rPr sz="1600" b="0">
                <a:solidFill>
                  <a:srgbClr val="161B26"/>
                </a:solidFill>
                <a:latin typeface="Arial"/>
              </a:rPr>
              <a:t>•  Emotional Bond — 3x more word-of-mouth generated</a:t>
            </a:r>
          </a:p>
          <a:p>
            <a:pPr>
              <a:spcAft>
                <a:spcPts val="1000"/>
              </a:spcAft>
            </a:pPr>
            <a:r>
              <a:rPr sz="1600" b="0">
                <a:solidFill>
                  <a:srgbClr val="161B26"/>
                </a:solidFill>
                <a:latin typeface="Arial"/>
              </a:rPr>
              <a:t>•  Trust Building — builds lasting brand loyalty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Share Bad — 45% share negative experiences</a:t>
            </a:r>
          </a:p>
          <a:p>
            <a:pPr>
              <a:spcAft>
                <a:spcPts val="1000"/>
              </a:spcAft>
            </a:pPr>
            <a:r>
              <a:rPr sz="1600" b="0">
                <a:solidFill>
                  <a:srgbClr val="161B26"/>
                </a:solidFill>
                <a:latin typeface="Arial"/>
              </a:rPr>
              <a:t>•  Brand Avoidance — 26% completely avoid the brand</a:t>
            </a:r>
          </a:p>
          <a:p>
            <a:pPr>
              <a:spcAft>
                <a:spcPts val="1000"/>
              </a:spcAft>
            </a:pPr>
            <a:r>
              <a:rPr sz="1600" b="0">
                <a:solidFill>
                  <a:srgbClr val="161B26"/>
                </a:solidFill>
                <a:latin typeface="Arial"/>
              </a:rPr>
              <a:t>•  Reputation Damage — long-term perception harm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Trustmary, WiserReview 2024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Advocacy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Experience</a:t>
            </a:r>
          </a:p>
          <a:p>
            <a:pPr algn="l">
              <a:spcAft>
                <a:spcPts val="300"/>
              </a:spcAft>
            </a:pPr>
            <a:r>
              <a:rPr sz="1200" b="0">
                <a:solidFill>
                  <a:srgbClr val="5B6372"/>
                </a:solidFill>
                <a:latin typeface="Arial"/>
              </a:rPr>
              <a:t>A genuine, well-handled touchpoint with Nimbus — in store, online or on a call.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Satisfaction</a:t>
            </a:r>
          </a:p>
          <a:p>
            <a:pPr algn="l">
              <a:spcAft>
                <a:spcPts val="300"/>
              </a:spcAft>
            </a:pPr>
            <a:r>
              <a:rPr sz="1200" b="0">
                <a:solidFill>
                  <a:srgbClr val="5B6372"/>
                </a:solidFill>
                <a:latin typeface="Arial"/>
              </a:rPr>
              <a:t>The customer's private verdict on that touchpoint, good or bad.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Word-of-Mouth</a:t>
            </a:r>
          </a:p>
          <a:p>
            <a:pPr algn="l">
              <a:spcAft>
                <a:spcPts val="300"/>
              </a:spcAft>
            </a:pPr>
            <a:r>
              <a:rPr sz="1200" b="0">
                <a:solidFill>
                  <a:srgbClr val="5B6372"/>
                </a:solidFill>
                <a:latin typeface="Arial"/>
              </a:rPr>
              <a:t>A satisfied customer voluntarily tells others — a post, a tag, a conversation.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New-Customer Discovery</a:t>
            </a:r>
          </a:p>
          <a:p>
            <a:pPr algn="l">
              <a:spcAft>
                <a:spcPts val="300"/>
              </a:spcAft>
            </a:pPr>
            <a:r>
              <a:rPr sz="1200" b="0">
                <a:solidFill>
                  <a:srgbClr val="5B6372"/>
                </a:solidFill>
                <a:latin typeface="Arial"/>
              </a:rPr>
              <a:t>A prospect meets Nimbus through that story, restarting the loop.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customer advocacy loop, adapted from WebFX / Digital Silk 2024</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Owners, Not Ads, Built the Tesla Brand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Tesla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Tesla spends close to nothing on traditional advertising — owners self-organise meetups, share referral codes and post their own reviews instead. Nimbus's loyal Facebook community is the same asset already in hand, waiting to be invested in rather than replaced by paid media.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Activity 5 traced the perception gap mostly to Value Quality — the feeling of being known — rather than to the product itself. That is, in one sense, good news: it means Nimbus already has the raw material to fix it. The same loyal-customer Facebook community that has been asking "why hasn't Nimbus gone green sooner?" is still active, still buying, and still willing to talk about the brand.</a:t>
            </a:r>
          </a:p>
          <a:p>
            <a:pPr algn="l">
              <a:spcAft>
                <a:spcPts val="800"/>
              </a:spcAft>
            </a:pPr>
            <a:r>
              <a:rPr sz="1450" b="0">
                <a:solidFill>
                  <a:srgbClr val="161B26"/>
                </a:solidFill>
                <a:latin typeface="Arial"/>
              </a:rPr>
              <a:t>The founder now wants the relaunch to lean on these genuine advocates rather than paid media alone. But the online review picture is mixed — some customers are clearly still delighted, others are the ones driving the "doesn't feel personal anymore" narrative, and a few are firmly on the fence.</a:t>
            </a:r>
          </a:p>
          <a:p>
            <a:pPr algn="l">
              <a:spcAft>
                <a:spcPts val="800"/>
              </a:spcAft>
            </a:pPr>
            <a:r>
              <a:rPr sz="1450" b="0">
                <a:solidFill>
                  <a:srgbClr val="161B26"/>
                </a:solidFill>
                <a:latin typeface="Arial"/>
              </a:rPr>
              <a:t>Your table's job is to read the available feedback, identify who the real advocates are, and design an advocacy assessment and strategy that strengthens the loop before the anniversary campaign goes live — without ignoring the risk that a negative experience could restart the narrative that hurt Nimbus six months ago.</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customer-advocacy strategy mapped to the Advocacy Loop, with named target metrics and how each will be tracked</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Reading the mixed feedback, which customers are the strongest genuine candidates for an advocacy programme, and what evidence marks them out from a merely satisfied customer?</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Advocacy Loop, at which stage is Nimbus currently strongest, and at which stage does the loop most often break down before it reaches a new customer?</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Given that a competitor's viral moment is what hurt Nimbus six months ago, how real is the risk that one bad experience among these advocates could restart the same narrative — and how would you guard against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actually ask advocates to do for the relaunch, and what would Nimbus need to give them in return for it to feel genuine rather than transactional?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wipe dir="l"/>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 pick advocates based on how loudly they post, or on how consistently satisfied they actually are?</a:t>
            </a:r>
          </a:p>
          <a:p>
            <a:pPr>
              <a:spcAft>
                <a:spcPts val="900"/>
              </a:spcAft>
            </a:pPr>
            <a:r>
              <a:rPr sz="1450" b="0">
                <a:solidFill>
                  <a:srgbClr val="161B26"/>
                </a:solidFill>
                <a:latin typeface="Arial"/>
              </a:rPr>
              <a:t>•  Which stage of the Advocacy Loop did your table find hardest to strengthen with the resources Nimbus realistically has?</a:t>
            </a:r>
          </a:p>
          <a:p>
            <a:pPr>
              <a:spcAft>
                <a:spcPts val="900"/>
              </a:spcAft>
            </a:pPr>
            <a:r>
              <a:rPr sz="1450" b="0">
                <a:solidFill>
                  <a:srgbClr val="161B26"/>
                </a:solidFill>
                <a:latin typeface="Arial"/>
              </a:rPr>
              <a:t>•  If one of your chosen advocates had a bad experience next week, would your strategy survive it?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an advocacy strategy mapped onto the Advocacy Loop, naming which customers to engage, what stage of the loop it strengthens, and at least one target metric with how it will be tracked.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Document customer reception to brand and outcome of branding campaigns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Document customer reception to brand and outcome of branding campaigns?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Collection</a:t>
            </a:r>
          </a:p>
          <a:p>
            <a:pPr algn="l">
              <a:spcAft>
                <a:spcPts val="300"/>
              </a:spcAft>
            </a:pPr>
            <a:r>
              <a:rPr sz="1200" b="0">
                <a:solidFill>
                  <a:srgbClr val="5B6372"/>
                </a:solidFill>
                <a:latin typeface="Arial"/>
              </a:rPr>
              <a:t>Systematic recording of customer responses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Metrics</a:t>
            </a:r>
          </a:p>
          <a:p>
            <a:pPr algn="l">
              <a:spcAft>
                <a:spcPts val="300"/>
              </a:spcAft>
            </a:pPr>
            <a:r>
              <a:rPr sz="1200" b="0">
                <a:solidFill>
                  <a:srgbClr val="5B6372"/>
                </a:solidFill>
                <a:latin typeface="Arial"/>
              </a:rPr>
              <a:t>Measuring effectiveness through customer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Analysis Systems</a:t>
            </a:r>
          </a:p>
          <a:p>
            <a:pPr algn="l">
              <a:spcAft>
                <a:spcPts val="300"/>
              </a:spcAft>
            </a:pPr>
            <a:r>
              <a:rPr sz="1200" b="0">
                <a:solidFill>
                  <a:srgbClr val="5B6372"/>
                </a:solidFill>
                <a:latin typeface="Arial"/>
              </a:rPr>
              <a:t>Documentation frameworks for brand reception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 Tracking</a:t>
            </a:r>
          </a:p>
          <a:p>
            <a:pPr algn="l">
              <a:spcAft>
                <a:spcPts val="300"/>
              </a:spcAft>
            </a:pPr>
            <a:r>
              <a:rPr sz="1200" b="0">
                <a:solidFill>
                  <a:srgbClr val="5B6372"/>
                </a:solidFill>
                <a:latin typeface="Arial"/>
              </a:rPr>
              <a:t>Recording measurable campaign results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Multiple branding studies, 2024-2026</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Documentation Process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Metrics</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measurement criteria up front.</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Collect Feedback</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Gather the customer-response data systematically.</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Analyse Data</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Process the collected information into findings.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Modern Documentation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Modern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Manual Surveys — paper-based feedback collection</a:t>
            </a:r>
          </a:p>
          <a:p>
            <a:pPr>
              <a:spcAft>
                <a:spcPts val="1000"/>
              </a:spcAft>
            </a:pPr>
            <a:r>
              <a:rPr sz="1600" b="0">
                <a:solidFill>
                  <a:srgbClr val="161B26"/>
                </a:solidFill>
                <a:latin typeface="Arial"/>
              </a:rPr>
              <a:t>•  Basic Analytics — simple metrics and reporting</a:t>
            </a:r>
          </a:p>
          <a:p>
            <a:pPr>
              <a:spcAft>
                <a:spcPts val="1000"/>
              </a:spcAft>
            </a:pPr>
            <a:r>
              <a:rPr sz="1600" b="0">
                <a:solidFill>
                  <a:srgbClr val="161B26"/>
                </a:solidFill>
                <a:latin typeface="Arial"/>
              </a:rPr>
              <a:t>•  Delayed Insights — weekly or monthly reporting cycles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Real-Time Monitoring — instant sentiment tracking</a:t>
            </a:r>
          </a:p>
          <a:p>
            <a:pPr>
              <a:spcAft>
                <a:spcPts val="1000"/>
              </a:spcAft>
            </a:pPr>
            <a:r>
              <a:rPr sz="1600" b="0">
                <a:solidFill>
                  <a:srgbClr val="161B26"/>
                </a:solidFill>
                <a:latin typeface="Arial"/>
              </a:rPr>
              <a:t>•  AI Insights — automated pattern recognition</a:t>
            </a:r>
          </a:p>
          <a:p>
            <a:pPr>
              <a:spcAft>
                <a:spcPts val="1000"/>
              </a:spcAft>
            </a:pPr>
            <a:r>
              <a:rPr sz="1600" b="0">
                <a:solidFill>
                  <a:srgbClr val="161B26"/>
                </a:solidFill>
                <a:latin typeface="Arial"/>
              </a:rPr>
              <a:t>•  Predictive Analytics — trend forecasting capability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Marketing technology evolution studies, 2024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PESO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Paid Media</a:t>
            </a:r>
          </a:p>
          <a:p>
            <a:pPr algn="l">
              <a:spcAft>
                <a:spcPts val="300"/>
              </a:spcAft>
            </a:pPr>
            <a:r>
              <a:rPr sz="1200" b="0">
                <a:solidFill>
                  <a:srgbClr val="5B6372"/>
                </a:solidFill>
                <a:latin typeface="Arial"/>
              </a:rPr>
              <a:t>Boosted posts and sponsored placements Nimbus paid to run.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Earned Media</a:t>
            </a:r>
          </a:p>
          <a:p>
            <a:pPr algn="l">
              <a:spcAft>
                <a:spcPts val="300"/>
              </a:spcAft>
            </a:pPr>
            <a:r>
              <a:rPr sz="1200" b="0">
                <a:solidFill>
                  <a:srgbClr val="5B6372"/>
                </a:solidFill>
                <a:latin typeface="Arial"/>
              </a:rPr>
              <a:t>Unprompted press coverage and mentions Nimbus didn't pay for.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Media</a:t>
            </a:r>
          </a:p>
          <a:p>
            <a:pPr algn="l">
              <a:spcAft>
                <a:spcPts val="300"/>
              </a:spcAft>
            </a:pPr>
            <a:r>
              <a:rPr sz="1200" b="0">
                <a:solidFill>
                  <a:srgbClr val="5B6372"/>
                </a:solidFill>
                <a:latin typeface="Arial"/>
              </a:rPr>
              <a:t>Reposts, tags and comments the community generated on its own.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 Media</a:t>
            </a:r>
          </a:p>
          <a:p>
            <a:pPr algn="l">
              <a:spcAft>
                <a:spcPts val="300"/>
              </a:spcAft>
            </a:pPr>
            <a:r>
              <a:rPr sz="1200" b="0">
                <a:solidFill>
                  <a:srgbClr val="5B6372"/>
                </a:solidFill>
                <a:latin typeface="Arial"/>
              </a:rPr>
              <a:t>The blog post, email newsletter and product page Nimbus fully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Every Test Gets Measured, Every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Netflix</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Netflix documents disciplined A/B tests down to thumbnail images and runs every creative change against hard viewership data — nothing ships on a hunch. That documentation discipline is exactly what Nimbus's pilot campaign lacked: a record consistent enough to trust before scaling it 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Three months ago, before committing the full relaunch budget, the Marketing Lead quietly piloted a small "Behind the Jar" campaign — a short Instagram Stories series introducing the new sustainable-packaging story to a slice of the loyal-customer community, alongside one boosted post, a short unpaid write-up from a local lifestyle blog, and a supporting post on the Nimbus website.</a:t>
            </a:r>
          </a:p>
          <a:p>
            <a:pPr algn="l">
              <a:spcAft>
                <a:spcPts val="800"/>
              </a:spcAft>
            </a:pPr>
            <a:r>
              <a:rPr sz="1450" b="0">
                <a:solidFill>
                  <a:srgbClr val="161B26"/>
                </a:solidFill>
                <a:latin typeface="Arial"/>
              </a:rPr>
              <a:t>Nobody kept a single, consistent record of how it performed. Some numbers live in a Marketing team member's spreadsheet, some in a Notion page nobody else can find, and the rest is only in people's memory of "it went pretty well." With the Board wanting proof that the full relaunch campaign works — not just louder impressions — that will not be good enough this time.</a:t>
            </a:r>
          </a:p>
          <a:p>
            <a:pPr algn="l">
              <a:spcAft>
                <a:spcPts val="800"/>
              </a:spcAft>
            </a:pPr>
            <a:r>
              <a:rPr sz="1450" b="0">
                <a:solidFill>
                  <a:srgbClr val="161B26"/>
                </a:solidFill>
                <a:latin typeface="Arial"/>
              </a:rPr>
              <a:t>Your table's job is to reconstruct what actually happened to the pilot campaign across paid, earned, shared and owned media, and turn it into a documentation framework the team can reuse for the real relaunch three months from now.</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PESO-based campaign-reception report for the pilot, with metrics, gaps and a documentation framework the team can reuse for the full relaunch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Sorting the pilot's activity into Paid, Earned, Shared and Owned media, where did the strongest customer reception actually happen — and does that match where the team spent the most effort?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pieces of the pilot's story are you missing data for entirely, and how would you close that gap before the full relaunch campaign launches?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documentation framework would you standardise now, so results don't have to be reconstructed from memory again after the real relaunch?</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Based on the pilot's results, what is the strongest evidence you would put in front of the Board to justify the relaunch's PR budget?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wipe dir="l"/>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of the four PESO categories was hardest to find any real data for — and what does that tell you about Nimbus's current documentation habits?</a:t>
            </a:r>
          </a:p>
          <a:p>
            <a:pPr>
              <a:spcAft>
                <a:spcPts val="900"/>
              </a:spcAft>
            </a:pPr>
            <a:r>
              <a:rPr sz="1450" b="0">
                <a:solidFill>
                  <a:srgbClr val="161B26"/>
                </a:solidFill>
                <a:latin typeface="Arial"/>
              </a:rPr>
              <a:t>•  Did the channel that felt most successful in the room match the channel the numbers actually supported?</a:t>
            </a:r>
          </a:p>
          <a:p>
            <a:pPr>
              <a:spcAft>
                <a:spcPts val="900"/>
              </a:spcAft>
            </a:pPr>
            <a:r>
              <a:rPr sz="1450" b="0">
                <a:solidFill>
                  <a:srgbClr val="161B26"/>
                </a:solidFill>
                <a:latin typeface="Arial"/>
              </a:rPr>
              <a:t>•  If the Board asked "how do we know this worked?" right now, could your documentation answer them convincingly?</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PESO-sorted reception report for the pilot campaign with at least one metric per media type, the gaps in current data called out honestly, and a reusable documentation framework for the full relaunch.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Perform active listening from customer to understand customer's perspective of the organisation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Perform active listening from customer to understand customer's perspective of the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Attention</a:t>
            </a:r>
          </a:p>
          <a:p>
            <a:pPr algn="l">
              <a:spcAft>
                <a:spcPts val="300"/>
              </a:spcAft>
            </a:pPr>
            <a:r>
              <a:rPr sz="1200" b="0">
                <a:solidFill>
                  <a:srgbClr val="5B6372"/>
                </a:solidFill>
                <a:latin typeface="Arial"/>
              </a:rPr>
              <a:t>Eliminate distractions during customer interactions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 P's Framework</a:t>
            </a:r>
          </a:p>
          <a:p>
            <a:pPr algn="l">
              <a:spcAft>
                <a:spcPts val="300"/>
              </a:spcAft>
            </a:pPr>
            <a:r>
              <a:rPr sz="1200" b="0">
                <a:solidFill>
                  <a:srgbClr val="5B6372"/>
                </a:solidFill>
                <a:latin typeface="Arial"/>
              </a:rPr>
              <a:t>Presence, Patience, and Paraphrasing approach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Emotion Focus</a:t>
            </a:r>
          </a:p>
          <a:p>
            <a:pPr algn="l">
              <a:spcAft>
                <a:spcPts val="300"/>
              </a:spcAft>
            </a:pPr>
            <a:r>
              <a:rPr sz="1200" b="0">
                <a:solidFill>
                  <a:srgbClr val="5B6372"/>
                </a:solidFill>
                <a:latin typeface="Arial"/>
              </a:rPr>
              <a:t>Understanding the feelings behind customer words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Insight</a:t>
            </a:r>
          </a:p>
          <a:p>
            <a:pPr algn="l">
              <a:spcAft>
                <a:spcPts val="300"/>
              </a:spcAft>
            </a:pPr>
            <a:r>
              <a:rPr sz="1200" b="0">
                <a:solidFill>
                  <a:srgbClr val="5B6372"/>
                </a:solidFill>
                <a:latin typeface="Arial"/>
              </a:rPr>
              <a:t>Gather valuable customer perception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the 3 P's active-listening framework (Presence, Patience, Paraphrasing), customer-service training practice</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Active Listening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Eliminate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Remove all distractions completely before you start.</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Focus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Give the customer your full attention.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Receive</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Gather all the information actively — don't half-listen.</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Interpret</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Understand the customer's perspective deeply, not just their words.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Passive Hearing vs Active Listening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Passive Hearing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The 3 P's — Active Listening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Word Focus — Hearing only the literal words, missing the tone underneath them.</a:t>
            </a:r>
          </a:p>
          <a:p>
            <a:pPr>
              <a:spcAft>
                <a:spcPts val="1000"/>
              </a:spcAft>
            </a:pPr>
            <a:r>
              <a:rPr sz="1600" b="0">
                <a:solidFill>
                  <a:srgbClr val="161B26"/>
                </a:solidFill>
                <a:latin typeface="Arial"/>
              </a:rPr>
              <a:t>•  Response Ready — Mentally drafting the scripted reply while the customer is still talking.</a:t>
            </a:r>
          </a:p>
          <a:p>
            <a:pPr>
              <a:spcAft>
                <a:spcPts val="1000"/>
              </a:spcAft>
            </a:pPr>
            <a:r>
              <a:rPr sz="1600" b="0">
                <a:solidFill>
                  <a:srgbClr val="161B26"/>
                </a:solidFill>
                <a:latin typeface="Arial"/>
              </a:rPr>
              <a:t>•  Surface Level — Closing the call once the words stop, without checking the feeling behind them.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Presence — Full attention, phone and scripts aside — genuinely there for the call.</a:t>
            </a:r>
          </a:p>
          <a:p>
            <a:pPr>
              <a:spcAft>
                <a:spcPts val="1000"/>
              </a:spcAft>
            </a:pPr>
            <a:r>
              <a:rPr sz="1600" b="0">
                <a:solidFill>
                  <a:srgbClr val="161B26"/>
                </a:solidFill>
                <a:latin typeface="Arial"/>
              </a:rPr>
              <a:t>•  Patience — Letting the customer finish completely before responding, without rushing.</a:t>
            </a:r>
          </a:p>
          <a:p>
            <a:pPr>
              <a:spcAft>
                <a:spcPts val="1000"/>
              </a:spcAft>
            </a:pPr>
            <a:r>
              <a:rPr sz="1600" b="0">
                <a:solidFill>
                  <a:srgbClr val="161B26"/>
                </a:solidFill>
                <a:latin typeface="Arial"/>
              </a:rPr>
              <a:t>•  Paraphrasing — Reflecting the concern back in your own words to confirm you understood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the 3 P's active-listening framework (Presence, Patience, Paraphrasing), customer-service training practice.</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Empathy Map — Priya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Says</a:t>
            </a:r>
          </a:p>
          <a:p>
            <a:pPr algn="l">
              <a:spcAft>
                <a:spcPts val="300"/>
              </a:spcAft>
            </a:pPr>
            <a:r>
              <a:rPr sz="1100" b="0">
                <a:solidFill>
                  <a:srgbClr val="5B6372"/>
                </a:solidFill>
                <a:latin typeface="Arial"/>
              </a:rPr>
              <a:t>"Why doesn't Nimbus feel personal anymore?"; "I've bought from you since year 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Thinks</a:t>
            </a:r>
          </a:p>
          <a:p>
            <a:pPr algn="l">
              <a:spcAft>
                <a:spcPts val="300"/>
              </a:spcAft>
            </a:pPr>
            <a:r>
              <a:rPr sz="1100" b="0">
                <a:solidFill>
                  <a:srgbClr val="5B6372"/>
                </a:solidFill>
                <a:latin typeface="Arial"/>
              </a:rPr>
              <a:t>Does anyone here still actually care?; Maybe I'm just an order number now.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Does</a:t>
            </a:r>
          </a:p>
          <a:p>
            <a:pPr algn="l">
              <a:spcAft>
                <a:spcPts val="300"/>
              </a:spcAft>
            </a:pPr>
            <a:r>
              <a:rPr sz="1100" b="0">
                <a:solidFill>
                  <a:srgbClr val="5B6372"/>
                </a:solidFill>
                <a:latin typeface="Arial"/>
              </a:rPr>
              <a:t>Calls Customer Service instead of emailing.; Reads the community Facebook thread nightly.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Feels</a:t>
            </a:r>
          </a:p>
          <a:p>
            <a:pPr algn="l">
              <a:spcAft>
                <a:spcPts val="300"/>
              </a:spcAft>
            </a:pPr>
            <a:r>
              <a:rPr sz="1100" b="0">
                <a:solidFill>
                  <a:srgbClr val="5B6372"/>
                </a:solidFill>
                <a:latin typeface="Arial"/>
              </a:rPr>
              <a:t>Frustrated and quietly disappointed.; Still hopeful Nimbus can win her 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empathy-mapping practice, adapted from the Activity 8 role-play</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Empty Chair That Represents the Customer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Amazon</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Amazon famously keeps an empty chair in meetings to represent the customer whose voice isn't otherwise in the room — a physical reminder to listen before deciding. The 3 P's do the same work on a live call: they force Presence, Patience and Paraphrasing instead of assumption.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Priya has bought from Nimbus Wellness since its first year. Last night she read the same community Facebook thread the Activity 4 audit flagged — customers saying Nimbus "doesn't feel personal anymore" — and she agrees. This morning she calls Customer Service, frustrated, wanting to know why the brand she used to feel loyal to now treats her like any other order number.</a:t>
            </a:r>
          </a:p>
          <a:p>
            <a:pPr algn="l">
              <a:spcAft>
                <a:spcPts val="800"/>
              </a:spcAft>
            </a:pPr>
            <a:r>
              <a:rPr sz="1450" b="0">
                <a:solidFill>
                  <a:srgbClr val="161B26"/>
                </a:solidFill>
                <a:latin typeface="Arial"/>
              </a:rPr>
              <a:t>The rep taking the call has a real average-handle-time target and a bank of quick-reply macros that would close this call in under two minutes. But leadership has asked every Customer Service call this week to be an active-listening opportunity, not just a resolution — because this exact situation is what the relaunch's active-listening approach will need to prove it can handle.</a:t>
            </a:r>
          </a:p>
          <a:p>
            <a:pPr algn="l">
              <a:spcAft>
                <a:spcPts val="800"/>
              </a:spcAft>
            </a:pPr>
            <a:r>
              <a:rPr sz="1450" b="0">
                <a:solidFill>
                  <a:srgbClr val="161B26"/>
                </a:solidFill>
                <a:latin typeface="Arial"/>
              </a:rPr>
              <a:t>Your group of three will run this call as a role play, coached in real time against the 3 P's, then turn what was actually said — not just what was resolved — into a documented customer-perspective insight for the relaunch team.</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customer-perspective analysis report — the emotion behind the words, a coaching note against the 3 P's, and one actionable insight for the relaunch team</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The Customer (Priya)</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Be heard and taken seriously, not just processed</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A five-year loyal customer who feels increasingly like a transaction. She isn't asking for a refund — she wants to know if anyone at Nimbus still cares.</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Nimbus Service Rep</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Resolve the call by genuinely listening, not by closing it fast</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Under real pressure to keep the call short, but has been told this week that how the call feels matters as much as how quickly it ends.</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Apply the 3 P's framework as a coaching lens on the call</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Says nothing during the role play itself, but tracks exactly where Presence, Patience and Paraphrasing show up — or don't — to coach the Rep afterwards.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wipe dir="l"/>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As the call plays out, where does the Rep genuinely apply Presence, Patience and Paraphrasing — and where do they slip back into passive hearing?</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emotion is actually behind Priya's words, as distinct from the literal complaint she's making?</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the Observer paraphrase Priya's perspective back in one honest sentence, without judgement and without minimising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Beyond "the customer was upset," what concrete, actionable insight should this call generate for the relaunch team?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wipe dir="l"/>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As the Customer, at what point in the call did you feel genuinely heard — or feel yourself give up on being heard?</a:t>
            </a:r>
          </a:p>
          <a:p>
            <a:pPr>
              <a:spcAft>
                <a:spcPts val="900"/>
              </a:spcAft>
            </a:pPr>
            <a:r>
              <a:rPr sz="1450" b="0">
                <a:solidFill>
                  <a:srgbClr val="161B26"/>
                </a:solidFill>
                <a:latin typeface="Arial"/>
              </a:rPr>
              <a:t>•  As the Rep, was it harder to stay patient, or harder to paraphrase without sounding scripted?</a:t>
            </a:r>
          </a:p>
          <a:p>
            <a:pPr>
              <a:spcAft>
                <a:spcPts val="900"/>
              </a:spcAft>
            </a:pPr>
            <a:r>
              <a:rPr sz="1450" b="0">
                <a:solidFill>
                  <a:srgbClr val="161B26"/>
                </a:solidFill>
                <a:latin typeface="Arial"/>
              </a:rPr>
              <a:t>•  As the Observer, which of the 3 P's was missing most often, and what would you coach first?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completed customer-perspective analysis that names the emotion behind Priya's words (not just the words themselves), cites a specific moment where a P was applied or missed, and closes with one actionable insight for the relaunch team.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Customer Influence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Perception Audit</a:t>
            </a:r>
          </a:p>
          <a:p>
            <a:pPr algn="l">
              <a:spcAft>
                <a:spcPts val="300"/>
              </a:spcAft>
            </a:pPr>
            <a:r>
              <a:rPr sz="1200" b="0">
                <a:solidFill>
                  <a:srgbClr val="5B6372"/>
                </a:solidFill>
                <a:latin typeface="Arial"/>
              </a:rPr>
              <a:t>You can now: Assess customer perceptions of the brand, products and services.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Advocacy Assessment</a:t>
            </a:r>
          </a:p>
          <a:p>
            <a:pPr algn="l">
              <a:spcAft>
                <a:spcPts val="300"/>
              </a:spcAft>
            </a:pPr>
            <a:r>
              <a:rPr sz="1200" b="0">
                <a:solidFill>
                  <a:srgbClr val="5B6372"/>
                </a:solidFill>
                <a:latin typeface="Arial"/>
              </a:rPr>
              <a:t>You can now: Recognise the importance of the customer in influencing brand reputation.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Documentation Audit</a:t>
            </a:r>
          </a:p>
          <a:p>
            <a:pPr algn="l">
              <a:spcAft>
                <a:spcPts val="300"/>
              </a:spcAft>
            </a:pPr>
            <a:r>
              <a:rPr sz="1200" b="0">
                <a:solidFill>
                  <a:srgbClr val="5B6372"/>
                </a:solidFill>
                <a:latin typeface="Arial"/>
              </a:rPr>
              <a:t>You can now: Document customer reception to the brand and the outcome of branding campaigns.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 Perspective Analysis</a:t>
            </a:r>
          </a:p>
          <a:p>
            <a:pPr algn="l">
              <a:spcAft>
                <a:spcPts val="300"/>
              </a:spcAft>
            </a:pPr>
            <a:r>
              <a:rPr sz="1200" b="0">
                <a:solidFill>
                  <a:srgbClr val="5B6372"/>
                </a:solidFill>
                <a:latin typeface="Arial"/>
              </a:rPr>
              <a:t>You can now: Perform active listening from the customer to understand the customer's perspective of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gap between what you believe about your brand and what customers feel is where reputations are won or lost.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LU2: Customer Influence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zoom/>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Branding in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Branding Basics · Role in Marketing · Awareness Campaigns · PR Execution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push dir="l"/>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basics — visual identity, brand values, brand voice and brand guidelines — give a business a consistent, recognisable presence.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plays a central role in marketing: it builds trust, differentiates from competitors and creates the emotional connection that drives loyalty.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Executing branding campaigns, events and activities — from social pushes to experiential pop-ups — raises brand awareness across the target audience.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Public-relations campaigns must align to the brand positioning strategy, the operational plan and the marketing budget to stay credible and sustainable.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AUTHENTICITY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Anatomy of Brand Authenticity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Authenticity is engineered through four repeatable practices.</a:t>
            </a:r>
          </a:p>
        </p:txBody>
      </p:sp>
      <p:sp>
        <p:nvSpPr>
          <p:cNvPr id="8" name="Rectangle 7"/>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Radical Transparency</a:t>
            </a:r>
          </a:p>
        </p:txBody>
      </p:sp>
      <p:sp>
        <p:nvSpPr>
          <p:cNvPr id="11" name="TextBox 10"/>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Open communication about business practices and product origins — e.g. Patagonia's Footprint Chronicles detailing supply-chain realities.</a:t>
            </a:r>
          </a:p>
        </p:txBody>
      </p:sp>
      <p:sp>
        <p:nvSpPr>
          <p:cNvPr id="12" name="Rectangle 11"/>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Value Alignment</a:t>
            </a:r>
          </a:p>
        </p:txBody>
      </p:sp>
      <p:sp>
        <p:nvSpPr>
          <p:cNvPr id="15" name="TextBox 14"/>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Emotional connection forged through shared beliefs and societal commitment — e.g. Ben &amp; Jerry's integration of social justice into core operations.</a:t>
            </a:r>
          </a:p>
        </p:txBody>
      </p:sp>
      <p:sp>
        <p:nvSpPr>
          <p:cNvPr id="16" name="Rectangle 15"/>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Authentic Storytelling</a:t>
            </a:r>
          </a:p>
        </p:txBody>
      </p:sp>
      <p:sp>
        <p:nvSpPr>
          <p:cNvPr id="19" name="TextBox 18"/>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Humanising the brand through relatable, non-fabricated narratives — e.g. Nike highlighting genuine struggles and triumphs of real athletes.</a:t>
            </a:r>
          </a:p>
        </p:txBody>
      </p:sp>
      <p:sp>
        <p:nvSpPr>
          <p:cNvPr id="20" name="Rectangle 19"/>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Quality Assurance</a:t>
            </a:r>
          </a:p>
        </p:txBody>
      </p:sp>
      <p:sp>
        <p:nvSpPr>
          <p:cNvPr id="23" name="TextBox 22"/>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Trust earned through unwavering consistency and reliability — e.g. Toyota's rigorous quality control building global dependability.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WHAT BREAKS TRUST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Trust Fracture: the Say-Do Gap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How trust fractures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Case: the Volkswagen emissions scandal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Brand authenticity is destroyed by inauthentic practices — when a company's actions contradict its stated promises.</a:t>
            </a:r>
          </a:p>
          <a:p>
            <a:pPr>
              <a:spcAft>
                <a:spcPts val="1000"/>
              </a:spcAft>
            </a:pPr>
            <a:r>
              <a:rPr sz="1600" b="0">
                <a:solidFill>
                  <a:srgbClr val="161B26"/>
                </a:solidFill>
                <a:latin typeface="Arial"/>
              </a:rPr>
              <a:t>•  Discrepancies between marketing claims and operational reality create a trust fracture that severs the customer journey loop permanently.</a:t>
            </a:r>
          </a:p>
          <a:p>
            <a:pPr>
              <a:spcAft>
                <a:spcPts val="1000"/>
              </a:spcAft>
            </a:pPr>
            <a:r>
              <a:rPr sz="1600" b="0">
                <a:solidFill>
                  <a:srgbClr val="161B26"/>
                </a:solidFill>
                <a:latin typeface="Arial"/>
              </a:rPr>
              <a:t>•  PR campaigns can only amplify what operations can prove.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Software was installed to cheat emissions tests.</a:t>
            </a:r>
          </a:p>
          <a:p>
            <a:pPr>
              <a:spcAft>
                <a:spcPts val="1000"/>
              </a:spcAft>
            </a:pPr>
            <a:r>
              <a:rPr sz="1600" b="0">
                <a:solidFill>
                  <a:srgbClr val="161B26"/>
                </a:solidFill>
                <a:latin typeface="Arial"/>
              </a:rPr>
              <a:t>•  The deception directly contradicted public claims of environmental responsibility.</a:t>
            </a:r>
          </a:p>
          <a:p>
            <a:pPr>
              <a:spcAft>
                <a:spcPts val="1000"/>
              </a:spcAft>
            </a:pPr>
            <a:r>
              <a:rPr sz="1600" b="0">
                <a:solidFill>
                  <a:srgbClr val="161B26"/>
                </a:solidFill>
                <a:latin typeface="Arial"/>
              </a:rPr>
              <a:t>•  Result: immediate, catastrophic loss of consumer trust — a say-do gap no campaign could repair.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OMNICHANNEL PAYS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Channel Choice Is a Brand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Meeting customers on the channels they already use measurably outperforms broadcasting on the channel that is easiest to produce.</a:t>
            </a:r>
          </a:p>
        </p:txBody>
      </p:sp>
      <p:graphicFrame>
        <p:nvGraphicFramePr>
          <p:cNvPr id="8" name="Chart 7"/>
          <p:cNvGraphicFramePr>
            <a:graphicFrameLocks noGrp="1"/>
          </p:cNvGraphicFramePr>
          <p:nvPr/>
        </p:nvGraphicFramePr>
        <p:xfrm>
          <a:off x="1280160" y="2103120"/>
          <a:ext cx="9601200" cy="3749039"/>
        </p:xfrm>
        <a:graphic>
          <a:graphicData uri="http://schemas.openxmlformats.org/drawingml/2006/chart">
            <c:chart xmlns:c="http://schemas.openxmlformats.org/drawingml/2006/chart" r:id="rId2"/>
          </a:graphicData>
        </a:graphic>
      </p:graphicFrame>
      <p:sp>
        <p:nvSpPr>
          <p:cNvPr id="9" name="Rectangle 8"/>
          <p:cNvSpPr/>
          <p:nvPr/>
        </p:nvSpPr>
        <p:spPr>
          <a:xfrm>
            <a:off x="777240" y="5870448"/>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70448"/>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870448"/>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A 3+ channel mix produced a 494% higher order rate than single-channel campaigns — the single largest effect in the research set.</a:t>
            </a:r>
          </a:p>
        </p:txBody>
      </p:sp>
      <p:sp>
        <p:nvSpPr>
          <p:cNvPr id="12" name="TextBox 11"/>
          <p:cNvSpPr txBox="1"/>
          <p:nvPr/>
        </p:nvSpPr>
        <p:spPr>
          <a:xfrm>
            <a:off x="777240" y="5513832"/>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Zendesk and Freshworks omnichannel research, 2024–25</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FROM MESSAGE TO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Customer Communication Management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repeatable five-stage cycle — the operational backbone behind a consistent brand voice.</a:t>
            </a:r>
          </a:p>
        </p:txBody>
      </p:sp>
      <p:sp>
        <p:nvSpPr>
          <p:cNvPr id="8" name="Rectangle 7"/>
          <p:cNvSpPr/>
          <p:nvPr/>
        </p:nvSpPr>
        <p:spPr>
          <a:xfrm>
            <a:off x="777240" y="2194560"/>
            <a:ext cx="1874519"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194560"/>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Brand team</a:t>
            </a:r>
          </a:p>
        </p:txBody>
      </p:sp>
      <p:sp>
        <p:nvSpPr>
          <p:cNvPr id="10" name="Rectangle 9"/>
          <p:cNvSpPr/>
          <p:nvPr/>
        </p:nvSpPr>
        <p:spPr>
          <a:xfrm>
            <a:off x="2834639" y="2194560"/>
            <a:ext cx="1605686"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39" y="2194560"/>
            <a:ext cx="64008"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1" y="2194560"/>
            <a:ext cx="1331366" cy="1088136"/>
          </a:xfrm>
          <a:prstGeom prst="rect">
            <a:avLst/>
          </a:prstGeom>
          <a:noFill/>
        </p:spPr>
        <p:txBody>
          <a:bodyPr wrap="square" anchor="ctr">
            <a:spAutoFit/>
          </a:bodyPr>
          <a:lstStyle/>
          <a:p>
            <a:pPr algn="l">
              <a:spcAft>
                <a:spcPts val="400"/>
              </a:spcAft>
            </a:pPr>
            <a:r>
              <a:rPr sz="1050" b="0">
                <a:solidFill>
                  <a:srgbClr val="161B26"/>
                </a:solidFill>
                <a:latin typeface="Arial"/>
              </a:rPr>
              <a:t>Create
branded templates</a:t>
            </a:r>
          </a:p>
        </p:txBody>
      </p:sp>
      <p:sp>
        <p:nvSpPr>
          <p:cNvPr id="13" name="Rectangle 12"/>
          <p:cNvSpPr/>
          <p:nvPr/>
        </p:nvSpPr>
        <p:spPr>
          <a:xfrm>
            <a:off x="4623205" y="2194560"/>
            <a:ext cx="1605686"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3205" y="2194560"/>
            <a:ext cx="64008" cy="10881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7797" y="2194560"/>
            <a:ext cx="1331366" cy="1088136"/>
          </a:xfrm>
          <a:prstGeom prst="rect">
            <a:avLst/>
          </a:prstGeom>
          <a:noFill/>
        </p:spPr>
        <p:txBody>
          <a:bodyPr wrap="square" anchor="ctr">
            <a:spAutoFit/>
          </a:bodyPr>
          <a:lstStyle/>
          <a:p>
            <a:pPr algn="l">
              <a:spcAft>
                <a:spcPts val="400"/>
              </a:spcAft>
            </a:pPr>
            <a:r>
              <a:rPr sz="1050" b="0">
                <a:solidFill>
                  <a:srgbClr val="161B26"/>
                </a:solidFill>
                <a:latin typeface="Arial"/>
              </a:rPr>
              <a:t>Personalise
with customer data</a:t>
            </a:r>
          </a:p>
        </p:txBody>
      </p:sp>
      <p:sp>
        <p:nvSpPr>
          <p:cNvPr id="16" name="Rectangle 15"/>
          <p:cNvSpPr/>
          <p:nvPr/>
        </p:nvSpPr>
        <p:spPr>
          <a:xfrm>
            <a:off x="777240" y="3410712"/>
            <a:ext cx="1874519"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3410712"/>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Service team</a:t>
            </a:r>
          </a:p>
        </p:txBody>
      </p:sp>
      <p:sp>
        <p:nvSpPr>
          <p:cNvPr id="18" name="Rectangle 17"/>
          <p:cNvSpPr/>
          <p:nvPr/>
        </p:nvSpPr>
        <p:spPr>
          <a:xfrm>
            <a:off x="6411771" y="3410712"/>
            <a:ext cx="1605686"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11771" y="3410712"/>
            <a:ext cx="64008"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76363" y="3410712"/>
            <a:ext cx="1331366" cy="1088136"/>
          </a:xfrm>
          <a:prstGeom prst="rect">
            <a:avLst/>
          </a:prstGeom>
          <a:noFill/>
        </p:spPr>
        <p:txBody>
          <a:bodyPr wrap="square" anchor="ctr">
            <a:spAutoFit/>
          </a:bodyPr>
          <a:lstStyle/>
          <a:p>
            <a:pPr algn="l">
              <a:spcAft>
                <a:spcPts val="400"/>
              </a:spcAft>
            </a:pPr>
            <a:r>
              <a:rPr sz="1050" b="0">
                <a:solidFill>
                  <a:srgbClr val="161B26"/>
                </a:solidFill>
                <a:latin typeface="Arial"/>
              </a:rPr>
              <a:t>Deliver on the
preferred channel</a:t>
            </a:r>
          </a:p>
        </p:txBody>
      </p:sp>
      <p:sp>
        <p:nvSpPr>
          <p:cNvPr id="21" name="Rectangle 20"/>
          <p:cNvSpPr/>
          <p:nvPr/>
        </p:nvSpPr>
        <p:spPr>
          <a:xfrm>
            <a:off x="8200337" y="3410712"/>
            <a:ext cx="1605686"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00337" y="3410712"/>
            <a:ext cx="64008" cy="10881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4929" y="3410712"/>
            <a:ext cx="1331366" cy="1088136"/>
          </a:xfrm>
          <a:prstGeom prst="rect">
            <a:avLst/>
          </a:prstGeom>
          <a:noFill/>
        </p:spPr>
        <p:txBody>
          <a:bodyPr wrap="square" anchor="ctr">
            <a:spAutoFit/>
          </a:bodyPr>
          <a:lstStyle/>
          <a:p>
            <a:pPr algn="l">
              <a:spcAft>
                <a:spcPts val="400"/>
              </a:spcAft>
            </a:pPr>
            <a:r>
              <a:rPr sz="1050" b="0">
                <a:solidFill>
                  <a:srgbClr val="161B26"/>
                </a:solidFill>
                <a:latin typeface="Arial"/>
              </a:rPr>
              <a:t>Track in one
central record</a:t>
            </a:r>
          </a:p>
        </p:txBody>
      </p:sp>
      <p:sp>
        <p:nvSpPr>
          <p:cNvPr id="24" name="Rectangle 23"/>
          <p:cNvSpPr/>
          <p:nvPr/>
        </p:nvSpPr>
        <p:spPr>
          <a:xfrm>
            <a:off x="777240" y="4626864"/>
            <a:ext cx="1874519"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4626864"/>
            <a:ext cx="1618487" cy="1088136"/>
          </a:xfrm>
          <a:prstGeom prst="rect">
            <a:avLst/>
          </a:prstGeom>
          <a:noFill/>
        </p:spPr>
        <p:txBody>
          <a:bodyPr wrap="square" anchor="ctr">
            <a:spAutoFit/>
          </a:bodyPr>
          <a:lstStyle/>
          <a:p>
            <a:pPr algn="l">
              <a:spcAft>
                <a:spcPts val="400"/>
              </a:spcAft>
            </a:pPr>
            <a:r>
              <a:rPr sz="1200" b="1">
                <a:solidFill>
                  <a:srgbClr val="FFFFFF"/>
                </a:solidFill>
                <a:latin typeface="Arial"/>
              </a:rPr>
              <a:t>Insight team</a:t>
            </a:r>
          </a:p>
        </p:txBody>
      </p:sp>
      <p:sp>
        <p:nvSpPr>
          <p:cNvPr id="26" name="Rectangle 25"/>
          <p:cNvSpPr/>
          <p:nvPr/>
        </p:nvSpPr>
        <p:spPr>
          <a:xfrm>
            <a:off x="9988903" y="4626864"/>
            <a:ext cx="1605686" cy="108813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88903" y="4626864"/>
            <a:ext cx="64008" cy="10881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53495" y="4626864"/>
            <a:ext cx="1331366" cy="1088136"/>
          </a:xfrm>
          <a:prstGeom prst="rect">
            <a:avLst/>
          </a:prstGeom>
          <a:noFill/>
        </p:spPr>
        <p:txBody>
          <a:bodyPr wrap="square" anchor="ctr">
            <a:spAutoFit/>
          </a:bodyPr>
          <a:lstStyle/>
          <a:p>
            <a:pPr algn="l">
              <a:spcAft>
                <a:spcPts val="400"/>
              </a:spcAft>
            </a:pPr>
            <a:r>
              <a:rPr sz="1050" b="0">
                <a:solidFill>
                  <a:srgbClr val="161B26"/>
                </a:solidFill>
                <a:latin typeface="Arial"/>
              </a:rPr>
              <a:t>Optimise from
performance data</a:t>
            </a:r>
          </a:p>
        </p:txBody>
      </p:sp>
      <p:sp>
        <p:nvSpPr>
          <p:cNvPr id="29" name="TextBox 28"/>
          <p:cNvSpPr txBox="1"/>
          <p:nvPr/>
        </p:nvSpPr>
        <p:spPr>
          <a:xfrm>
            <a:off x="4440325" y="2592324"/>
            <a:ext cx="182880" cy="292608"/>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30" name="Rectangle 29"/>
          <p:cNvSpPr/>
          <p:nvPr/>
        </p:nvSpPr>
        <p:spPr>
          <a:xfrm>
            <a:off x="6320331" y="2738628"/>
            <a:ext cx="32004" cy="1216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20331" y="3954780"/>
            <a:ext cx="91440" cy="320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2315" y="3808476"/>
            <a:ext cx="219456" cy="292608"/>
          </a:xfrm>
          <a:prstGeom prst="rect">
            <a:avLst/>
          </a:prstGeom>
          <a:noFill/>
        </p:spPr>
        <p:txBody>
          <a:bodyPr wrap="square" anchor="ctr">
            <a:spAutoFit/>
          </a:bodyPr>
          <a:lstStyle/>
          <a:p>
            <a:pPr algn="ctr">
              <a:spcAft>
                <a:spcPts val="400"/>
              </a:spcAft>
            </a:pPr>
            <a:r>
              <a:rPr sz="1100" b="1">
                <a:solidFill>
                  <a:srgbClr val="1F6FEB"/>
                </a:solidFill>
                <a:latin typeface="Arial"/>
              </a:rPr>
              <a:t>▶</a:t>
            </a:r>
          </a:p>
        </p:txBody>
      </p:sp>
      <p:sp>
        <p:nvSpPr>
          <p:cNvPr id="33" name="TextBox 32"/>
          <p:cNvSpPr txBox="1"/>
          <p:nvPr/>
        </p:nvSpPr>
        <p:spPr>
          <a:xfrm>
            <a:off x="8017457" y="3808476"/>
            <a:ext cx="182880" cy="292608"/>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4" name="Rectangle 33"/>
          <p:cNvSpPr/>
          <p:nvPr/>
        </p:nvSpPr>
        <p:spPr>
          <a:xfrm>
            <a:off x="9897463" y="3954780"/>
            <a:ext cx="32004" cy="1216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897463" y="5170932"/>
            <a:ext cx="91440" cy="320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69447" y="5024628"/>
            <a:ext cx="219456" cy="292608"/>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7" name="Rectangle 36"/>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loop only closes if tracking is centralised — scattered records are why most teams cannot say whether their communication improved.</a:t>
            </a:r>
          </a:p>
        </p:txBody>
      </p:sp>
      <p:sp>
        <p:nvSpPr>
          <p:cNvPr id="40" name="TextBox 3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HelpDesk customer-communication management framework</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Basics in branding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Basics in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Logo, colours and typography, defined once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Values</a:t>
            </a:r>
          </a:p>
          <a:p>
            <a:pPr algn="l">
              <a:spcAft>
                <a:spcPts val="300"/>
              </a:spcAft>
            </a:pPr>
            <a:r>
              <a:rPr sz="1200" b="0">
                <a:solidFill>
                  <a:srgbClr val="5B6372"/>
                </a:solidFill>
                <a:latin typeface="Arial"/>
              </a:rPr>
              <a:t>The mission every decision should reflect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Voice</a:t>
            </a:r>
          </a:p>
          <a:p>
            <a:pPr algn="l">
              <a:spcAft>
                <a:spcPts val="300"/>
              </a:spcAft>
            </a:pPr>
            <a:r>
              <a:rPr sz="1200" b="0">
                <a:solidFill>
                  <a:srgbClr val="5B6372"/>
                </a:solidFill>
                <a:latin typeface="Arial"/>
              </a:rPr>
              <a:t>One tone, consistently written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Guidelines</a:t>
            </a:r>
          </a:p>
          <a:p>
            <a:pPr algn="l">
              <a:spcAft>
                <a:spcPts val="300"/>
              </a:spcAft>
            </a:pPr>
            <a:r>
              <a:rPr sz="1200" b="0">
                <a:solidFill>
                  <a:srgbClr val="5B6372"/>
                </a:solidFill>
                <a:latin typeface="Arial"/>
              </a:rPr>
              <a:t>The standard every team applies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fast" advClick="1">
    <p:wipe dir="l"/>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Development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Mission</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brand's purpose and core values.</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Create Visual ID</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Design the logo and colour palette.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Develop Guidelines</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Document the standards and specifications.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Consistent vs Inconsistent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Consistent Brand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Inconsistent Brand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Revenue Boost — measurably higher financial performance</a:t>
            </a:r>
          </a:p>
          <a:p>
            <a:pPr>
              <a:spcAft>
                <a:spcPts val="1000"/>
              </a:spcAft>
            </a:pPr>
            <a:r>
              <a:rPr sz="1600" b="0">
                <a:solidFill>
                  <a:srgbClr val="161B26"/>
                </a:solidFill>
                <a:latin typeface="Arial"/>
              </a:rPr>
              <a:t>•  Recognition — a single colour/voice system customers recall</a:t>
            </a:r>
          </a:p>
          <a:p>
            <a:pPr>
              <a:spcAft>
                <a:spcPts val="1000"/>
              </a:spcAft>
            </a:pPr>
            <a:r>
              <a:rPr sz="1600" b="0">
                <a:solidFill>
                  <a:srgbClr val="161B26"/>
                </a:solidFill>
                <a:latin typeface="Arial"/>
              </a:rPr>
              <a:t>•  Trust Building — stronger consumer confidence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Lower Trust — reduced consumer confidence</a:t>
            </a:r>
          </a:p>
          <a:p>
            <a:pPr>
              <a:spcAft>
                <a:spcPts val="1000"/>
              </a:spcAft>
            </a:pPr>
            <a:r>
              <a:rPr sz="1600" b="0">
                <a:solidFill>
                  <a:srgbClr val="161B26"/>
                </a:solidFill>
                <a:latin typeface="Arial"/>
              </a:rPr>
              <a:t>•  Weak Recognition — confused brand identity across teams</a:t>
            </a:r>
          </a:p>
          <a:p>
            <a:pPr>
              <a:spcAft>
                <a:spcPts val="1000"/>
              </a:spcAft>
            </a:pPr>
            <a:r>
              <a:rPr sz="1600" b="0">
                <a:solidFill>
                  <a:srgbClr val="161B26"/>
                </a:solidFill>
                <a:latin typeface="Arial"/>
              </a:rPr>
              <a:t>•  Market Confusion — unclear value proposition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Guidelines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The logo, colour palette and typography every touchpoint must use.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Values</a:t>
            </a:r>
          </a:p>
          <a:p>
            <a:pPr algn="l">
              <a:spcAft>
                <a:spcPts val="300"/>
              </a:spcAft>
            </a:pPr>
            <a:r>
              <a:rPr sz="1200" b="0">
                <a:solidFill>
                  <a:srgbClr val="5B6372"/>
                </a:solidFill>
                <a:latin typeface="Arial"/>
              </a:rPr>
              <a:t>The mission and principles the brand concept line is built 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Voice</a:t>
            </a:r>
          </a:p>
          <a:p>
            <a:pPr algn="l">
              <a:spcAft>
                <a:spcPts val="300"/>
              </a:spcAft>
            </a:pPr>
            <a:r>
              <a:rPr sz="1200" b="0">
                <a:solidFill>
                  <a:srgbClr val="5B6372"/>
                </a:solidFill>
                <a:latin typeface="Arial"/>
              </a:rPr>
              <a:t>The tone — friendly, expert, warm — every team writes 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Usage Guidelines</a:t>
            </a:r>
          </a:p>
          <a:p>
            <a:pPr algn="l">
              <a:spcAft>
                <a:spcPts val="300"/>
              </a:spcAft>
            </a:pPr>
            <a:r>
              <a:rPr sz="1200" b="0">
                <a:solidFill>
                  <a:srgbClr val="5B6372"/>
                </a:solidFill>
                <a:latin typeface="Arial"/>
              </a:rPr>
              <a:t>Concrete do's and don'ts so the standard survives contact with real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Guidelines System, 60+ Markets, Zero Guesswork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IKEA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IKEA's showroom logic, product naming and flat-pack identity read as unmistakably IKEA whether you're in Singapore or Stockholm — proof a written standard, not local instinct, is what keeps a brand recognisable at scale. It's exactly the gap Nimbus's differing Retail, Marketing and Customer Service descriptions expose today.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 now has an approved brand concept line from the LU1 attribute-mapping work — but the founder has noticed that the website, the in-store signage and the Instagram bio still each describe the brand slightly differently. Nothing has actually been written down as a standard.</a:t>
            </a:r>
          </a:p>
          <a:p>
            <a:pPr algn="l">
              <a:spcAft>
                <a:spcPts val="800"/>
              </a:spcAft>
            </a:pPr>
            <a:r>
              <a:rPr sz="1450" b="0">
                <a:solidFill>
                  <a:srgbClr val="161B26"/>
                </a:solidFill>
                <a:latin typeface="Arial"/>
              </a:rPr>
              <a:t>With the 5th-anniversary relaunch three months away, the founder wants one brand-guidelines document that Retail, Marketing and Customer Service can all point to — before a single relaunch asset (banner, caption, staff script) gets produced.</a:t>
            </a:r>
          </a:p>
          <a:p>
            <a:pPr algn="l">
              <a:spcAft>
                <a:spcPts val="800"/>
              </a:spcAft>
            </a:pPr>
            <a:r>
              <a:rPr sz="1450" b="0">
                <a:solidFill>
                  <a:srgbClr val="161B26"/>
                </a:solidFill>
                <a:latin typeface="Arial"/>
              </a:rPr>
              <a:t>Your table has been asked to draft that guidelines document from the brand concept line Nimbus already approved.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brand-guidelines document — visual standards, voice guidelines and an implementation roadmap</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Starting from Nimbus's approved brand concept line, what visual-identity specifications (logo usage, colour palette, typography) actually protect that concept?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brand values and mission statement belong in the guidelines so all three teams can restate them the same way?</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"Nimbus's voice" sound like in a customer email versus an Instagram caption — where should the tone flex, and where must it stay fixed?</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one concrete usage example (a do/don't pair) that would stop the inconsistency the founder has already noticed?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wipe dir="l"/>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building block — visual identity, values, voice or usage rules — was hardest for your table to pin down in concrete terms?</a:t>
            </a:r>
          </a:p>
          <a:p>
            <a:pPr>
              <a:spcAft>
                <a:spcPts val="900"/>
              </a:spcAft>
            </a:pPr>
            <a:r>
              <a:rPr sz="1450" b="0">
                <a:solidFill>
                  <a:srgbClr val="161B26"/>
                </a:solidFill>
                <a:latin typeface="Arial"/>
              </a:rPr>
              <a:t>•  Did your voice guideline actually sound different from a generic "friendly and professional" brand, or could it apply to any wellness company?</a:t>
            </a:r>
          </a:p>
          <a:p>
            <a:pPr>
              <a:spcAft>
                <a:spcPts val="900"/>
              </a:spcAft>
            </a:pPr>
            <a:r>
              <a:rPr sz="1450" b="0">
                <a:solidFill>
                  <a:srgbClr val="161B26"/>
                </a:solidFill>
                <a:latin typeface="Arial"/>
              </a:rPr>
              <a:t>•  If a new hire in Customer Service only ever read your guidelines document, would they write in Nimbus's voice by the end of week one?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one-page brand-guidelines draft — visual identity spec, brand values, a voice description with an example, and at least one concrete usage do/don't — that Retail, Marketing and Customer Service could each apply without further clarification.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Role of branding in marketing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Role of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Identity</a:t>
            </a:r>
          </a:p>
          <a:p>
            <a:pPr algn="l">
              <a:spcAft>
                <a:spcPts val="300"/>
              </a:spcAft>
            </a:pPr>
            <a:r>
              <a:rPr sz="1200" b="0">
                <a:solidFill>
                  <a:srgbClr val="5B6372"/>
                </a:solidFill>
                <a:latin typeface="Arial"/>
              </a:rPr>
              <a:t>A unique, recognisable set of values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Building</a:t>
            </a:r>
          </a:p>
          <a:p>
            <a:pPr algn="l">
              <a:spcAft>
                <a:spcPts val="300"/>
              </a:spcAft>
            </a:pPr>
            <a:r>
              <a:rPr sz="1200" b="0">
                <a:solidFill>
                  <a:srgbClr val="5B6372"/>
                </a:solidFill>
                <a:latin typeface="Arial"/>
              </a:rPr>
              <a:t>Confidence that compounds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Differentiation</a:t>
            </a:r>
          </a:p>
          <a:p>
            <a:pPr algn="l">
              <a:spcAft>
                <a:spcPts val="300"/>
              </a:spcAft>
            </a:pPr>
            <a:r>
              <a:rPr sz="1200" b="0">
                <a:solidFill>
                  <a:srgbClr val="5B6372"/>
                </a:solidFill>
                <a:latin typeface="Arial"/>
              </a:rPr>
              <a:t>A clear stand-out from competitors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Emotional Connection</a:t>
            </a:r>
          </a:p>
          <a:p>
            <a:pPr algn="l">
              <a:spcAft>
                <a:spcPts val="300"/>
              </a:spcAft>
            </a:pPr>
            <a:r>
              <a:rPr sz="1200" b="0">
                <a:solidFill>
                  <a:srgbClr val="5B6372"/>
                </a:solidFill>
                <a:latin typeface="Arial"/>
              </a:rPr>
              <a:t>A relationship, not just a purchase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marketing practice synthesis</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Integration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Identity</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brand's purpose and values.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Align Objectives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Match brand goals with marketing objectives.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Create Messaging</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a consistent brand voice.</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Go Multi-Channel</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Implement that voice across every touchpoint.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Marketing vs Brand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 Marketing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Brand Marketing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Product Focus — sells features</a:t>
            </a:r>
          </a:p>
          <a:p>
            <a:pPr>
              <a:spcAft>
                <a:spcPts val="1000"/>
              </a:spcAft>
            </a:pPr>
            <a:r>
              <a:rPr sz="1600" b="0">
                <a:solidFill>
                  <a:srgbClr val="161B26"/>
                </a:solidFill>
                <a:latin typeface="Arial"/>
              </a:rPr>
              <a:t>•  Short-term — campaign by campaign</a:t>
            </a:r>
          </a:p>
          <a:p>
            <a:pPr>
              <a:spcAft>
                <a:spcPts val="1000"/>
              </a:spcAft>
            </a:pPr>
            <a:r>
              <a:rPr sz="1600" b="0">
                <a:solidFill>
                  <a:srgbClr val="161B26"/>
                </a:solidFill>
                <a:latin typeface="Arial"/>
              </a:rPr>
              <a:t>•  Transactional — one purchase at a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Identity Focus — sells what the brand stands for</a:t>
            </a:r>
          </a:p>
          <a:p>
            <a:pPr>
              <a:spcAft>
                <a:spcPts val="1000"/>
              </a:spcAft>
            </a:pPr>
            <a:r>
              <a:rPr sz="1600" b="0">
                <a:solidFill>
                  <a:srgbClr val="161B26"/>
                </a:solidFill>
                <a:latin typeface="Arial"/>
              </a:rPr>
              <a:t>•  Long-term — builds equity over years</a:t>
            </a:r>
          </a:p>
          <a:p>
            <a:pPr>
              <a:spcAft>
                <a:spcPts val="1000"/>
              </a:spcAft>
            </a:pPr>
            <a:r>
              <a:rPr sz="1600" b="0">
                <a:solidFill>
                  <a:srgbClr val="161B26"/>
                </a:solidFill>
                <a:latin typeface="Arial"/>
              </a:rPr>
              <a:t>•  Emotional — builds a relationship with the customer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marketing practice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From Transactional Funnel to Brand Loyalty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38429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384298" cy="1188720"/>
          </a:xfrm>
          <a:prstGeom prst="rect">
            <a:avLst/>
          </a:prstGeom>
          <a:noFill/>
        </p:spPr>
        <p:txBody>
          <a:bodyPr wrap="square" anchor="t">
            <a:spAutoFit/>
          </a:bodyPr>
          <a:lstStyle/>
          <a:p>
            <a:pPr algn="ctr">
              <a:spcAft>
                <a:spcPts val="400"/>
              </a:spcAft>
            </a:pPr>
            <a:r>
              <a:rPr sz="4400" b="1">
                <a:solidFill>
                  <a:srgbClr val="1F6FEB"/>
                </a:solidFill>
                <a:latin typeface="Arial"/>
              </a:rPr>
              <a:t>100%</a:t>
            </a:r>
          </a:p>
        </p:txBody>
      </p:sp>
      <p:sp>
        <p:nvSpPr>
          <p:cNvPr id="10" name="TextBox 9"/>
          <p:cNvSpPr txBox="1"/>
          <p:nvPr/>
        </p:nvSpPr>
        <p:spPr>
          <a:xfrm>
            <a:off x="960120"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Awareness — Notices the brand exists — a traditional-marketing win</a:t>
            </a:r>
          </a:p>
        </p:txBody>
      </p:sp>
      <p:sp>
        <p:nvSpPr>
          <p:cNvPr id="11" name="Rectangle 10"/>
          <p:cNvSpPr/>
          <p:nvPr/>
        </p:nvSpPr>
        <p:spPr>
          <a:xfrm>
            <a:off x="3527298"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2240280"/>
            <a:ext cx="238429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7298" y="2651760"/>
            <a:ext cx="2384298" cy="1188720"/>
          </a:xfrm>
          <a:prstGeom prst="rect">
            <a:avLst/>
          </a:prstGeom>
          <a:noFill/>
        </p:spPr>
        <p:txBody>
          <a:bodyPr wrap="square" anchor="t">
            <a:spAutoFit/>
          </a:bodyPr>
          <a:lstStyle/>
          <a:p>
            <a:pPr algn="ctr">
              <a:spcAft>
                <a:spcPts val="400"/>
              </a:spcAft>
            </a:pPr>
            <a:r>
              <a:rPr sz="4400" b="1">
                <a:solidFill>
                  <a:srgbClr val="10B981"/>
                </a:solidFill>
                <a:latin typeface="Arial"/>
              </a:rPr>
              <a:t>55%</a:t>
            </a:r>
          </a:p>
        </p:txBody>
      </p:sp>
      <p:sp>
        <p:nvSpPr>
          <p:cNvPr id="14" name="TextBox 13"/>
          <p:cNvSpPr txBox="1"/>
          <p:nvPr/>
        </p:nvSpPr>
        <p:spPr>
          <a:xfrm>
            <a:off x="3710178"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Consideration — Weighs Nimbus against alternatives</a:t>
            </a:r>
          </a:p>
        </p:txBody>
      </p:sp>
      <p:sp>
        <p:nvSpPr>
          <p:cNvPr id="15" name="Rectangle 14"/>
          <p:cNvSpPr/>
          <p:nvPr/>
        </p:nvSpPr>
        <p:spPr>
          <a:xfrm>
            <a:off x="6277356"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7356" y="2240280"/>
            <a:ext cx="238429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7356" y="2651760"/>
            <a:ext cx="2384298" cy="1188720"/>
          </a:xfrm>
          <a:prstGeom prst="rect">
            <a:avLst/>
          </a:prstGeom>
          <a:noFill/>
        </p:spPr>
        <p:txBody>
          <a:bodyPr wrap="square" anchor="t">
            <a:spAutoFit/>
          </a:bodyPr>
          <a:lstStyle/>
          <a:p>
            <a:pPr algn="ctr">
              <a:spcAft>
                <a:spcPts val="400"/>
              </a:spcAft>
            </a:pPr>
            <a:r>
              <a:rPr sz="4400" b="1">
                <a:solidFill>
                  <a:srgbClr val="7C3AED"/>
                </a:solidFill>
                <a:latin typeface="Arial"/>
              </a:rPr>
              <a:t>28%</a:t>
            </a:r>
          </a:p>
        </p:txBody>
      </p:sp>
      <p:sp>
        <p:nvSpPr>
          <p:cNvPr id="18" name="TextBox 17"/>
          <p:cNvSpPr txBox="1"/>
          <p:nvPr/>
        </p:nvSpPr>
        <p:spPr>
          <a:xfrm>
            <a:off x="6460236"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Preference — Chooses Nimbus specifically, not just an option</a:t>
            </a:r>
          </a:p>
        </p:txBody>
      </p:sp>
      <p:sp>
        <p:nvSpPr>
          <p:cNvPr id="19" name="Rectangle 18"/>
          <p:cNvSpPr/>
          <p:nvPr/>
        </p:nvSpPr>
        <p:spPr>
          <a:xfrm>
            <a:off x="9027414"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27414" y="2240280"/>
            <a:ext cx="238429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7414" y="2651760"/>
            <a:ext cx="2384298" cy="1188720"/>
          </a:xfrm>
          <a:prstGeom prst="rect">
            <a:avLst/>
          </a:prstGeom>
          <a:noFill/>
        </p:spPr>
        <p:txBody>
          <a:bodyPr wrap="square" anchor="t">
            <a:spAutoFit/>
          </a:bodyPr>
          <a:lstStyle/>
          <a:p>
            <a:pPr algn="ctr">
              <a:spcAft>
                <a:spcPts val="400"/>
              </a:spcAft>
            </a:pPr>
            <a:r>
              <a:rPr sz="4400" b="1">
                <a:solidFill>
                  <a:srgbClr val="F59E0B"/>
                </a:solidFill>
                <a:latin typeface="Arial"/>
              </a:rPr>
              <a:t>12%</a:t>
            </a:r>
          </a:p>
        </p:txBody>
      </p:sp>
      <p:sp>
        <p:nvSpPr>
          <p:cNvPr id="22" name="TextBox 21"/>
          <p:cNvSpPr txBox="1"/>
          <p:nvPr/>
        </p:nvSpPr>
        <p:spPr>
          <a:xfrm>
            <a:off x="9210294"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Loyalty — Returns and advocates without comparing again</a:t>
            </a:r>
          </a:p>
        </p:txBody>
      </p:sp>
      <p:sp>
        <p:nvSpPr>
          <p:cNvPr id="23" name="Rectangle 22"/>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narrowing, brand-marketing funnel synthesis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Theme-Park Trip, a Lifetime of Loyalty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Disney</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Disney never markets a single visit — every touchpoint is built to turn one trip into decades of return visits, merchandise and generational loyalty. It's the Brand Marketing column in action: identity and emotion compounding, not a transaction closed and forgotten.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Marketing Lead has just shown your table Nimbus's most recent campaign: a two-week discount push on the best-selling serum, promoted purely on price. It performed well on sales, but the founder is uneasy — it never once mentioned the brand values from the LU1 attribute map, and a few loyal customers commented that it "felt like any other skincare sale."</a:t>
            </a:r>
          </a:p>
          <a:p>
            <a:pPr algn="l">
              <a:spcAft>
                <a:spcPts val="800"/>
              </a:spcAft>
            </a:pPr>
            <a:r>
              <a:rPr sz="1450" b="0">
                <a:solidFill>
                  <a:srgbClr val="161B26"/>
                </a:solidFill>
                <a:latin typeface="Arial"/>
              </a:rPr>
              <a:t>Before the relaunch campaign is greenlit, leadership wants proof that Nimbus's marketing activity is actually building the brand, not just borrowing short-term attention from it. Your table has been asked to audit the discount campaign against Nimbus's approved brand identity.</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brand-audit report with a consistency assessment and recommendations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core identity elements from Nimbus's approved brand concept should this campaign have reflected — and which of them actually appeared in the discount push?</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Was the discount campaign's messaging aligned with the brand's identity, or did it lean on price alone the way a generic competitor would?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exactly is the gap between what the campaign said and what the brand stands for — and how wide is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two or three concrete changes would make the next relaunch-adjacent campaign build brand equity instead of just moving stock?</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wipe dir="l"/>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table's consistency score match what the loyal-customer comments already hinted at?</a:t>
            </a:r>
          </a:p>
          <a:p>
            <a:pPr>
              <a:spcAft>
                <a:spcPts val="900"/>
              </a:spcAft>
            </a:pPr>
            <a:r>
              <a:rPr sz="1450" b="0">
                <a:solidFill>
                  <a:srgbClr val="161B26"/>
                </a:solidFill>
                <a:latin typeface="Arial"/>
              </a:rPr>
              <a:t>•  Was the gap you found about the message itself, or about which channel carried it?</a:t>
            </a:r>
          </a:p>
          <a:p>
            <a:pPr>
              <a:spcAft>
                <a:spcPts val="900"/>
              </a:spcAft>
            </a:pPr>
            <a:r>
              <a:rPr sz="1450" b="0">
                <a:solidFill>
                  <a:srgbClr val="161B26"/>
                </a:solidFill>
                <a:latin typeface="Arial"/>
              </a:rPr>
              <a:t>•  If every future Nimbus campaign scored this low on brand alignment, what would that do to the 5th-anniversary relaunch's credibility?</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brand-audit report with a consistency assessment score for the discount campaign, the specific identity elements that were missing, and two or three concrete recommendations for better brand-marketing integration.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Execute branding campaigns, events and activities to increase brand awareness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Execute branding campaigns, events and activities to increase brand awareness?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Planning</a:t>
            </a:r>
          </a:p>
          <a:p>
            <a:pPr algn="l">
              <a:spcAft>
                <a:spcPts val="300"/>
              </a:spcAft>
            </a:pPr>
            <a:r>
              <a:rPr sz="1200" b="0">
                <a:solidFill>
                  <a:srgbClr val="5B6372"/>
                </a:solidFill>
                <a:latin typeface="Arial"/>
              </a:rPr>
              <a:t>A multi-channel strategy, built before launch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Event Activation</a:t>
            </a:r>
          </a:p>
          <a:p>
            <a:pPr algn="l">
              <a:spcAft>
                <a:spcPts val="300"/>
              </a:spcAft>
            </a:pPr>
            <a:r>
              <a:rPr sz="1200" b="0">
                <a:solidFill>
                  <a:srgbClr val="5B6372"/>
                </a:solidFill>
                <a:latin typeface="Arial"/>
              </a:rPr>
              <a:t>An experiential, interactive brand moment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Channel Coordination</a:t>
            </a:r>
          </a:p>
          <a:p>
            <a:pPr algn="l">
              <a:spcAft>
                <a:spcPts val="300"/>
              </a:spcAft>
            </a:pPr>
            <a:r>
              <a:rPr sz="1200" b="0">
                <a:solidFill>
                  <a:srgbClr val="5B6372"/>
                </a:solidFill>
                <a:latin typeface="Arial"/>
              </a:rPr>
              <a:t>One consistent message across platforms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Measurement</a:t>
            </a:r>
          </a:p>
          <a:p>
            <a:pPr algn="l">
              <a:spcAft>
                <a:spcPts val="300"/>
              </a:spcAft>
            </a:pPr>
            <a:r>
              <a:rPr sz="1200" b="0">
                <a:solidFill>
                  <a:srgbClr val="5B6372"/>
                </a:solidFill>
                <a:latin typeface="Arial"/>
              </a:rPr>
              <a:t>Brand recall and recognition tracked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experiential-marketing / brand-activation practice, Singapore 2025</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Execution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Audience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the target demographics precisely.</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Core Message</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the unique selling proposition.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Channel Selection</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Choose the optimal marketing platforms.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Visual Consistency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Create unified brand assets across channels.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Campaign vs Experiential Activation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Experiential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Print &amp; Press Ads — One-way placements in newspapers and lifestyle magazines</a:t>
            </a:r>
          </a:p>
          <a:p>
            <a:pPr>
              <a:spcAft>
                <a:spcPts val="1000"/>
              </a:spcAft>
            </a:pPr>
            <a:r>
              <a:rPr sz="1600" b="0">
                <a:solidFill>
                  <a:srgbClr val="161B26"/>
                </a:solidFill>
                <a:latin typeface="Arial"/>
              </a:rPr>
              <a:t>•  Radio Spots — Audio commercial broadcasts with no direct interaction</a:t>
            </a:r>
          </a:p>
          <a:p>
            <a:pPr>
              <a:spcAft>
                <a:spcPts val="1000"/>
              </a:spcAft>
            </a:pPr>
            <a:r>
              <a:rPr sz="1600" b="0">
                <a:solidFill>
                  <a:srgbClr val="161B26"/>
                </a:solidFill>
                <a:latin typeface="Arial"/>
              </a:rPr>
              <a:t>•  Digital Banner Ads — Passive display advertising customers scroll past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Interactive Pop-Up — A gamified, multi-sensory space customers step into and explore</a:t>
            </a:r>
          </a:p>
          <a:p>
            <a:pPr>
              <a:spcAft>
                <a:spcPts val="1000"/>
              </a:spcAft>
            </a:pPr>
            <a:r>
              <a:rPr sz="1600" b="0">
                <a:solidFill>
                  <a:srgbClr val="161B26"/>
                </a:solidFill>
                <a:latin typeface="Arial"/>
              </a:rPr>
              <a:t>•  Live Brand Event — A hands-on activation built around the anniversary story</a:t>
            </a:r>
          </a:p>
          <a:p>
            <a:pPr>
              <a:spcAft>
                <a:spcPts val="1000"/>
              </a:spcAft>
            </a:pPr>
            <a:r>
              <a:rPr sz="1600" b="0">
                <a:solidFill>
                  <a:srgbClr val="161B26"/>
                </a:solidFill>
                <a:latin typeface="Arial"/>
              </a:rPr>
              <a:t>•  UGC-Ready Moments — Social-share-ready touchpoints designed for guests to post themselves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experiential-marketing / brand-activation practice, Singapore 2025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Relaunch Pop-Up — Illustrative Activation KPIs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38429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384298" cy="1188720"/>
          </a:xfrm>
          <a:prstGeom prst="rect">
            <a:avLst/>
          </a:prstGeom>
          <a:noFill/>
        </p:spPr>
        <p:txBody>
          <a:bodyPr wrap="square" anchor="t">
            <a:spAutoFit/>
          </a:bodyPr>
          <a:lstStyle/>
          <a:p>
            <a:pPr algn="ctr">
              <a:spcAft>
                <a:spcPts val="400"/>
              </a:spcAft>
            </a:pPr>
            <a:r>
              <a:rPr sz="4400" b="1">
                <a:solidFill>
                  <a:srgbClr val="1F6FEB"/>
                </a:solidFill>
                <a:latin typeface="Arial"/>
              </a:rPr>
              <a:t>+42%</a:t>
            </a:r>
          </a:p>
        </p:txBody>
      </p:sp>
      <p:sp>
        <p:nvSpPr>
          <p:cNvPr id="10" name="TextBox 9"/>
          <p:cNvSpPr txBox="1"/>
          <p:nvPr/>
        </p:nvSpPr>
        <p:spPr>
          <a:xfrm>
            <a:off x="960120"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Pop-Up Foot Traffic — vs an average retail week</a:t>
            </a:r>
          </a:p>
        </p:txBody>
      </p:sp>
      <p:sp>
        <p:nvSpPr>
          <p:cNvPr id="11" name="Rectangle 10"/>
          <p:cNvSpPr/>
          <p:nvPr/>
        </p:nvSpPr>
        <p:spPr>
          <a:xfrm>
            <a:off x="3527298"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2240280"/>
            <a:ext cx="238429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7298" y="2651760"/>
            <a:ext cx="2384298" cy="1188720"/>
          </a:xfrm>
          <a:prstGeom prst="rect">
            <a:avLst/>
          </a:prstGeom>
          <a:noFill/>
        </p:spPr>
        <p:txBody>
          <a:bodyPr wrap="square" anchor="t">
            <a:spAutoFit/>
          </a:bodyPr>
          <a:lstStyle/>
          <a:p>
            <a:pPr algn="ctr">
              <a:spcAft>
                <a:spcPts val="400"/>
              </a:spcAft>
            </a:pPr>
            <a:r>
              <a:rPr sz="4400" b="1">
                <a:solidFill>
                  <a:srgbClr val="10B981"/>
                </a:solidFill>
                <a:latin typeface="Arial"/>
              </a:rPr>
              <a:t>1,850</a:t>
            </a:r>
          </a:p>
        </p:txBody>
      </p:sp>
      <p:sp>
        <p:nvSpPr>
          <p:cNvPr id="14" name="TextBox 13"/>
          <p:cNvSpPr txBox="1"/>
          <p:nvPr/>
        </p:nvSpPr>
        <p:spPr>
          <a:xfrm>
            <a:off x="3710178"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Social Mentions — UGC-tagged posts, launch week</a:t>
            </a:r>
          </a:p>
        </p:txBody>
      </p:sp>
      <p:sp>
        <p:nvSpPr>
          <p:cNvPr id="15" name="Rectangle 14"/>
          <p:cNvSpPr/>
          <p:nvPr/>
        </p:nvSpPr>
        <p:spPr>
          <a:xfrm>
            <a:off x="6277356"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7356" y="2240280"/>
            <a:ext cx="238429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7356" y="2651760"/>
            <a:ext cx="2384298" cy="1188720"/>
          </a:xfrm>
          <a:prstGeom prst="rect">
            <a:avLst/>
          </a:prstGeom>
          <a:noFill/>
        </p:spPr>
        <p:txBody>
          <a:bodyPr wrap="square" anchor="t">
            <a:spAutoFit/>
          </a:bodyPr>
          <a:lstStyle/>
          <a:p>
            <a:pPr algn="ctr">
              <a:spcAft>
                <a:spcPts val="400"/>
              </a:spcAft>
            </a:pPr>
            <a:r>
              <a:rPr sz="4400" b="1">
                <a:solidFill>
                  <a:srgbClr val="7C3AED"/>
                </a:solidFill>
                <a:latin typeface="Arial"/>
              </a:rPr>
              <a:t>18%</a:t>
            </a:r>
          </a:p>
        </p:txBody>
      </p:sp>
      <p:sp>
        <p:nvSpPr>
          <p:cNvPr id="18" name="TextBox 17"/>
          <p:cNvSpPr txBox="1"/>
          <p:nvPr/>
        </p:nvSpPr>
        <p:spPr>
          <a:xfrm>
            <a:off x="6460236"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Sample-to-Purchase — Conversion rate at the pop-up</a:t>
            </a:r>
          </a:p>
        </p:txBody>
      </p:sp>
      <p:sp>
        <p:nvSpPr>
          <p:cNvPr id="19" name="Rectangle 18"/>
          <p:cNvSpPr/>
          <p:nvPr/>
        </p:nvSpPr>
        <p:spPr>
          <a:xfrm>
            <a:off x="9027414"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27414" y="2240280"/>
            <a:ext cx="238429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7414" y="2651760"/>
            <a:ext cx="2384298" cy="1188720"/>
          </a:xfrm>
          <a:prstGeom prst="rect">
            <a:avLst/>
          </a:prstGeom>
          <a:noFill/>
        </p:spPr>
        <p:txBody>
          <a:bodyPr wrap="square" anchor="t">
            <a:spAutoFit/>
          </a:bodyPr>
          <a:lstStyle/>
          <a:p>
            <a:pPr algn="ctr">
              <a:spcAft>
                <a:spcPts val="400"/>
              </a:spcAft>
            </a:pPr>
            <a:r>
              <a:rPr sz="4400" b="1">
                <a:solidFill>
                  <a:srgbClr val="F59E0B"/>
                </a:solidFill>
                <a:latin typeface="Arial"/>
              </a:rPr>
              <a:t>31%</a:t>
            </a:r>
          </a:p>
        </p:txBody>
      </p:sp>
      <p:sp>
        <p:nvSpPr>
          <p:cNvPr id="22" name="TextBox 21"/>
          <p:cNvSpPr txBox="1"/>
          <p:nvPr/>
        </p:nvSpPr>
        <p:spPr>
          <a:xfrm>
            <a:off x="9210294"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Follow-Up Email Opens — vs a 22% baseline average</a:t>
            </a:r>
          </a:p>
        </p:txBody>
      </p:sp>
      <p:sp>
        <p:nvSpPr>
          <p:cNvPr id="23" name="Rectangle 22"/>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values, brand-activation KPI benchmarks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Seasonal Cup Turns One Visit Into a Shareable Moment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Starbucks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Starbucks's seasonal pop-up drinks and store experiences aren't really about the product — they're multi-sensory moments customers queue for, photograph and post themselves. It's the same experiential principle behind Nimbus's relaunch pop-up: give people something to walk into, not just an ad to scroll past.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brand guidelines are drafted and the consistency gaps are named. Now the founder needs an actual activation plan for the 5th-anniversary relaunch — the campaign that has to win back the customers who say Nimbus "doesn't feel personal anymore" while reaching new customers who are comparing Nimbus to the competitor whose viral campaign started this six months ago.</a:t>
            </a:r>
          </a:p>
          <a:p>
            <a:pPr algn="l">
              <a:spcAft>
                <a:spcPts val="800"/>
              </a:spcAft>
            </a:pPr>
            <a:r>
              <a:rPr sz="1450" b="0">
                <a:solidFill>
                  <a:srgbClr val="161B26"/>
                </a:solidFill>
                <a:latin typeface="Arial"/>
              </a:rPr>
              <a:t>The founder has one non-negotiable: the relaunch needs at least one experiential element, not just another round of social ads — something people can walk into, touch or take part in, and want to share themselves.</a:t>
            </a:r>
          </a:p>
          <a:p>
            <a:pPr algn="l">
              <a:spcAft>
                <a:spcPts val="800"/>
              </a:spcAft>
            </a:pPr>
            <a:r>
              <a:rPr sz="1450" b="0">
                <a:solidFill>
                  <a:srgbClr val="161B26"/>
                </a:solidFill>
                <a:latin typeface="Arial"/>
              </a:rPr>
              <a:t>Your table's job is to design the channel mix, the core message and that one experiential element, all traceable back to the brand concept and voice Nimbus has already approved.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campaign-strategy document with timeline, budget allocation and success metrics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one core message the relaunch campaign should carry everywhere — and how does it answer the "doesn't feel personal anymore" perception gap directly?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3-4 channels (owned, earned, paid) should carry that message, and what does each channel need to do differently to stay true to Nimbus's brand voice?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your one experiential element, and what makes it relevant, emotionally engaging and genuinely shareable rather than just an expensive photo backdrop?</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you know the activation actually built brand recall, not just short-term foot traffic or impressions?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wipe dir="l"/>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experiential idea start from the brand story, or did the brand story get bolted on afterward to justify an idea your table already liked?</a:t>
            </a:r>
          </a:p>
          <a:p>
            <a:pPr>
              <a:spcAft>
                <a:spcPts val="900"/>
              </a:spcAft>
            </a:pPr>
            <a:r>
              <a:rPr sz="1450" b="0">
                <a:solidFill>
                  <a:srgbClr val="161B26"/>
                </a:solidFill>
                <a:latin typeface="Arial"/>
              </a:rPr>
              <a:t>•  Which channel in your mix was hardest to keep consistent with Nimbus's brand voice, and why?</a:t>
            </a:r>
          </a:p>
          <a:p>
            <a:pPr>
              <a:spcAft>
                <a:spcPts val="900"/>
              </a:spcAft>
            </a:pPr>
            <a:r>
              <a:rPr sz="1450" b="0">
                <a:solidFill>
                  <a:srgbClr val="161B26"/>
                </a:solidFill>
                <a:latin typeface="Arial"/>
              </a:rPr>
              <a:t>•  If the experiential element only reached 200 people in person, what would have to be true about the rest of your channel mix for the relaunch to still feel successful?</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campaign plan naming 3-4 channels, one core message traceable to the brand concept, one experiential element with a clear rationale, and a brand-recall metric for measuring success — not just a reach or attendance number.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Execute public relations campaigns in alignment to brand positioning strategies, operational plans and budget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Execute public relations campaigns in alignment to brand positioning strategies, operational plans and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Positioning</a:t>
            </a:r>
          </a:p>
          <a:p>
            <a:pPr algn="l">
              <a:spcAft>
                <a:spcPts val="300"/>
              </a:spcAft>
            </a:pPr>
            <a:r>
              <a:rPr sz="1200" b="0">
                <a:solidFill>
                  <a:srgbClr val="5B6372"/>
                </a:solidFill>
                <a:latin typeface="Arial"/>
              </a:rPr>
              <a:t>The foundation every PR message builds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Plans</a:t>
            </a:r>
          </a:p>
          <a:p>
            <a:pPr algn="l">
              <a:spcAft>
                <a:spcPts val="300"/>
              </a:spcAft>
            </a:pPr>
            <a:r>
              <a:rPr sz="1200" b="0">
                <a:solidFill>
                  <a:srgbClr val="5B6372"/>
                </a:solidFill>
                <a:latin typeface="Arial"/>
              </a:rPr>
              <a:t>A structured plan for campaign delivery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Budget Management</a:t>
            </a:r>
          </a:p>
          <a:p>
            <a:pPr algn="l">
              <a:spcAft>
                <a:spcPts val="300"/>
              </a:spcAft>
            </a:pPr>
            <a:r>
              <a:rPr sz="1200" b="0">
                <a:solidFill>
                  <a:srgbClr val="5B6372"/>
                </a:solidFill>
                <a:latin typeface="Arial"/>
              </a:rPr>
              <a:t>Resource allocation and cost control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Alignment</a:t>
            </a:r>
          </a:p>
          <a:p>
            <a:pPr algn="l">
              <a:spcAft>
                <a:spcPts val="300"/>
              </a:spcAft>
            </a:pPr>
            <a:r>
              <a:rPr sz="1200" b="0">
                <a:solidFill>
                  <a:srgbClr val="5B6372"/>
                </a:solidFill>
                <a:latin typeface="Arial"/>
              </a:rPr>
              <a:t>Everything traces back to one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Planning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Positioning</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unique brand identity behind the campaign.</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Set Objectives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Write clear, measurable campaign goals.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Identify Audiences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Define each target group precisely.</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Craft Messages</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Tailor the content to each audience.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Allocation Logic — Anchor vs Adjust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Anchor on Positioning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Adjust for the Moment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Brand Fit First — every dollar traces back to the approved brand concept</a:t>
            </a:r>
          </a:p>
          <a:p>
            <a:pPr>
              <a:spcAft>
                <a:spcPts val="1000"/>
              </a:spcAft>
            </a:pPr>
            <a:r>
              <a:rPr sz="1600" b="0">
                <a:solidFill>
                  <a:srgbClr val="161B26"/>
                </a:solidFill>
                <a:latin typeface="Arial"/>
              </a:rPr>
              <a:t>•  Owned as Base — the channels Nimbus controls carry the core story at near-zero cost</a:t>
            </a:r>
          </a:p>
          <a:p>
            <a:pPr>
              <a:spcAft>
                <a:spcPts val="1000"/>
              </a:spcAft>
            </a:pPr>
            <a:r>
              <a:rPr sz="1600" b="0">
                <a:solidFill>
                  <a:srgbClr val="161B26"/>
                </a:solidFill>
                <a:latin typeface="Arial"/>
              </a:rPr>
              <a:t>•  Earned as Credibility — press and reviews lend outside validation paid media can't buy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Paid to Fill Gaps — boosted reach only where owned and earned fall short</a:t>
            </a:r>
          </a:p>
          <a:p>
            <a:pPr>
              <a:spcAft>
                <a:spcPts val="1000"/>
              </a:spcAft>
            </a:pPr>
            <a:r>
              <a:rPr sz="1600" b="0">
                <a:solidFill>
                  <a:srgbClr val="161B26"/>
                </a:solidFill>
                <a:latin typeface="Arial"/>
              </a:rPr>
              <a:t>•  Reserve for Response — budget held back for the CS perception gap resurfacing</a:t>
            </a:r>
          </a:p>
          <a:p>
            <a:pPr>
              <a:spcAft>
                <a:spcPts val="1000"/>
              </a:spcAft>
            </a:pPr>
            <a:r>
              <a:rPr sz="1600" b="0">
                <a:solidFill>
                  <a:srgbClr val="161B26"/>
                </a:solidFill>
                <a:latin typeface="Arial"/>
              </a:rPr>
              <a:t>•  Review Mid-Campaign — reallocate if one channel is clearly outperforming the rest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PESO Budget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Paid</a:t>
            </a:r>
          </a:p>
          <a:p>
            <a:pPr algn="l">
              <a:spcAft>
                <a:spcPts val="300"/>
              </a:spcAft>
            </a:pPr>
            <a:r>
              <a:rPr sz="1200" b="0">
                <a:solidFill>
                  <a:srgbClr val="5B6372"/>
                </a:solidFill>
                <a:latin typeface="Arial"/>
              </a:rPr>
              <a:t>Sponsored placements and promotion — reach money can buy directly.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Earned</a:t>
            </a:r>
          </a:p>
          <a:p>
            <a:pPr algn="l">
              <a:spcAft>
                <a:spcPts val="300"/>
              </a:spcAft>
            </a:pPr>
            <a:r>
              <a:rPr sz="1200" b="0">
                <a:solidFill>
                  <a:srgbClr val="5B6372"/>
                </a:solidFill>
                <a:latin typeface="Arial"/>
              </a:rPr>
              <a:t>Press coverage and reviews secured through relationships, unpaid.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a:t>
            </a:r>
          </a:p>
          <a:p>
            <a:pPr algn="l">
              <a:spcAft>
                <a:spcPts val="300"/>
              </a:spcAft>
            </a:pPr>
            <a:r>
              <a:rPr sz="1200" b="0">
                <a:solidFill>
                  <a:srgbClr val="5B6372"/>
                </a:solidFill>
                <a:latin typeface="Arial"/>
              </a:rPr>
              <a:t>Social conversation and community amplification around the brand.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a:t>
            </a:r>
          </a:p>
          <a:p>
            <a:pPr algn="l">
              <a:spcAft>
                <a:spcPts val="300"/>
              </a:spcAft>
            </a:pPr>
            <a:r>
              <a:rPr sz="1200" b="0">
                <a:solidFill>
                  <a:srgbClr val="5B6372"/>
                </a:solidFill>
                <a:latin typeface="Arial"/>
              </a:rPr>
              <a:t>Content on channels the brand fully controls — website, email, app.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Decades of Brand Investment, Not a Single Big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Coca-Cola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Coca-Cola's dominance isn't one PR win — it's disciplined investment across earned press, owned channels and paid placement, sustained for decades rather than spent in a single burst. The same discipline should shape Nimbus's PESO split: a durable allocation, not a one-off relaunch spend.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CEO has approved a bounded PR budget for the 5th-anniversary relaunch — but not a blank cheque. Before a single dollar is spent, the CEO wants to see it allocated across earned, owned and paid channels in a way that visibly matches Nimbus's brand positioning, not just whichever channel the Marketing team finds easiest to book.</a:t>
            </a:r>
          </a:p>
          <a:p>
            <a:pPr algn="l">
              <a:spcAft>
                <a:spcPts val="800"/>
              </a:spcAft>
            </a:pPr>
            <a:r>
              <a:rPr sz="1450" b="0">
                <a:solidFill>
                  <a:srgbClr val="161B26"/>
                </a:solidFill>
                <a:latin typeface="Arial"/>
              </a:rPr>
              <a:t>The Board has already flagged a second concern for after the relaunch: they want ongoing proof the campaign improved Nimbus's reputation, not just its impression count — so today's budget plan needs KPIs the Board can actually hold the team to.</a:t>
            </a:r>
          </a:p>
          <a:p>
            <a:pPr algn="l">
              <a:spcAft>
                <a:spcPts val="800"/>
              </a:spcAft>
            </a:pPr>
            <a:r>
              <a:rPr sz="1450" b="0">
                <a:solidFill>
                  <a:srgbClr val="161B26"/>
                </a:solidFill>
                <a:latin typeface="Arial"/>
              </a:rPr>
              <a:t>Your table has been asked to build the PR budget proposal the CEO will sign off on.</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PR budget proposal with channel allocation and success metrics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PESO model, how should the budget split across paid, earned, shared and owned channels given Nimbus's brand positioning and the perception gap it's trying to close?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channel deserves the largest share of spend for this specific relaunch — and which would you deliberately underfund, and why?</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percentage, if any, should be held back as a reserve fund, and what would trigger Nimbus to actually spend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KPIs would let the Board judge reputation improvement, not just reach or impressions?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wipe dir="l"/>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allocation favour the channel that's easiest to execute, or the one the brand positioning actually calls for?</a:t>
            </a:r>
          </a:p>
          <a:p>
            <a:pPr>
              <a:spcAft>
                <a:spcPts val="900"/>
              </a:spcAft>
            </a:pPr>
            <a:r>
              <a:rPr sz="1450" b="0">
                <a:solidFill>
                  <a:srgbClr val="161B26"/>
                </a:solidFill>
                <a:latin typeface="Arial"/>
              </a:rPr>
              <a:t>•  How did you decide the size of the reserve fund — was it a rule of thumb or tied to a specific risk Nimbus is facing?</a:t>
            </a:r>
          </a:p>
          <a:p>
            <a:pPr>
              <a:spcAft>
                <a:spcPts val="900"/>
              </a:spcAft>
            </a:pPr>
            <a:r>
              <a:rPr sz="1450" b="0">
                <a:solidFill>
                  <a:srgbClr val="161B26"/>
                </a:solidFill>
                <a:latin typeface="Arial"/>
              </a:rPr>
              <a:t>•  If the Board rejected your KPI list as "just vanity metrics," what would you replace them with?</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PR budget proposal with a percentage split across paid, earned, shared and owned channels, a stated reserve fund, and a KPI list the Board could use to judge reputation impact rather than reach alone.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Audit Workshop</a:t>
            </a:r>
          </a:p>
          <a:p>
            <a:pPr algn="l">
              <a:spcAft>
                <a:spcPts val="300"/>
              </a:spcAft>
            </a:pPr>
            <a:r>
              <a:rPr sz="1200" b="0">
                <a:solidFill>
                  <a:srgbClr val="5B6372"/>
                </a:solidFill>
                <a:latin typeface="Arial"/>
              </a:rPr>
              <a:t>You can now: Explain the basics of branding.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Brand-Marketing Audit Exercise</a:t>
            </a:r>
          </a:p>
          <a:p>
            <a:pPr algn="l">
              <a:spcAft>
                <a:spcPts val="300"/>
              </a:spcAft>
            </a:pPr>
            <a:r>
              <a:rPr sz="1200" b="0">
                <a:solidFill>
                  <a:srgbClr val="5B6372"/>
                </a:solidFill>
                <a:latin typeface="Arial"/>
              </a:rPr>
              <a:t>You can now: Explain the role of branding in marketing.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Activation Planning Workshop</a:t>
            </a:r>
          </a:p>
          <a:p>
            <a:pPr algn="l">
              <a:spcAft>
                <a:spcPts val="300"/>
              </a:spcAft>
            </a:pPr>
            <a:r>
              <a:rPr sz="1200" b="0">
                <a:solidFill>
                  <a:srgbClr val="5B6372"/>
                </a:solidFill>
                <a:latin typeface="Arial"/>
              </a:rPr>
              <a:t>You can now: Execute branding campaigns, events and activities to increase brand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 Campaign Budget Planning</a:t>
            </a:r>
          </a:p>
          <a:p>
            <a:pPr algn="l">
              <a:spcAft>
                <a:spcPts val="300"/>
              </a:spcAft>
            </a:pPr>
            <a:r>
              <a:rPr sz="1200" b="0">
                <a:solidFill>
                  <a:srgbClr val="5B6372"/>
                </a:solidFill>
                <a:latin typeface="Arial"/>
              </a:rPr>
              <a:t>You can now: Execute public-relations campaigns in alignment to brand positioning strategies, operational plans and budget.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campaign can raise awareness in a week. A brand earns trust over years — spend the budget like you know the difference.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LU3: Branding in Marketing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zoom/>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Branding Effectiveness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Reputation Metrics · Success Indicators · PR Tactics · KPI Monitoring · Continuous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push dir="l"/>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Branding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Reputation is measured through social metrics, digital metrics (traffic, mentions) and business KPIs (NPS, satisfaction) across every platform the organisation touches.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Successful branding shows up in awareness, customer loyalty, financial impact and trust metrics — tracked consistently over time, not measured once.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Public-relations tactics — media relations, community outreach, crisis management and digital engagement — extend the brand's message beyond paid channels.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Monitoring the brand against SMART KPIs and acting on the gaps turns brand management into a continuous-improvement cycle rather than a one-off campaign.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LU4 · THE NEXT FRONTIER: AGENTIC AI</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agent is becoming the brand.”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Nine in ten US marketing agencies now use generative AI, and half use agentic AI for execution. AI is no longer just generating content — it is deciding, spending, personalising and interacting directly with customers.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350"/>
                                        <p:tgtEl>
                                          <p:spTgt spid="6"/>
                                        </p:tgtEl>
                                      </p:cBhvr>
                                    </p:animEffect>
                                    <p:anim calcmode="lin" valueType="num">
                                      <p:cBhvr additive="base">
                                        <p:cTn id="2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LU4 · AI BRAND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Risk Vector: Authority Concentration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Content agent — permission to draft copy + access the CMS</a:t>
            </a:r>
          </a:p>
        </p:txBody>
      </p:sp>
      <p:sp>
        <p:nvSpPr>
          <p:cNvPr id="12" name="TextBox 11"/>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50742"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Media agent — permission to optimise spend + finance workflows</a:t>
            </a:r>
          </a:p>
        </p:txBody>
      </p:sp>
      <p:sp>
        <p:nvSpPr>
          <p:cNvPr id="18" name="TextBox 17"/>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6377940"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Personalisation engine — tailors experiences + sensitive data</a:t>
            </a:r>
          </a:p>
        </p:txBody>
      </p:sp>
      <p:sp>
        <p:nvSpPr>
          <p:cNvPr id="24" name="TextBox 23"/>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9105138"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Concentration node — combined permissions create high risk</a:t>
            </a:r>
          </a:p>
        </p:txBody>
      </p:sp>
      <p:sp>
        <p:nvSpPr>
          <p:cNvPr id="30" name="Rectangle 2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In an agentic enterprise, risk moves through authority pathways, not people. Human approvals cannot scale at machine speed to monitor these intersections.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Brand Authority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Identity — which human and non-human identities can act on behalf of the brand?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Access — what systems, data and workflows are they permitted to touch?</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Inheritance — what authority do they hold after delegation and integrations?</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Concentration — where does authority unintentionally combine into high risk?</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Revocation — how quickly can authority be severed if boundaries are breached?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Enterprise Authority Assurance replaces the editorial calendar.</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PUTTING IT TOGETHER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Architecture of Modern Brand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customer at the centre — anchored by emotion, navigated through journey mapping, scaled safely within strict AI authority boundaries.</a:t>
            </a:r>
          </a:p>
        </p:txBody>
      </p:sp>
      <p:sp>
        <p:nvSpPr>
          <p:cNvPr id="8" name="Oval 7"/>
          <p:cNvSpPr/>
          <p:nvPr/>
        </p:nvSpPr>
        <p:spPr>
          <a:xfrm>
            <a:off x="4289907" y="2144268"/>
            <a:ext cx="3611880" cy="36118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24247" y="2578608"/>
            <a:ext cx="2743200" cy="2743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158587" y="3012948"/>
            <a:ext cx="1874519" cy="1874519"/>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528919" y="3383280"/>
            <a:ext cx="1133856" cy="113385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28919" y="3383280"/>
            <a:ext cx="1133856" cy="1133856"/>
          </a:xfrm>
          <a:prstGeom prst="rect">
            <a:avLst/>
          </a:prstGeom>
          <a:noFill/>
        </p:spPr>
        <p:txBody>
          <a:bodyPr wrap="square" anchor="ctr">
            <a:spAutoFit/>
          </a:bodyPr>
          <a:lstStyle/>
          <a:p>
            <a:pPr algn="ctr">
              <a:spcAft>
                <a:spcPts val="0"/>
              </a:spcAft>
            </a:pPr>
            <a:r>
              <a:rPr sz="900" b="1">
                <a:solidFill>
                  <a:srgbClr val="5B6372"/>
                </a:solidFill>
                <a:latin typeface="Arial"/>
              </a:rPr>
              <a:t>THE</a:t>
            </a:r>
          </a:p>
          <a:p>
            <a:pPr algn="ctr">
              <a:spcAft>
                <a:spcPts val="0"/>
              </a:spcAft>
            </a:pPr>
            <a:r>
              <a:rPr sz="1100" b="1">
                <a:solidFill>
                  <a:srgbClr val="161B26"/>
                </a:solidFill>
                <a:latin typeface="Arial"/>
              </a:rPr>
              <a:t>CUSTOMER</a:t>
            </a:r>
          </a:p>
        </p:txBody>
      </p:sp>
      <p:sp>
        <p:nvSpPr>
          <p:cNvPr id="13" name="Rectangle 12"/>
          <p:cNvSpPr/>
          <p:nvPr/>
        </p:nvSpPr>
        <p:spPr>
          <a:xfrm>
            <a:off x="777240" y="2395728"/>
            <a:ext cx="3246120"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395728"/>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42032"/>
            <a:ext cx="2862072" cy="384048"/>
          </a:xfrm>
          <a:prstGeom prst="rect">
            <a:avLst/>
          </a:prstGeom>
          <a:noFill/>
        </p:spPr>
        <p:txBody>
          <a:bodyPr wrap="square" anchor="t">
            <a:spAutoFit/>
          </a:bodyPr>
          <a:lstStyle/>
          <a:p>
            <a:pPr algn="l">
              <a:spcAft>
                <a:spcPts val="400"/>
              </a:spcAft>
            </a:pPr>
            <a:r>
              <a:rPr sz="1300" b="1">
                <a:solidFill>
                  <a:srgbClr val="7C3AED"/>
                </a:solidFill>
                <a:latin typeface="Arial"/>
              </a:rPr>
              <a:t>Emotional Authenticity</a:t>
            </a:r>
          </a:p>
        </p:txBody>
      </p:sp>
      <p:sp>
        <p:nvSpPr>
          <p:cNvPr id="16" name="TextBox 15"/>
          <p:cNvSpPr txBox="1"/>
          <p:nvPr/>
        </p:nvSpPr>
        <p:spPr>
          <a:xfrm>
            <a:off x="1014984" y="2926080"/>
            <a:ext cx="2862072" cy="457200"/>
          </a:xfrm>
          <a:prstGeom prst="rect">
            <a:avLst/>
          </a:prstGeom>
          <a:noFill/>
        </p:spPr>
        <p:txBody>
          <a:bodyPr wrap="square" anchor="t">
            <a:spAutoFit/>
          </a:bodyPr>
          <a:lstStyle/>
          <a:p>
            <a:pPr algn="l">
              <a:spcAft>
                <a:spcPts val="400"/>
              </a:spcAft>
            </a:pPr>
            <a:r>
              <a:rPr sz="1050" b="0">
                <a:solidFill>
                  <a:srgbClr val="5B6372"/>
                </a:solidFill>
                <a:latin typeface="Arial"/>
              </a:rPr>
              <a:t>Values, storytelling, transparency</a:t>
            </a:r>
          </a:p>
        </p:txBody>
      </p:sp>
      <p:sp>
        <p:nvSpPr>
          <p:cNvPr id="17" name="Rectangle 16"/>
          <p:cNvSpPr/>
          <p:nvPr/>
        </p:nvSpPr>
        <p:spPr>
          <a:xfrm>
            <a:off x="777240" y="4681728"/>
            <a:ext cx="3246120"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81728"/>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 y="4828032"/>
            <a:ext cx="2862072" cy="384048"/>
          </a:xfrm>
          <a:prstGeom prst="rect">
            <a:avLst/>
          </a:prstGeom>
          <a:noFill/>
        </p:spPr>
        <p:txBody>
          <a:bodyPr wrap="square" anchor="t">
            <a:spAutoFit/>
          </a:bodyPr>
          <a:lstStyle/>
          <a:p>
            <a:pPr algn="l">
              <a:spcAft>
                <a:spcPts val="400"/>
              </a:spcAft>
            </a:pPr>
            <a:r>
              <a:rPr sz="1300" b="1">
                <a:solidFill>
                  <a:srgbClr val="10B981"/>
                </a:solidFill>
                <a:latin typeface="Arial"/>
              </a:rPr>
              <a:t>The Customer Journey Loop</a:t>
            </a:r>
          </a:p>
        </p:txBody>
      </p:sp>
      <p:sp>
        <p:nvSpPr>
          <p:cNvPr id="20" name="TextBox 19"/>
          <p:cNvSpPr txBox="1"/>
          <p:nvPr/>
        </p:nvSpPr>
        <p:spPr>
          <a:xfrm>
            <a:off x="1014984" y="5212080"/>
            <a:ext cx="2862072" cy="457200"/>
          </a:xfrm>
          <a:prstGeom prst="rect">
            <a:avLst/>
          </a:prstGeom>
          <a:noFill/>
        </p:spPr>
        <p:txBody>
          <a:bodyPr wrap="square" anchor="t">
            <a:spAutoFit/>
          </a:bodyPr>
          <a:lstStyle/>
          <a:p>
            <a:pPr algn="l">
              <a:spcAft>
                <a:spcPts val="400"/>
              </a:spcAft>
            </a:pPr>
            <a:r>
              <a:rPr sz="1050" b="0">
                <a:solidFill>
                  <a:srgbClr val="5B6372"/>
                </a:solidFill>
                <a:latin typeface="Arial"/>
              </a:rPr>
              <a:t>Awareness through to advocacy</a:t>
            </a:r>
          </a:p>
        </p:txBody>
      </p:sp>
      <p:sp>
        <p:nvSpPr>
          <p:cNvPr id="21" name="Rectangle 20"/>
          <p:cNvSpPr/>
          <p:nvPr/>
        </p:nvSpPr>
        <p:spPr>
          <a:xfrm>
            <a:off x="8168335" y="3538728"/>
            <a:ext cx="3246120"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8335" y="3538728"/>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06079" y="3685032"/>
            <a:ext cx="2862072" cy="384048"/>
          </a:xfrm>
          <a:prstGeom prst="rect">
            <a:avLst/>
          </a:prstGeom>
          <a:noFill/>
        </p:spPr>
        <p:txBody>
          <a:bodyPr wrap="square" anchor="t">
            <a:spAutoFit/>
          </a:bodyPr>
          <a:lstStyle/>
          <a:p>
            <a:pPr algn="l">
              <a:spcAft>
                <a:spcPts val="400"/>
              </a:spcAft>
            </a:pPr>
            <a:r>
              <a:rPr sz="1300" b="1">
                <a:solidFill>
                  <a:srgbClr val="1F6FEB"/>
                </a:solidFill>
                <a:latin typeface="Arial"/>
              </a:rPr>
              <a:t>AI Brand Authority</a:t>
            </a:r>
          </a:p>
        </p:txBody>
      </p:sp>
      <p:sp>
        <p:nvSpPr>
          <p:cNvPr id="24" name="TextBox 23"/>
          <p:cNvSpPr txBox="1"/>
          <p:nvPr/>
        </p:nvSpPr>
        <p:spPr>
          <a:xfrm>
            <a:off x="8406079" y="4069080"/>
            <a:ext cx="2862072" cy="457200"/>
          </a:xfrm>
          <a:prstGeom prst="rect">
            <a:avLst/>
          </a:prstGeom>
          <a:noFill/>
        </p:spPr>
        <p:txBody>
          <a:bodyPr wrap="square" anchor="t">
            <a:spAutoFit/>
          </a:bodyPr>
          <a:lstStyle/>
          <a:p>
            <a:pPr algn="l">
              <a:spcAft>
                <a:spcPts val="400"/>
              </a:spcAft>
            </a:pPr>
            <a:r>
              <a:rPr sz="1050" b="0">
                <a:solidFill>
                  <a:srgbClr val="5B6372"/>
                </a:solidFill>
                <a:latin typeface="Arial"/>
              </a:rPr>
              <a:t>Identity, access, governance</a:t>
            </a:r>
          </a:p>
        </p:txBody>
      </p:sp>
      <p:sp>
        <p:nvSpPr>
          <p:cNvPr id="25" name="Rectangle 24"/>
          <p:cNvSpPr/>
          <p:nvPr/>
        </p:nvSpPr>
        <p:spPr>
          <a:xfrm>
            <a:off x="777240" y="5870448"/>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870448"/>
            <a:ext cx="9144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870448"/>
            <a:ext cx="10058400" cy="548640"/>
          </a:xfrm>
          <a:prstGeom prst="rect">
            <a:avLst/>
          </a:prstGeom>
          <a:noFill/>
        </p:spPr>
        <p:txBody>
          <a:bodyPr wrap="square" anchor="ctr">
            <a:spAutoFit/>
          </a:bodyPr>
          <a:lstStyle/>
          <a:p>
            <a:pPr algn="l">
              <a:spcAft>
                <a:spcPts val="400"/>
              </a:spcAft>
            </a:pPr>
            <a:r>
              <a:rPr sz="1200" b="1">
                <a:solidFill>
                  <a:srgbClr val="161B26"/>
                </a:solidFill>
                <a:latin typeface="Arial"/>
              </a:rPr>
              <a:t>A self-sustaining ecosystem: the customer at the centre, anchored by emotion, navigated by journey mapping, scaled within AI authority boundaries.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FROM INSIGHT TO ACTION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Executive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8" name="TextBox 7"/>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Shift the Metric</a:t>
            </a:r>
          </a:p>
        </p:txBody>
      </p:sp>
      <p:sp>
        <p:nvSpPr>
          <p:cNvPr id="9" name="TextBox 8"/>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Move away from pure acquisition costs. Restructure KPIs around lifetime value, Net Promoter Scores and journey retention.</a:t>
            </a:r>
          </a:p>
        </p:txBody>
      </p:sp>
      <p:sp>
        <p:nvSpPr>
          <p:cNvPr id="10" name="TextBox 9"/>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1" name="TextBox 10"/>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Map the Reality, Not the Theory</a:t>
            </a:r>
          </a:p>
        </p:txBody>
      </p:sp>
      <p:sp>
        <p:nvSpPr>
          <p:cNvPr id="12" name="TextBox 11"/>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Audit the 5-stage customer journey loop using actual behavioural data, not internal corporate assumptions. Find the friction.</a:t>
            </a:r>
          </a:p>
        </p:txBody>
      </p:sp>
      <p:sp>
        <p:nvSpPr>
          <p:cNvPr id="13" name="TextBox 12"/>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4" name="TextBox 13"/>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Close the Say-Do Gap</a:t>
            </a:r>
          </a:p>
        </p:txBody>
      </p:sp>
      <p:sp>
        <p:nvSpPr>
          <p:cNvPr id="15" name="TextBox 14"/>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Audit your brand's authenticity. Ensure marketing claims — environmental, social, quality — are rigidly matched by operational reality.</a:t>
            </a:r>
          </a:p>
        </p:txBody>
      </p:sp>
      <p:sp>
        <p:nvSpPr>
          <p:cNvPr id="16" name="TextBox 15"/>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7" name="TextBox 16"/>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Build the Authority Model</a:t>
            </a:r>
          </a:p>
        </p:txBody>
      </p:sp>
      <p:sp>
        <p:nvSpPr>
          <p:cNvPr id="18" name="TextBox 17"/>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Stop relying on human bottlenecks for AI approval. Map identity, access and authority concentration for every agentic system touching your brand.</a:t>
            </a:r>
          </a:p>
        </p:txBody>
      </p:sp>
      <p:sp>
        <p:nvSpPr>
          <p:cNvPr id="19" name="Rectangle 18"/>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Trust cannot be retrofitted. It must be engineered.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WHAT TO PUT ON THE DASHBOARD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Communication Metrics That Matter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Four service-communication measures the Board can actually govern by.</a:t>
            </a:r>
          </a:p>
        </p:txBody>
      </p:sp>
      <p:sp>
        <p:nvSpPr>
          <p:cNvPr id="8" name="Rectangle 7"/>
          <p:cNvSpPr/>
          <p:nvPr/>
        </p:nvSpPr>
        <p:spPr>
          <a:xfrm>
            <a:off x="777240" y="2212848"/>
            <a:ext cx="2466594"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12848"/>
            <a:ext cx="246659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87168"/>
            <a:ext cx="2466594" cy="914400"/>
          </a:xfrm>
          <a:prstGeom prst="rect">
            <a:avLst/>
          </a:prstGeom>
          <a:noFill/>
        </p:spPr>
        <p:txBody>
          <a:bodyPr wrap="square" anchor="t">
            <a:spAutoFit/>
          </a:bodyPr>
          <a:lstStyle/>
          <a:p>
            <a:pPr algn="ctr">
              <a:spcAft>
                <a:spcPts val="400"/>
              </a:spcAft>
            </a:pPr>
            <a:r>
              <a:rPr sz="4000" b="1">
                <a:solidFill>
                  <a:srgbClr val="1F6FEB"/>
                </a:solidFill>
                <a:latin typeface="Arial"/>
              </a:rPr>
              <a:t>FRT</a:t>
            </a:r>
          </a:p>
        </p:txBody>
      </p:sp>
      <p:sp>
        <p:nvSpPr>
          <p:cNvPr id="11" name="TextBox 10"/>
          <p:cNvSpPr txBox="1"/>
          <p:nvPr/>
        </p:nvSpPr>
        <p:spPr>
          <a:xfrm>
            <a:off x="923544" y="3419856"/>
            <a:ext cx="2173986" cy="713232"/>
          </a:xfrm>
          <a:prstGeom prst="rect">
            <a:avLst/>
          </a:prstGeom>
          <a:noFill/>
        </p:spPr>
        <p:txBody>
          <a:bodyPr wrap="square" anchor="t">
            <a:spAutoFit/>
          </a:bodyPr>
          <a:lstStyle/>
          <a:p>
            <a:pPr algn="ctr">
              <a:spcAft>
                <a:spcPts val="400"/>
              </a:spcAft>
            </a:pPr>
            <a:r>
              <a:rPr sz="1200" b="0">
                <a:solidFill>
                  <a:srgbClr val="161B26"/>
                </a:solidFill>
                <a:latin typeface="Arial"/>
              </a:rPr>
              <a:t>First Response Time — how long before a customer hears anything at all</a:t>
            </a:r>
          </a:p>
        </p:txBody>
      </p:sp>
      <p:sp>
        <p:nvSpPr>
          <p:cNvPr id="12" name="Rectangle 11"/>
          <p:cNvSpPr/>
          <p:nvPr/>
        </p:nvSpPr>
        <p:spPr>
          <a:xfrm>
            <a:off x="923544" y="4846320"/>
            <a:ext cx="217398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4846320"/>
            <a:ext cx="2173986" cy="402336"/>
          </a:xfrm>
          <a:prstGeom prst="rect">
            <a:avLst/>
          </a:prstGeom>
          <a:noFill/>
        </p:spPr>
        <p:txBody>
          <a:bodyPr wrap="square" anchor="ctr">
            <a:spAutoFit/>
          </a:bodyPr>
          <a:lstStyle/>
          <a:p>
            <a:pPr algn="ctr">
              <a:spcAft>
                <a:spcPts val="400"/>
              </a:spcAft>
            </a:pPr>
            <a:r>
              <a:rPr sz="950" b="0">
                <a:solidFill>
                  <a:srgbClr val="5B6372"/>
                </a:solidFill>
                <a:latin typeface="Arial"/>
              </a:rPr>
              <a:t>Target: </a:t>
            </a:r>
            <a:r>
              <a:rPr sz="950" b="1">
                <a:solidFill>
                  <a:srgbClr val="161B26"/>
                </a:solidFill>
                <a:latin typeface="Arial"/>
              </a:rPr>
              <a:t>&lt; 4 hours</a:t>
            </a:r>
            <a:r>
              <a:rPr sz="950" b="1">
                <a:solidFill>
                  <a:srgbClr val="1F6FEB"/>
                </a:solidFill>
                <a:latin typeface="Arial"/>
              </a:rPr>
              <a:t>   ◆ </a:t>
            </a:r>
            <a:r>
              <a:rPr sz="950" b="1">
                <a:solidFill>
                  <a:srgbClr val="1F6FEB"/>
                </a:solidFill>
                <a:latin typeface="Arial"/>
              </a:rPr>
              <a:t>leading</a:t>
            </a:r>
          </a:p>
        </p:txBody>
      </p:sp>
      <p:sp>
        <p:nvSpPr>
          <p:cNvPr id="14" name="Rectangle 13"/>
          <p:cNvSpPr/>
          <p:nvPr/>
        </p:nvSpPr>
        <p:spPr>
          <a:xfrm>
            <a:off x="3499866" y="2212848"/>
            <a:ext cx="2466594"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9866" y="2212848"/>
            <a:ext cx="246659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9866" y="2487168"/>
            <a:ext cx="2466594" cy="914400"/>
          </a:xfrm>
          <a:prstGeom prst="rect">
            <a:avLst/>
          </a:prstGeom>
          <a:noFill/>
        </p:spPr>
        <p:txBody>
          <a:bodyPr wrap="square" anchor="t">
            <a:spAutoFit/>
          </a:bodyPr>
          <a:lstStyle/>
          <a:p>
            <a:pPr algn="ctr">
              <a:spcAft>
                <a:spcPts val="400"/>
              </a:spcAft>
            </a:pPr>
            <a:r>
              <a:rPr sz="4000" b="1">
                <a:solidFill>
                  <a:srgbClr val="10B981"/>
                </a:solidFill>
                <a:latin typeface="Arial"/>
              </a:rPr>
              <a:t>ART</a:t>
            </a:r>
          </a:p>
        </p:txBody>
      </p:sp>
      <p:sp>
        <p:nvSpPr>
          <p:cNvPr id="17" name="TextBox 16"/>
          <p:cNvSpPr txBox="1"/>
          <p:nvPr/>
        </p:nvSpPr>
        <p:spPr>
          <a:xfrm>
            <a:off x="3646170" y="3419856"/>
            <a:ext cx="2173986" cy="713232"/>
          </a:xfrm>
          <a:prstGeom prst="rect">
            <a:avLst/>
          </a:prstGeom>
          <a:noFill/>
        </p:spPr>
        <p:txBody>
          <a:bodyPr wrap="square" anchor="t">
            <a:spAutoFit/>
          </a:bodyPr>
          <a:lstStyle/>
          <a:p>
            <a:pPr algn="ctr">
              <a:spcAft>
                <a:spcPts val="400"/>
              </a:spcAft>
            </a:pPr>
            <a:r>
              <a:rPr sz="1200" b="0">
                <a:solidFill>
                  <a:srgbClr val="161B26"/>
                </a:solidFill>
                <a:latin typeface="Arial"/>
              </a:rPr>
              <a:t>Average Resolution Time — how long to actually close the issue</a:t>
            </a:r>
          </a:p>
        </p:txBody>
      </p:sp>
      <p:sp>
        <p:nvSpPr>
          <p:cNvPr id="18" name="Rectangle 17"/>
          <p:cNvSpPr/>
          <p:nvPr/>
        </p:nvSpPr>
        <p:spPr>
          <a:xfrm>
            <a:off x="3646170" y="4846320"/>
            <a:ext cx="217398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6170" y="4846320"/>
            <a:ext cx="2173986" cy="402336"/>
          </a:xfrm>
          <a:prstGeom prst="rect">
            <a:avLst/>
          </a:prstGeom>
          <a:noFill/>
        </p:spPr>
        <p:txBody>
          <a:bodyPr wrap="square" anchor="ctr">
            <a:spAutoFit/>
          </a:bodyPr>
          <a:lstStyle/>
          <a:p>
            <a:pPr algn="ctr">
              <a:spcAft>
                <a:spcPts val="400"/>
              </a:spcAft>
            </a:pPr>
            <a:r>
              <a:rPr sz="950" b="0">
                <a:solidFill>
                  <a:srgbClr val="5B6372"/>
                </a:solidFill>
                <a:latin typeface="Arial"/>
              </a:rPr>
              <a:t>Target: </a:t>
            </a:r>
            <a:r>
              <a:rPr sz="950" b="1">
                <a:solidFill>
                  <a:srgbClr val="161B26"/>
                </a:solidFill>
                <a:latin typeface="Arial"/>
              </a:rPr>
              <a:t>&lt; 48 hours</a:t>
            </a:r>
            <a:r>
              <a:rPr sz="950" b="1">
                <a:solidFill>
                  <a:srgbClr val="5B6372"/>
                </a:solidFill>
                <a:latin typeface="Arial"/>
              </a:rPr>
              <a:t>   ○ </a:t>
            </a:r>
            <a:r>
              <a:rPr sz="950" b="1">
                <a:solidFill>
                  <a:srgbClr val="5B6372"/>
                </a:solidFill>
                <a:latin typeface="Arial"/>
              </a:rPr>
              <a:t>lagging</a:t>
            </a:r>
          </a:p>
        </p:txBody>
      </p:sp>
      <p:sp>
        <p:nvSpPr>
          <p:cNvPr id="20" name="Rectangle 19"/>
          <p:cNvSpPr/>
          <p:nvPr/>
        </p:nvSpPr>
        <p:spPr>
          <a:xfrm>
            <a:off x="6222492" y="2212848"/>
            <a:ext cx="2466594"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2492" y="2212848"/>
            <a:ext cx="246659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2492" y="2487168"/>
            <a:ext cx="2466594" cy="914400"/>
          </a:xfrm>
          <a:prstGeom prst="rect">
            <a:avLst/>
          </a:prstGeom>
          <a:noFill/>
        </p:spPr>
        <p:txBody>
          <a:bodyPr wrap="square" anchor="t">
            <a:spAutoFit/>
          </a:bodyPr>
          <a:lstStyle/>
          <a:p>
            <a:pPr algn="ctr">
              <a:spcAft>
                <a:spcPts val="400"/>
              </a:spcAft>
            </a:pPr>
            <a:r>
              <a:rPr sz="4000" b="1">
                <a:solidFill>
                  <a:srgbClr val="7C3AED"/>
                </a:solidFill>
                <a:latin typeface="Arial"/>
              </a:rPr>
              <a:t>CSAT</a:t>
            </a:r>
          </a:p>
        </p:txBody>
      </p:sp>
      <p:sp>
        <p:nvSpPr>
          <p:cNvPr id="23" name="TextBox 22"/>
          <p:cNvSpPr txBox="1"/>
          <p:nvPr/>
        </p:nvSpPr>
        <p:spPr>
          <a:xfrm>
            <a:off x="6368796" y="3419856"/>
            <a:ext cx="2173986" cy="713232"/>
          </a:xfrm>
          <a:prstGeom prst="rect">
            <a:avLst/>
          </a:prstGeom>
          <a:noFill/>
        </p:spPr>
        <p:txBody>
          <a:bodyPr wrap="square" anchor="t">
            <a:spAutoFit/>
          </a:bodyPr>
          <a:lstStyle/>
          <a:p>
            <a:pPr algn="ctr">
              <a:spcAft>
                <a:spcPts val="400"/>
              </a:spcAft>
            </a:pPr>
            <a:r>
              <a:rPr sz="1200" b="0">
                <a:solidFill>
                  <a:srgbClr val="161B26"/>
                </a:solidFill>
                <a:latin typeface="Arial"/>
              </a:rPr>
              <a:t>Customer Satisfaction — how the interaction felt to the customer</a:t>
            </a:r>
          </a:p>
        </p:txBody>
      </p:sp>
      <p:sp>
        <p:nvSpPr>
          <p:cNvPr id="24" name="Rectangle 23"/>
          <p:cNvSpPr/>
          <p:nvPr/>
        </p:nvSpPr>
        <p:spPr>
          <a:xfrm>
            <a:off x="6368796" y="4846320"/>
            <a:ext cx="217398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8796" y="4846320"/>
            <a:ext cx="2173986" cy="402336"/>
          </a:xfrm>
          <a:prstGeom prst="rect">
            <a:avLst/>
          </a:prstGeom>
          <a:noFill/>
        </p:spPr>
        <p:txBody>
          <a:bodyPr wrap="square" anchor="ctr">
            <a:spAutoFit/>
          </a:bodyPr>
          <a:lstStyle/>
          <a:p>
            <a:pPr algn="ctr">
              <a:spcAft>
                <a:spcPts val="400"/>
              </a:spcAft>
            </a:pPr>
            <a:r>
              <a:rPr sz="950" b="0">
                <a:solidFill>
                  <a:srgbClr val="5B6372"/>
                </a:solidFill>
                <a:latin typeface="Arial"/>
              </a:rPr>
              <a:t>Target: </a:t>
            </a:r>
            <a:r>
              <a:rPr sz="950" b="1">
                <a:solidFill>
                  <a:srgbClr val="161B26"/>
                </a:solidFill>
                <a:latin typeface="Arial"/>
              </a:rPr>
              <a:t>≥ 85%</a:t>
            </a:r>
            <a:r>
              <a:rPr sz="950" b="1">
                <a:solidFill>
                  <a:srgbClr val="5B6372"/>
                </a:solidFill>
                <a:latin typeface="Arial"/>
              </a:rPr>
              <a:t>   ○ </a:t>
            </a:r>
            <a:r>
              <a:rPr sz="950" b="1">
                <a:solidFill>
                  <a:srgbClr val="5B6372"/>
                </a:solidFill>
                <a:latin typeface="Arial"/>
              </a:rPr>
              <a:t>lagging</a:t>
            </a:r>
          </a:p>
        </p:txBody>
      </p:sp>
      <p:sp>
        <p:nvSpPr>
          <p:cNvPr id="26" name="Rectangle 25"/>
          <p:cNvSpPr/>
          <p:nvPr/>
        </p:nvSpPr>
        <p:spPr>
          <a:xfrm>
            <a:off x="8945118" y="2212848"/>
            <a:ext cx="2466594"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5118" y="2212848"/>
            <a:ext cx="246659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45118" y="2487168"/>
            <a:ext cx="2466594" cy="914400"/>
          </a:xfrm>
          <a:prstGeom prst="rect">
            <a:avLst/>
          </a:prstGeom>
          <a:noFill/>
        </p:spPr>
        <p:txBody>
          <a:bodyPr wrap="square" anchor="t">
            <a:spAutoFit/>
          </a:bodyPr>
          <a:lstStyle/>
          <a:p>
            <a:pPr algn="ctr">
              <a:spcAft>
                <a:spcPts val="400"/>
              </a:spcAft>
            </a:pPr>
            <a:r>
              <a:rPr sz="4000" b="1">
                <a:solidFill>
                  <a:srgbClr val="F59E0B"/>
                </a:solidFill>
                <a:latin typeface="Arial"/>
              </a:rPr>
              <a:t>FCR</a:t>
            </a:r>
          </a:p>
        </p:txBody>
      </p:sp>
      <p:sp>
        <p:nvSpPr>
          <p:cNvPr id="29" name="TextBox 28"/>
          <p:cNvSpPr txBox="1"/>
          <p:nvPr/>
        </p:nvSpPr>
        <p:spPr>
          <a:xfrm>
            <a:off x="9091422" y="3419856"/>
            <a:ext cx="2173986" cy="713232"/>
          </a:xfrm>
          <a:prstGeom prst="rect">
            <a:avLst/>
          </a:prstGeom>
          <a:noFill/>
        </p:spPr>
        <p:txBody>
          <a:bodyPr wrap="square" anchor="t">
            <a:spAutoFit/>
          </a:bodyPr>
          <a:lstStyle/>
          <a:p>
            <a:pPr algn="ctr">
              <a:spcAft>
                <a:spcPts val="400"/>
              </a:spcAft>
            </a:pPr>
            <a:r>
              <a:rPr sz="1200" b="0">
                <a:solidFill>
                  <a:srgbClr val="161B26"/>
                </a:solidFill>
                <a:latin typeface="Arial"/>
              </a:rPr>
              <a:t>First Contact Resolution — solved without the customer chasing again</a:t>
            </a:r>
          </a:p>
        </p:txBody>
      </p:sp>
      <p:sp>
        <p:nvSpPr>
          <p:cNvPr id="30" name="Rectangle 29"/>
          <p:cNvSpPr/>
          <p:nvPr/>
        </p:nvSpPr>
        <p:spPr>
          <a:xfrm>
            <a:off x="9091422" y="4846320"/>
            <a:ext cx="2173986"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1422" y="4846320"/>
            <a:ext cx="2173986" cy="402336"/>
          </a:xfrm>
          <a:prstGeom prst="rect">
            <a:avLst/>
          </a:prstGeom>
          <a:noFill/>
        </p:spPr>
        <p:txBody>
          <a:bodyPr wrap="square" anchor="ctr">
            <a:spAutoFit/>
          </a:bodyPr>
          <a:lstStyle/>
          <a:p>
            <a:pPr algn="ctr">
              <a:spcAft>
                <a:spcPts val="400"/>
              </a:spcAft>
            </a:pPr>
            <a:r>
              <a:rPr sz="950" b="0">
                <a:solidFill>
                  <a:srgbClr val="5B6372"/>
                </a:solidFill>
                <a:latin typeface="Arial"/>
              </a:rPr>
              <a:t>Target: </a:t>
            </a:r>
            <a:r>
              <a:rPr sz="950" b="1">
                <a:solidFill>
                  <a:srgbClr val="161B26"/>
                </a:solidFill>
                <a:latin typeface="Arial"/>
              </a:rPr>
              <a:t>≥ 75%</a:t>
            </a:r>
            <a:r>
              <a:rPr sz="950" b="1">
                <a:solidFill>
                  <a:srgbClr val="1F6FEB"/>
                </a:solidFill>
                <a:latin typeface="Arial"/>
              </a:rPr>
              <a:t>   ◆ </a:t>
            </a:r>
            <a:r>
              <a:rPr sz="950" b="1">
                <a:solidFill>
                  <a:srgbClr val="1F6FEB"/>
                </a:solidFill>
                <a:latin typeface="Arial"/>
              </a:rPr>
              <a:t>leading</a:t>
            </a:r>
          </a:p>
        </p:txBody>
      </p:sp>
      <p:sp>
        <p:nvSpPr>
          <p:cNvPr id="32" name="Rectangle 31"/>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FRT and FCR are leading indicators — they warn you early. CSAT and ART confirm afterwards. A dashboard of only lagging metrics cannot be steered by.</a:t>
            </a:r>
          </a:p>
        </p:txBody>
      </p:sp>
      <p:sp>
        <p:nvSpPr>
          <p:cNvPr id="35" name="TextBox 34"/>
          <p:cNvSpPr txBox="1"/>
          <p:nvPr/>
        </p:nvSpPr>
        <p:spPr>
          <a:xfrm>
            <a:off x="777240" y="5541264"/>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Zendesk, Bitrix24 and Freshworks service-metric guidance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LU4 · THE SCR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Structuring a Message So It Lands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Lead with the conclusion, not the build-up — the discipline behind every clear executive update.</a:t>
            </a:r>
          </a:p>
        </p:txBody>
      </p:sp>
      <p:sp>
        <p:nvSpPr>
          <p:cNvPr id="8" name="Rectangle 7"/>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29028"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2" name="TextBox 11"/>
          <p:cNvSpPr txBox="1"/>
          <p:nvPr/>
        </p:nvSpPr>
        <p:spPr>
          <a:xfrm>
            <a:off x="905256"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Situation</a:t>
            </a:r>
          </a:p>
        </p:txBody>
      </p:sp>
      <p:sp>
        <p:nvSpPr>
          <p:cNvPr id="13" name="TextBox 12"/>
          <p:cNvSpPr txBox="1"/>
          <p:nvPr/>
        </p:nvSpPr>
        <p:spPr>
          <a:xfrm>
            <a:off x="905256"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State the shared context both sides already agree on. Keep it to one or two sentences.</a:t>
            </a:r>
          </a:p>
        </p:txBody>
      </p:sp>
      <p:sp>
        <p:nvSpPr>
          <p:cNvPr id="14" name="TextBox 13"/>
          <p:cNvSpPr txBox="1"/>
          <p:nvPr/>
        </p:nvSpPr>
        <p:spPr>
          <a:xfrm>
            <a:off x="4120896"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5" name="Rectangle 14"/>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3504" y="22402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65292"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9" name="TextBox 18"/>
          <p:cNvSpPr txBox="1"/>
          <p:nvPr/>
        </p:nvSpPr>
        <p:spPr>
          <a:xfrm>
            <a:off x="4541520"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Complication</a:t>
            </a:r>
          </a:p>
        </p:txBody>
      </p:sp>
      <p:sp>
        <p:nvSpPr>
          <p:cNvPr id="20" name="TextBox 19"/>
          <p:cNvSpPr txBox="1"/>
          <p:nvPr/>
        </p:nvSpPr>
        <p:spPr>
          <a:xfrm>
            <a:off x="4541520"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Name what changed or what is at risk. This is the reason the message exists at all.</a:t>
            </a:r>
          </a:p>
        </p:txBody>
      </p:sp>
      <p:sp>
        <p:nvSpPr>
          <p:cNvPr id="21" name="TextBox 20"/>
          <p:cNvSpPr txBox="1"/>
          <p:nvPr/>
        </p:nvSpPr>
        <p:spPr>
          <a:xfrm>
            <a:off x="7757160"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2" name="Rectangle 21"/>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9768" y="22402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1556"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6" name="TextBox 25"/>
          <p:cNvSpPr txBox="1"/>
          <p:nvPr/>
        </p:nvSpPr>
        <p:spPr>
          <a:xfrm>
            <a:off x="8177784" y="333756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Resolution</a:t>
            </a:r>
          </a:p>
        </p:txBody>
      </p:sp>
      <p:sp>
        <p:nvSpPr>
          <p:cNvPr id="27" name="TextBox 26"/>
          <p:cNvSpPr txBox="1"/>
          <p:nvPr/>
        </p:nvSpPr>
        <p:spPr>
          <a:xfrm>
            <a:off x="8177784" y="3721608"/>
            <a:ext cx="3105912" cy="1143000"/>
          </a:xfrm>
          <a:prstGeom prst="rect">
            <a:avLst/>
          </a:prstGeom>
          <a:noFill/>
        </p:spPr>
        <p:txBody>
          <a:bodyPr wrap="square" anchor="t">
            <a:spAutoFit/>
          </a:bodyPr>
          <a:lstStyle/>
          <a:p>
            <a:pPr algn="ctr">
              <a:spcAft>
                <a:spcPts val="400"/>
              </a:spcAft>
            </a:pPr>
            <a:r>
              <a:rPr sz="1050" b="0">
                <a:solidFill>
                  <a:srgbClr val="5B6372"/>
                </a:solidFill>
                <a:latin typeface="Arial"/>
              </a:rPr>
              <a:t>State the recommendation or decision needed — and exactly what you want the reader to do next.</a:t>
            </a:r>
          </a:p>
        </p:txBody>
      </p:sp>
      <p:sp>
        <p:nvSpPr>
          <p:cNvPr id="28" name="Rectangle 27"/>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Minto's principle: give the answer first, then the supporting detail. Readers who need convincing read on; readers who trust you can stop after line one.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Measures or indicators of organisation's reputation on different platforms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Measures or indicators of organisation's reputation on different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Media</a:t>
            </a:r>
          </a:p>
          <a:p>
            <a:pPr algn="l">
              <a:spcAft>
                <a:spcPts val="300"/>
              </a:spcAft>
            </a:pPr>
            <a:r>
              <a:rPr sz="1200" b="0">
                <a:solidFill>
                  <a:srgbClr val="5B6372"/>
                </a:solidFill>
                <a:latin typeface="Arial"/>
              </a:rPr>
              <a:t>Followers, engagement and sentiment tracked live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Metrics</a:t>
            </a:r>
          </a:p>
          <a:p>
            <a:pPr algn="l">
              <a:spcAft>
                <a:spcPts val="300"/>
              </a:spcAft>
            </a:pPr>
            <a:r>
              <a:rPr sz="1200" b="0">
                <a:solidFill>
                  <a:srgbClr val="5B6372"/>
                </a:solidFill>
                <a:latin typeface="Arial"/>
              </a:rPr>
              <a:t>Website traffic, search rankings, brand mentions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KPIs</a:t>
            </a:r>
          </a:p>
          <a:p>
            <a:pPr algn="l">
              <a:spcAft>
                <a:spcPts val="300"/>
              </a:spcAft>
            </a:pPr>
            <a:r>
              <a:rPr sz="1200" b="0">
                <a:solidFill>
                  <a:srgbClr val="5B6372"/>
                </a:solidFill>
                <a:latin typeface="Arial"/>
              </a:rPr>
              <a:t>NPS, satisfaction and financial impact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Stakeholder Data</a:t>
            </a:r>
          </a:p>
          <a:p>
            <a:pPr algn="l">
              <a:spcAft>
                <a:spcPts val="300"/>
              </a:spcAft>
            </a:pPr>
            <a:r>
              <a:rPr sz="1200" b="0">
                <a:solidFill>
                  <a:srgbClr val="5B6372"/>
                </a:solidFill>
                <a:latin typeface="Arial"/>
              </a:rPr>
              <a:t>Customer, employee and investor perceptions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Meltwater, 2024</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Reputation Monitoring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Set Objectives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Define clear measurement goals up front.</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Monitor Sources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Track multiple data channels, not just one.</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Sentiment</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Measure the positive/negative tone of the feedback.</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Track Engagement</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Monitor how the audience actually interacts.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Modern Reputation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Modern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Single Channel — limited platform coverage</a:t>
            </a:r>
          </a:p>
          <a:p>
            <a:pPr>
              <a:spcAft>
                <a:spcPts val="1000"/>
              </a:spcAft>
            </a:pPr>
            <a:r>
              <a:rPr sz="1600" b="0">
                <a:solidFill>
                  <a:srgbClr val="161B26"/>
                </a:solidFill>
                <a:latin typeface="Arial"/>
              </a:rPr>
              <a:t>•  Reactive — response only after issues occur</a:t>
            </a:r>
          </a:p>
          <a:p>
            <a:pPr>
              <a:spcAft>
                <a:spcPts val="1000"/>
              </a:spcAft>
            </a:pPr>
            <a:r>
              <a:rPr sz="1600" b="0">
                <a:solidFill>
                  <a:srgbClr val="161B26"/>
                </a:solidFill>
                <a:latin typeface="Arial"/>
              </a:rPr>
              <a:t>•  Basic Metrics — simple measurement tools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Multi-Platform — comprehensive cross-channel tracking</a:t>
            </a:r>
          </a:p>
          <a:p>
            <a:pPr>
              <a:spcAft>
                <a:spcPts val="1000"/>
              </a:spcAft>
            </a:pPr>
            <a:r>
              <a:rPr sz="1600" b="0">
                <a:solidFill>
                  <a:srgbClr val="161B26"/>
                </a:solidFill>
                <a:latin typeface="Arial"/>
              </a:rPr>
              <a:t>•  Predictive — forecasts stakeholder behaviour patterns</a:t>
            </a:r>
          </a:p>
          <a:p>
            <a:pPr>
              <a:spcAft>
                <a:spcPts val="1000"/>
              </a:spcAft>
            </a:pPr>
            <a:r>
              <a:rPr sz="1600" b="0">
                <a:solidFill>
                  <a:srgbClr val="161B26"/>
                </a:solidFill>
                <a:latin typeface="Arial"/>
              </a:rPr>
              <a:t>•  AI Analytics — real-time sentiment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Caliber, 2026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Nimbus's Reputation Is Actually Built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Customer Actions</a:t>
            </a:r>
          </a:p>
          <a:p>
            <a:pPr algn="l">
              <a:spcAft>
                <a:spcPts val="300"/>
              </a:spcAft>
            </a:pPr>
            <a:r>
              <a:rPr sz="1000" b="0">
                <a:solidFill>
                  <a:srgbClr val="5B6372"/>
                </a:solidFill>
                <a:latin typeface="Arial"/>
              </a:rPr>
              <a:t>Discover: Sees an ad or search result; Browse: Reads reviews, compares options; Purchase: Buys online or in-store; Post-Purchase: Posts a review or complaint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Frontstage</a:t>
            </a:r>
          </a:p>
          <a:p>
            <a:pPr algn="l">
              <a:spcAft>
                <a:spcPts val="300"/>
              </a:spcAft>
            </a:pPr>
            <a:r>
              <a:rPr sz="1000" b="0">
                <a:solidFill>
                  <a:srgbClr val="5B6372"/>
                </a:solidFill>
                <a:latin typeface="Arial"/>
              </a:rPr>
              <a:t>Discover: Social post, search ranking; Browse: Product page, shelf display; Purchase: Checkout, staff interaction; Post-Purchase: Review reply, service chat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Backstage</a:t>
            </a:r>
          </a:p>
          <a:p>
            <a:pPr algn="l">
              <a:spcAft>
                <a:spcPts val="300"/>
              </a:spcAft>
            </a:pPr>
            <a:r>
              <a:rPr sz="1000" b="0">
                <a:solidFill>
                  <a:srgbClr val="5B6372"/>
                </a:solidFill>
                <a:latin typeface="Arial"/>
              </a:rPr>
              <a:t>Discover: Content team tracks mentions; Browse: Merchandising tracks page analytics; Purchase: Fulfilment team processes order; Post-Purchase: Support team logs sentiment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Support</a:t>
            </a:r>
          </a:p>
          <a:p>
            <a:pPr algn="l">
              <a:spcAft>
                <a:spcPts val="300"/>
              </a:spcAft>
            </a:pPr>
            <a:r>
              <a:rPr sz="1000" b="0">
                <a:solidFill>
                  <a:srgbClr val="5B6372"/>
                </a:solidFill>
                <a:latin typeface="Arial"/>
              </a:rPr>
              <a:t>Discover: Monitoring tool flags mentions; Browse: Analytics dashboard tracks traffic; Purchase: CRM records purchase history; Post-Purchase: Alert tool flags negative posts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service-blueprint methodology (Shostack, 1984, adapted); Meltwater, 2024</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One Reputation, Measured Across a Dozen Touchpoints at Once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Grab</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Grab's reputation lives in app ratings, driver reviews, social media and news coverage simultaneously — a single bad headline can move all four at once, which is why a platform audit can't treat any one channel in isolation.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Three weeks after Nimbus Wellness's 5th-anniversary relaunch went live, the founder is celebrating a spike in impressions and website traffic. The Board isn't satisfied with raw numbers, though — it wants to know whether the relaunch actually repaired the "doesn't feel personal anymore" perception gap uncovered before the campaign, or just produced a short-term spike in attention.</a:t>
            </a:r>
          </a:p>
          <a:p>
            <a:pPr algn="l">
              <a:spcAft>
                <a:spcPts val="800"/>
              </a:spcAft>
            </a:pPr>
            <a:r>
              <a:rPr sz="1450" b="0">
                <a:solidFill>
                  <a:srgbClr val="161B26"/>
                </a:solidFill>
                <a:latin typeface="Arial"/>
              </a:rPr>
              <a:t>Marketing has a folder of screenshots — likes, shares, a handful of glowing reviews — but no one has compared this to what reputation looked like before the relaunch, or checked the platforms customers actually complain on, like Google reviews and the wellness retail chain's own app.</a:t>
            </a:r>
          </a:p>
          <a:p>
            <a:pPr algn="l">
              <a:spcAft>
                <a:spcPts val="800"/>
              </a:spcAft>
            </a:pPr>
            <a:r>
              <a:rPr sz="1450" b="0">
                <a:solidFill>
                  <a:srgbClr val="161B26"/>
                </a:solidFill>
                <a:latin typeface="Arial"/>
              </a:rPr>
              <a:t>Before Marketing reports back to the Board next week, your table must build the audit that separates real reputation movement from relaunch-week noise.</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platform-by-platform reputation audit (3+ platforms) with leading and lagging indicators tracked, and a leadership-ready read on whether the relaunch actually shifted reputation</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 platforms will actually tell you whether Nimbus's reputation has shifted since the relaunch — not just which platforms have the most impressions?</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of your chosen metrics are leading indicators that warn of a problem early, and which are lagging indicators that only confirm what already happened?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you separate a genuine sentiment shift on "feels personal again" from a short-term spike caused by relaunch hype alone?</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tell the Board next week if the quantitative numbers looked good but the qualitative comments never mentioned feeling more "personal" at all?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wipe dir="l"/>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 lean too heavily on quantitative metrics before someone asked what the qualitative comments actually said?</a:t>
            </a:r>
          </a:p>
          <a:p>
            <a:pPr>
              <a:spcAft>
                <a:spcPts val="900"/>
              </a:spcAft>
            </a:pPr>
            <a:r>
              <a:rPr sz="1450" b="0">
                <a:solidFill>
                  <a:srgbClr val="161B26"/>
                </a:solidFill>
                <a:latin typeface="Arial"/>
              </a:rPr>
              <a:t>•  Which platform did you almost leave out of the audit — and why did it turn out to matter?</a:t>
            </a:r>
          </a:p>
          <a:p>
            <a:pPr>
              <a:spcAft>
                <a:spcPts val="900"/>
              </a:spcAft>
            </a:pPr>
            <a:r>
              <a:rPr sz="1450" b="0">
                <a:solidFill>
                  <a:srgbClr val="161B26"/>
                </a:solidFill>
                <a:latin typeface="Arial"/>
              </a:rPr>
              <a:t>•  If the relaunch metrics stay strong for one more month and then fade, what would that suggest about whether the reputation gap was really closed?</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platform-by-platform audit naming at least one leading and one lagging indicator per platform, and can state in one sentence whether the evidence shows a genuine reputation shift or just a relaunch-week spike.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Indicators of successful branding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Indicators of successful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Awareness</a:t>
            </a:r>
          </a:p>
          <a:p>
            <a:pPr algn="l">
              <a:spcAft>
                <a:spcPts val="300"/>
              </a:spcAft>
            </a:pPr>
            <a:r>
              <a:rPr sz="1200" b="0">
                <a:solidFill>
                  <a:srgbClr val="5B6372"/>
                </a:solidFill>
                <a:latin typeface="Arial"/>
              </a:rPr>
              <a:t>Recognition and recall measured directly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 Loyalty</a:t>
            </a:r>
          </a:p>
          <a:p>
            <a:pPr algn="l">
              <a:spcAft>
                <a:spcPts val="300"/>
              </a:spcAft>
            </a:pPr>
            <a:r>
              <a:rPr sz="1200" b="0">
                <a:solidFill>
                  <a:srgbClr val="5B6372"/>
                </a:solidFill>
                <a:latin typeface="Arial"/>
              </a:rPr>
              <a:t>Retention and repeat-purchase rates tracked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Impact</a:t>
            </a:r>
          </a:p>
          <a:p>
            <a:pPr algn="l">
              <a:spcAft>
                <a:spcPts val="300"/>
              </a:spcAft>
            </a:pPr>
            <a:r>
              <a:rPr sz="1200" b="0">
                <a:solidFill>
                  <a:srgbClr val="5B6372"/>
                </a:solidFill>
                <a:latin typeface="Arial"/>
              </a:rPr>
              <a:t>Revenue growth and market share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Metrics</a:t>
            </a:r>
          </a:p>
          <a:p>
            <a:pPr algn="l">
              <a:spcAft>
                <a:spcPts val="300"/>
              </a:spcAft>
            </a:pPr>
            <a:r>
              <a:rPr sz="1200" b="0">
                <a:solidFill>
                  <a:srgbClr val="5B6372"/>
                </a:solidFill>
                <a:latin typeface="Arial"/>
              </a:rPr>
              <a:t>Consumer confidence and perception measured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Health Tracking Best Practices, 2024</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Measurement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Metrics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Decide what you're going to track, and why.</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Track Awareness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Measure recognition and recall over time.</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Measure Loyalty</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Track retention and repeat-purchase rates.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Assess Perception</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Check whether the brand is seen the way it intends.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Digital Brand Measurement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Digital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Surveys — customer feedback collection</a:t>
            </a:r>
          </a:p>
          <a:p>
            <a:pPr>
              <a:spcAft>
                <a:spcPts val="1000"/>
              </a:spcAft>
            </a:pPr>
            <a:r>
              <a:rPr sz="1600" b="0">
                <a:solidFill>
                  <a:srgbClr val="161B26"/>
                </a:solidFill>
                <a:latin typeface="Arial"/>
              </a:rPr>
              <a:t>•  Focus Groups — qualitative brand perception</a:t>
            </a:r>
          </a:p>
          <a:p>
            <a:pPr>
              <a:spcAft>
                <a:spcPts val="1000"/>
              </a:spcAft>
            </a:pPr>
            <a:r>
              <a:rPr sz="1600" b="0">
                <a:solidFill>
                  <a:srgbClr val="161B26"/>
                </a:solidFill>
                <a:latin typeface="Arial"/>
              </a:rPr>
              <a:t>•  Quarterly — periodic assessment cycles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Analytics — real-time performance tracking</a:t>
            </a:r>
          </a:p>
          <a:p>
            <a:pPr>
              <a:spcAft>
                <a:spcPts val="1000"/>
              </a:spcAft>
            </a:pPr>
            <a:r>
              <a:rPr sz="1600" b="0">
                <a:solidFill>
                  <a:srgbClr val="161B26"/>
                </a:solidFill>
                <a:latin typeface="Arial"/>
              </a:rPr>
              <a:t>•  Social Media — engagement and sentiment monitoring</a:t>
            </a:r>
          </a:p>
          <a:p>
            <a:pPr>
              <a:spcAft>
                <a:spcPts val="1000"/>
              </a:spcAft>
            </a:pPr>
            <a:r>
              <a:rPr sz="1600" b="0">
                <a:solidFill>
                  <a:srgbClr val="161B26"/>
                </a:solidFill>
                <a:latin typeface="Arial"/>
              </a:rPr>
              <a:t>•  Continuous — always-on measurement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How to Measure Branding Success, 2024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Four Brand Health Pillars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Awareness</a:t>
            </a:r>
          </a:p>
          <a:p>
            <a:pPr algn="l">
              <a:spcAft>
                <a:spcPts val="300"/>
              </a:spcAft>
            </a:pPr>
            <a:r>
              <a:rPr sz="1200" b="0">
                <a:solidFill>
                  <a:srgbClr val="5B6372"/>
                </a:solidFill>
                <a:latin typeface="Arial"/>
              </a:rPr>
              <a:t>Do people recognise Nimbus unprompted, and recall it against name-brand competitors?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Loyalty</a:t>
            </a:r>
          </a:p>
          <a:p>
            <a:pPr algn="l">
              <a:spcAft>
                <a:spcPts val="300"/>
              </a:spcAft>
            </a:pPr>
            <a:r>
              <a:rPr sz="1200" b="0">
                <a:solidFill>
                  <a:srgbClr val="5B6372"/>
                </a:solidFill>
                <a:latin typeface="Arial"/>
              </a:rPr>
              <a:t>Do existing customers keep coming back, and how many repeat-purchase within a season?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Impact</a:t>
            </a:r>
          </a:p>
          <a:p>
            <a:pPr algn="l">
              <a:spcAft>
                <a:spcPts val="300"/>
              </a:spcAft>
            </a:pPr>
            <a:r>
              <a:rPr sz="1200" b="0">
                <a:solidFill>
                  <a:srgbClr val="5B6372"/>
                </a:solidFill>
                <a:latin typeface="Arial"/>
              </a:rPr>
              <a:t>Is brand strength actually translating into revenue growth and share of category spend?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Do customers believe Nimbus's claims and feel confident recommending it to a friend?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Health Tracking Best Practices, 2024; NPS industry benchmarks, 2025 (illustrative)</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Is a Tracked Metric, Not a One-Off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DBS Bank</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DBS's widely-reported "World's Best Bank" recognition wasn't a lucky survey result — it was built on years of measurable digital and customer-experience metrics tracked continuously, the same discipline Nimbus needs to prove ongoing brand health to its 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Board's real question isn't "did the relaunch get noticed" — it's whether Nimbus's brand is genuinely healthier than it was six months ago. Marketing has awareness numbers on hand, but no one has looked at loyalty, financial impact or trust together.</a:t>
            </a:r>
          </a:p>
          <a:p>
            <a:pPr algn="l">
              <a:spcAft>
                <a:spcPts val="800"/>
              </a:spcAft>
            </a:pPr>
            <a:r>
              <a:rPr sz="1450" b="0">
                <a:solidFill>
                  <a:srgbClr val="161B26"/>
                </a:solidFill>
                <a:latin typeface="Arial"/>
              </a:rPr>
              <a:t>The founder is due to present a "State of the Brand" update to the Board in two weeks, right after the relaunch's first full sales cycle closes. She has asked your table for a one-page brand-health scorecard she can defend line by line.</a:t>
            </a:r>
          </a:p>
          <a:p>
            <a:pPr algn="l">
              <a:spcAft>
                <a:spcPts val="800"/>
              </a:spcAft>
            </a:pPr>
            <a:r>
              <a:rPr sz="1450" b="0">
                <a:solidFill>
                  <a:srgbClr val="161B26"/>
                </a:solidFill>
                <a:latin typeface="Arial"/>
              </a:rPr>
              <a:t>Customer Service has also noticed something odd: several long-time customers who complained the brand "feels distant" are now leaving five-star reviews again — but repeat-purchase data hasn't moved yet.</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brand-health scorecard across all four pillars (Awareness, Loyalty, Financial Impact, Trust) with evidence and one improvement action for the weakest pillar</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Across Awareness, Loyalty, Financial Impact and Trust, which pillar is Nimbus strongest on right now, and which is weakest — and what evidence would prove it either way?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The reviews have improved but repeat-purchase data hasn't moved — which pillar does that gap sit in, and what does it tell the founder about how long a real recovery actually takes?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you could only fund one more month of measurement in a single pillar, which would move the Board's confidence most, and why?</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separates a brand-health indicator the Board should act on immediately from one that's just worth watching?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wipe dir="l"/>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pillar did your table find hardest to find real evidence for — awareness, loyalty, financial impact or trust?</a:t>
            </a:r>
          </a:p>
          <a:p>
            <a:pPr>
              <a:spcAft>
                <a:spcPts val="900"/>
              </a:spcAft>
            </a:pPr>
            <a:r>
              <a:rPr sz="1450" b="0">
                <a:solidFill>
                  <a:srgbClr val="161B26"/>
                </a:solidFill>
                <a:latin typeface="Arial"/>
              </a:rPr>
              <a:t>•  Did the group's instinct about Nimbus's strongest pillar match what the evidence actually showed?</a:t>
            </a:r>
          </a:p>
          <a:p>
            <a:pPr>
              <a:spcAft>
                <a:spcPts val="900"/>
              </a:spcAft>
            </a:pPr>
            <a:r>
              <a:rPr sz="1450" b="0">
                <a:solidFill>
                  <a:srgbClr val="161B26"/>
                </a:solidFill>
                <a:latin typeface="Arial"/>
              </a:rPr>
              <a:t>•  If financial impact keeps lagging the other three pillars for another quarter, is that a marketing problem or an operations problem?</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one-page scorecard rating Nimbus on all four pillars with named evidence for each rating, plus one improvement action for the weakest pillar.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Public relations tactics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Public relations tactics?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 Relations</a:t>
            </a:r>
          </a:p>
          <a:p>
            <a:pPr algn="l">
              <a:spcAft>
                <a:spcPts val="300"/>
              </a:spcAft>
            </a:pPr>
            <a:r>
              <a:rPr sz="1200" b="0">
                <a:solidFill>
                  <a:srgbClr val="5B6372"/>
                </a:solidFill>
                <a:latin typeface="Arial"/>
              </a:rPr>
              <a:t>Build journalist partnerships for visibility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Community Outreach</a:t>
            </a:r>
          </a:p>
          <a:p>
            <a:pPr algn="l">
              <a:spcAft>
                <a:spcPts val="300"/>
              </a:spcAft>
            </a:pPr>
            <a:r>
              <a:rPr sz="1200" b="0">
                <a:solidFill>
                  <a:srgbClr val="5B6372"/>
                </a:solidFill>
                <a:latin typeface="Arial"/>
              </a:rPr>
              <a:t>Engage local audiences and stakeholders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Crisis Management</a:t>
            </a:r>
          </a:p>
          <a:p>
            <a:pPr algn="l">
              <a:spcAft>
                <a:spcPts val="300"/>
              </a:spcAft>
            </a:pPr>
            <a:r>
              <a:rPr sz="1200" b="0">
                <a:solidFill>
                  <a:srgbClr val="5B6372"/>
                </a:solidFill>
                <a:latin typeface="Arial"/>
              </a:rPr>
              <a:t>Protect reputation during a challenge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Engagement</a:t>
            </a:r>
          </a:p>
          <a:p>
            <a:pPr algn="l">
              <a:spcAft>
                <a:spcPts val="300"/>
              </a:spcAft>
            </a:pPr>
            <a:r>
              <a:rPr sz="1200" b="0">
                <a:solidFill>
                  <a:srgbClr val="5B6372"/>
                </a:solidFill>
                <a:latin typeface="Arial"/>
              </a:rPr>
              <a:t>Social media and online interactions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PR Strategy Essentials, 2024</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Implementation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Target Audience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the stakeholder groups affected.</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Core Messaging</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one consistent line of communication.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Media Relationships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Build the journalist connections you'll need.</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Campaign Execution</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Deploy the tactical activities on schedule.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Reactive vs Proactive Crisis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Reactive — Defensive &amp; Silent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Proactive — Fast &amp; Transparent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Wait for Full Certainty — Cracker Barrel's 2025 rebrand backlash festered for a week before the company reversed course — and revenue still fell roughly 6% that quarter, even after the reversal.</a:t>
            </a:r>
          </a:p>
          <a:p>
            <a:pPr>
              <a:spcAft>
                <a:spcPts val="1000"/>
              </a:spcAft>
            </a:pPr>
            <a:r>
              <a:rPr sz="1600" b="0">
                <a:solidFill>
                  <a:srgbClr val="161B26"/>
                </a:solidFill>
                <a:latin typeface="Arial"/>
              </a:rPr>
              <a:t>•  Deny or Minimise — Downplaying a complaint thread as "a few unhappy customers" reads as dismissive once hundreds of people are sharing their own photos.</a:t>
            </a:r>
          </a:p>
          <a:p>
            <a:pPr>
              <a:spcAft>
                <a:spcPts val="1000"/>
              </a:spcAft>
            </a:pPr>
            <a:r>
              <a:rPr sz="1600" b="0">
                <a:solidFill>
                  <a:srgbClr val="161B26"/>
                </a:solidFill>
                <a:latin typeface="Arial"/>
              </a:rPr>
              <a:t>•  Let Silence Fill the Vacuum — An information vacuum left by delay gets filled by critics, not facts — the story gets written without you in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Confirm and Communicate Fast — McDonald's 2024 E. coli response traced the supply-chain source quickly and shared an improvement plan across multiple platforms before the story could spiral.</a:t>
            </a:r>
          </a:p>
          <a:p>
            <a:pPr>
              <a:spcAft>
                <a:spcPts val="1000"/>
              </a:spcAft>
            </a:pPr>
            <a:r>
              <a:rPr sz="1600" b="0">
                <a:solidFill>
                  <a:srgbClr val="161B26"/>
                </a:solidFill>
                <a:latin typeface="Arial"/>
              </a:rPr>
              <a:t>•  Give Frequent, Plain-Language Updates — Slack's 2025 outage updates used a public status page with timestamped, plain-language updates — transparency about the technical problem built trust instead of breaking it.</a:t>
            </a:r>
          </a:p>
          <a:p>
            <a:pPr>
              <a:spcAft>
                <a:spcPts val="1000"/>
              </a:spcAft>
            </a:pPr>
            <a:r>
              <a:rPr sz="1600" b="0">
                <a:solidFill>
                  <a:srgbClr val="161B26"/>
                </a:solidFill>
                <a:latin typeface="Arial"/>
              </a:rPr>
              <a:t>•  Publish the Full Explanation After — Slack followed each outage with a full post-incident explanation — closing the loop shows the company learned, not just reacted.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PR crisis-management case examples, 2024-2025 (McDonald's, Slack, Cracker Barrel)</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Nimbus Crisis Response Fork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The Fork</a:t>
            </a:r>
          </a:p>
          <a:p>
            <a:pPr algn="l">
              <a:spcAft>
                <a:spcPts val="300"/>
              </a:spcAft>
            </a:pPr>
            <a:r>
              <a:rPr sz="1100" b="0">
                <a:solidFill>
                  <a:srgbClr val="5B6372"/>
                </a:solidFill>
                <a:latin typeface="Arial"/>
              </a:rPr>
              <a:t>A defective-product video is going viral the night before Nimbus's biggest interview — what happens tonight?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Stay Silent — Silence Fills the Vacuum</a:t>
            </a:r>
          </a:p>
          <a:p>
            <a:pPr algn="l">
              <a:spcAft>
                <a:spcPts val="300"/>
              </a:spcAft>
            </a:pPr>
            <a:r>
              <a:rPr sz="1100" b="0">
                <a:solidFill>
                  <a:srgbClr val="5B6372"/>
                </a:solidFill>
                <a:latin typeface="Arial"/>
              </a:rPr>
              <a:t>Critics and the journalist write the story for Nimbus — "knew and hid it" becomes the headline.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Respond Fast — Trust Preserved</a:t>
            </a:r>
          </a:p>
          <a:p>
            <a:pPr algn="l">
              <a:spcAft>
                <a:spcPts val="300"/>
              </a:spcAft>
            </a:pPr>
            <a:r>
              <a:rPr sz="1100" b="0">
                <a:solidFill>
                  <a:srgbClr val="5B6372"/>
                </a:solidFill>
                <a:latin typeface="Arial"/>
              </a:rPr>
              <a:t>Confirm what's known, commit to a fix, and give an honest on-record line before tomorrow's interview.</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Escalate Fully — Crisis Protocol Activated</a:t>
            </a:r>
          </a:p>
          <a:p>
            <a:pPr algn="l">
              <a:spcAft>
                <a:spcPts val="300"/>
              </a:spcAft>
            </a:pPr>
            <a:r>
              <a:rPr sz="1100" b="0">
                <a:solidFill>
                  <a:srgbClr val="5B6372"/>
                </a:solidFill>
                <a:latin typeface="Arial"/>
              </a:rPr>
              <a:t>For a widespread defect: recall affected units, activate the crisis team, notify every platform at once.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crisis-communication decision frameworks; PR Strategy Essentials, 2024</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The Textbook Case: Fast, Transparent, Costly — and Trust-Preserving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Johnson &amp; Johnson</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When cyanide-laced Tylenol capsules killed seven people in 1982, Johnson &amp; Johnson pulled every bottle from shelves nationwide within days and introduced the tamper-proof packaging the whole industry later adopted — still taught today as the standard for fast, transparent crisis response.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It's 9pm, the night before the founder's biggest relaunch media interview yet. A customer posts a video of her new Nimbus jar — from the new sustainable packaging line launched with the anniversary campaign — cracked and leaking product, captioned "the 'eco-friendly' packaging Nimbus is so proud of." Within two hours it has hundreds of shares and a wave of other customers replying with their own photos.</a:t>
            </a:r>
          </a:p>
          <a:p>
            <a:pPr algn="l">
              <a:spcAft>
                <a:spcPts val="800"/>
              </a:spcAft>
            </a:pPr>
            <a:r>
              <a:rPr sz="1450" b="0">
                <a:solidFill>
                  <a:srgbClr val="161B26"/>
                </a:solidFill>
                <a:latin typeface="Arial"/>
              </a:rPr>
              <a:t>Operations thinks it may be a single bad batch from the new packaging supplier, but can't confirm numbers until morning. The journalist doing tomorrow's interview has already seen the thread and has emailed asking whether Nimbus knew about a defect before launch.</a:t>
            </a:r>
          </a:p>
          <a:p>
            <a:pPr algn="l">
              <a:spcAft>
                <a:spcPts val="800"/>
              </a:spcAft>
            </a:pPr>
            <a:r>
              <a:rPr sz="1450" b="0">
                <a:solidFill>
                  <a:srgbClr val="161B26"/>
                </a:solidFill>
                <a:latin typeface="Arial"/>
              </a:rPr>
              <a:t>The founder wants to say nothing until Operations has the full facts — but the thread is growing every hour, and tomorrow's interview is unavoidable. Your group must decide what Nimbus does tonight, and what the spokesperson says tomorrow morning.</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same-night crisis-response script (public statement + next-day interview line) rehearsed through the three roles, benchmarked against a real 2024-2025 crisis example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Spokesperson</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Represent Nimbus publicly without over-promising</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Must decide what Nimbus can credibly say before every fact is confirmed, and how much to reveal in tomorrow's interview.</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Journalist</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Get a real, on-record answer for tomorrow's story</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Already has screenshots of the complaint thread and will ask directly whether Nimbus knew about the packaging issue before the relaunch.</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Crisis-Response Lead</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Coordinate the facts and the fix before Nimbus says anything publicly</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Is still confirming with Operations exactly how many units are affected, and whether it's a supplier fault or a Nimbus quality-control miss.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wipe dir="l"/>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Is staying silent until Operations confirms every fact actually the safer choice tonight, or does it leave a vacuum the thread will fill for Nimbus?</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the Spokesperson honestly commit to in tomorrow's interview before the root cause is even confirmed?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should the Crisis-Response Lead's internal fact-finding and the Spokesperson's public statement stay in sync without one getting ahead of the other?</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Nimbus need to say and do in the first 24 hours to be judged as fast and transparent rather than defensive?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wipe dir="l"/>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Spokesperson end up promising more, or less, than Nimbus could actually deliver by morning?</a:t>
            </a:r>
          </a:p>
          <a:p>
            <a:pPr>
              <a:spcAft>
                <a:spcPts val="900"/>
              </a:spcAft>
            </a:pPr>
            <a:r>
              <a:rPr sz="1450" b="0">
                <a:solidFill>
                  <a:srgbClr val="161B26"/>
                </a:solidFill>
                <a:latin typeface="Arial"/>
              </a:rPr>
              <a:t>•  Where did the Journalist's questions expose a gap between what the Crisis-Response Lead knew and what the Spokesperson said?</a:t>
            </a:r>
          </a:p>
          <a:p>
            <a:pPr>
              <a:spcAft>
                <a:spcPts val="900"/>
              </a:spcAft>
            </a:pPr>
            <a:r>
              <a:rPr sz="1450" b="0">
                <a:solidFill>
                  <a:srgbClr val="161B26"/>
                </a:solidFill>
                <a:latin typeface="Arial"/>
              </a:rPr>
              <a:t>•  Looking at the Cracker Barrel and McDonald's examples, which pattern did your group's response end up closer to — and was that a deliberate choice?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perform or narrate a same-night response that names what Nimbus confirms publicly within hours, what it says in tomorrow's interview, and a follow-up commitment — and can point to which real-world example (fast/transparent vs delayed/silent) their plan resembles.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Monitor the success of the brand against Key Performance Indicators (KPI)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Monitor the success of the brand against Key Performance Indicators (KPI)?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SMART KPIs</a:t>
            </a:r>
          </a:p>
          <a:p>
            <a:pPr algn="l">
              <a:spcAft>
                <a:spcPts val="300"/>
              </a:spcAft>
            </a:pPr>
            <a:r>
              <a:rPr sz="1200" b="0">
                <a:solidFill>
                  <a:srgbClr val="5B6372"/>
                </a:solidFill>
                <a:latin typeface="Arial"/>
              </a:rPr>
              <a:t>Specific, measurable, attainable, realistic, time-bound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Collection</a:t>
            </a:r>
          </a:p>
          <a:p>
            <a:pPr algn="l">
              <a:spcAft>
                <a:spcPts val="300"/>
              </a:spcAft>
            </a:pPr>
            <a:r>
              <a:rPr sz="1200" b="0">
                <a:solidFill>
                  <a:srgbClr val="5B6372"/>
                </a:solidFill>
                <a:latin typeface="Arial"/>
              </a:rPr>
              <a:t>Analytics tools and brand guidelines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Analysis</a:t>
            </a:r>
          </a:p>
          <a:p>
            <a:pPr algn="l">
              <a:spcAft>
                <a:spcPts val="300"/>
              </a:spcAft>
            </a:pPr>
            <a:r>
              <a:rPr sz="1200" b="0">
                <a:solidFill>
                  <a:srgbClr val="5B6372"/>
                </a:solidFill>
                <a:latin typeface="Arial"/>
              </a:rPr>
              <a:t>Interpret trends and what's changing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Optimisation</a:t>
            </a:r>
          </a:p>
          <a:p>
            <a:pPr algn="l">
              <a:spcAft>
                <a:spcPts val="300"/>
              </a:spcAft>
            </a:pPr>
            <a:r>
              <a:rPr sz="1200" b="0">
                <a:solidFill>
                  <a:srgbClr val="5B6372"/>
                </a:solidFill>
                <a:latin typeface="Arial"/>
              </a:rPr>
              <a:t>Insights drive real brand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Frontify, 2024</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Monitoring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Collect Data</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Gather the analytics and brand guidelines.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Interpret</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Analyse the trends and what's changing.</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Optimise</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Apply the insights to real improvements.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Repeat Monthly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Keep the cycle continuous, not a one-off review.</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KPI Categories — Internal vs External Focus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Internal Focus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External Focus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Team Adoption — brand-guideline compliance</a:t>
            </a:r>
          </a:p>
          <a:p>
            <a:pPr>
              <a:spcAft>
                <a:spcPts val="1000"/>
              </a:spcAft>
            </a:pPr>
            <a:r>
              <a:rPr sz="1600" b="0">
                <a:solidFill>
                  <a:srgbClr val="161B26"/>
                </a:solidFill>
                <a:latin typeface="Arial"/>
              </a:rPr>
              <a:t>•  Consistency — cross-channel brand alignment</a:t>
            </a:r>
          </a:p>
          <a:p>
            <a:pPr>
              <a:spcAft>
                <a:spcPts val="1000"/>
              </a:spcAft>
            </a:pPr>
            <a:r>
              <a:rPr sz="1600" b="0">
                <a:solidFill>
                  <a:srgbClr val="161B26"/>
                </a:solidFill>
                <a:latin typeface="Arial"/>
              </a:rPr>
              <a:t>•  Engagement — internal brand activation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Market Perception — customer brand sentiment</a:t>
            </a:r>
          </a:p>
          <a:p>
            <a:pPr>
              <a:spcAft>
                <a:spcPts val="1000"/>
              </a:spcAft>
            </a:pPr>
            <a:r>
              <a:rPr sz="1600" b="0">
                <a:solidFill>
                  <a:srgbClr val="161B26"/>
                </a:solidFill>
                <a:latin typeface="Arial"/>
              </a:rPr>
              <a:t>•  Competitive Position — market-share comparison</a:t>
            </a:r>
          </a:p>
          <a:p>
            <a:pPr>
              <a:spcAft>
                <a:spcPts val="1000"/>
              </a:spcAft>
            </a:pPr>
            <a:r>
              <a:rPr sz="1600" b="0">
                <a:solidFill>
                  <a:srgbClr val="161B26"/>
                </a:solidFill>
                <a:latin typeface="Arial"/>
              </a:rPr>
              <a:t>•  Awareness — brand recognition metrics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Frontify, 2024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SMART KPI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 exactly what's being measured — not "brand awareness" in general, but unprompted recall among Nimbus's core segment.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State how it's quantified — percentage, score or count — and where the number comes from.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Attainable</a:t>
            </a:r>
          </a:p>
          <a:p>
            <a:pPr algn="l">
              <a:spcAft>
                <a:spcPts val="300"/>
              </a:spcAft>
            </a:pPr>
            <a:r>
              <a:rPr sz="1200" b="0">
                <a:solidFill>
                  <a:srgbClr val="5B6372"/>
                </a:solidFill>
                <a:latin typeface="Arial"/>
              </a:rPr>
              <a:t>Set a target Nimbus can realistically move given its size and budget, not an aspirational guess.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Realistic</a:t>
            </a:r>
          </a:p>
          <a:p>
            <a:pPr algn="l">
              <a:spcAft>
                <a:spcPts val="300"/>
              </a:spcAft>
            </a:pPr>
            <a:r>
              <a:rPr sz="1200" b="0">
                <a:solidFill>
                  <a:srgbClr val="5B6372"/>
                </a:solidFill>
                <a:latin typeface="Arial"/>
              </a:rPr>
              <a:t>Tie the KPI to something the brand can actually influence, not a market force outside its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Time-bound</a:t>
            </a:r>
          </a:p>
          <a:p>
            <a:pPr algn="l">
              <a:spcAft>
                <a:spcPts val="300"/>
              </a:spcAft>
            </a:pPr>
            <a:r>
              <a:rPr sz="1200" b="0">
                <a:solidFill>
                  <a:srgbClr val="5B6372"/>
                </a:solidFill>
                <a:latin typeface="Arial"/>
              </a:rPr>
              <a:t>Give the KPI a review deadline — monthly, quarterly — so it forces a real decision, not a standing report.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SMART goal-setting framework (Doran, 1981, adapted); Frontify, 2024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Culture Built Around Measurable Goals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Google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Google's well-known OKR (Objectives and Key Results) practice ties every team's work to a small set of measurable, time-bound goals reviewed on a regular cycle — the same discipline behind a SMART KPI framework.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Board's ask is specific: it wants a KPI framework it can check every month after the relaunch, not a one-off report from Marketing whenever someone remembers to send it. The founder, who is not a numbers person, has asked for something she can read in five minutes and still trust.</a:t>
            </a:r>
          </a:p>
          <a:p>
            <a:pPr algn="l">
              <a:spcAft>
                <a:spcPts val="800"/>
              </a:spcAft>
            </a:pPr>
            <a:r>
              <a:rPr sz="1450" b="0">
                <a:solidFill>
                  <a:srgbClr val="161B26"/>
                </a:solidFill>
                <a:latin typeface="Arial"/>
              </a:rPr>
              <a:t>Right now every department tracks something different — Marketing watches follower counts, Retail watches footfall, Customer Service watches response times — and none of it is compared against a target or a deadline. Last month someone reported "engagement is up" without saying up from what, or by when it should keep rising.</a:t>
            </a:r>
          </a:p>
          <a:p>
            <a:pPr algn="l">
              <a:spcAft>
                <a:spcPts val="800"/>
              </a:spcAft>
            </a:pPr>
            <a:r>
              <a:rPr sz="1450" b="0">
                <a:solidFill>
                  <a:srgbClr val="161B26"/>
                </a:solidFill>
                <a:latin typeface="Arial"/>
              </a:rPr>
              <a:t>Your table's job is to turn this scattered activity into a small set of SMART KPIs the Board can actually govern the relaunch by.</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SMART KPI framework (3 internal + 3 external KPIs) with an owner, target, data source and review deadline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 internal and 3 external KPIs would actually tell the Board whether the relaunch is working — not just which numbers are easiest for each department to pull?</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Take one of your KPIs through the full SMART test — where does it break down first, and how do you fix that?</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owns each KPI, and what happens if the number misses target two months in a row?</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the Board can only look at one dashboard slide, what's the smallest set of numbers that still tells the whole story?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wipe dir="l"/>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of your KPIs was hardest to make genuinely Measurable rather than just a description of activity?</a:t>
            </a:r>
          </a:p>
          <a:p>
            <a:pPr>
              <a:spcAft>
                <a:spcPts val="900"/>
              </a:spcAft>
            </a:pPr>
            <a:r>
              <a:rPr sz="1450" b="0">
                <a:solidFill>
                  <a:srgbClr val="161B26"/>
                </a:solidFill>
                <a:latin typeface="Arial"/>
              </a:rPr>
              <a:t>•  Did your table set a target that was Attainable, or did ambition win out over realism?</a:t>
            </a:r>
          </a:p>
          <a:p>
            <a:pPr>
              <a:spcAft>
                <a:spcPts val="900"/>
              </a:spcAft>
            </a:pPr>
            <a:r>
              <a:rPr sz="1450" b="0">
                <a:solidFill>
                  <a:srgbClr val="161B26"/>
                </a:solidFill>
                <a:latin typeface="Arial"/>
              </a:rPr>
              <a:t>•  If one KPI is red for two straight months, does your framework actually say what happens next — or does it stop at reporting the number?</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3 internal + 3 external KPIs, each SMART-tested with a named owner, target, data source and review deadline, and can explain what action a missed target would trigger.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LU4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Provide suggestions to improve public relations campaign effectiveness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T5</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Provide suggestions to improve public relations campaign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Gaps</a:t>
            </a:r>
          </a:p>
          <a:p>
            <a:pPr algn="l">
              <a:spcAft>
                <a:spcPts val="300"/>
              </a:spcAft>
            </a:pPr>
            <a:r>
              <a:rPr sz="1200" b="0">
                <a:solidFill>
                  <a:srgbClr val="5B6372"/>
                </a:solidFill>
                <a:latin typeface="Arial"/>
              </a:rPr>
              <a:t>Find weaknesses through data analysis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Planning</a:t>
            </a:r>
          </a:p>
          <a:p>
            <a:pPr algn="l">
              <a:spcAft>
                <a:spcPts val="300"/>
              </a:spcAft>
            </a:pPr>
            <a:r>
              <a:rPr sz="1200" b="0">
                <a:solidFill>
                  <a:srgbClr val="5B6372"/>
                </a:solidFill>
                <a:latin typeface="Arial"/>
              </a:rPr>
              <a:t>Set measurable objectives and tactics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 Relations</a:t>
            </a:r>
          </a:p>
          <a:p>
            <a:pPr algn="l">
              <a:spcAft>
                <a:spcPts val="300"/>
              </a:spcAft>
            </a:pPr>
            <a:r>
              <a:rPr sz="1200" b="0">
                <a:solidFill>
                  <a:srgbClr val="5B6372"/>
                </a:solidFill>
                <a:latin typeface="Arial"/>
              </a:rPr>
              <a:t>Build strong journalist partnerships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 Quality</a:t>
            </a:r>
          </a:p>
          <a:p>
            <a:pPr algn="l">
              <a:spcAft>
                <a:spcPts val="300"/>
              </a:spcAft>
            </a:pPr>
            <a:r>
              <a:rPr sz="1200" b="0">
                <a:solidFill>
                  <a:srgbClr val="5B6372"/>
                </a:solidFill>
                <a:latin typeface="Arial"/>
              </a:rPr>
              <a:t>Create compelling, research-backed stories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Optimisation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Set Goals</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Define clear, measurable objectives.</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Audience</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Target specific stakeholder segments.</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Create Content</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Develop compelling, research-backed stories.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Output Metrics vs Outcome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Output Metrics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Outcome Metrics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Reach — total audience exposure</a:t>
            </a:r>
          </a:p>
          <a:p>
            <a:pPr>
              <a:spcAft>
                <a:spcPts val="1000"/>
              </a:spcAft>
            </a:pPr>
            <a:r>
              <a:rPr sz="1600" b="0">
                <a:solidFill>
                  <a:srgbClr val="161B26"/>
                </a:solidFill>
                <a:latin typeface="Arial"/>
              </a:rPr>
              <a:t>•  Impressions — content visibility metrics</a:t>
            </a:r>
          </a:p>
          <a:p>
            <a:pPr>
              <a:spcAft>
                <a:spcPts val="1000"/>
              </a:spcAft>
            </a:pPr>
            <a:r>
              <a:rPr sz="1600" b="0">
                <a:solidFill>
                  <a:srgbClr val="161B26"/>
                </a:solidFill>
                <a:latin typeface="Arial"/>
              </a:rPr>
              <a:t>•  Volume — quantity of coverage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Business Impact — revenue and growth correlation</a:t>
            </a:r>
          </a:p>
          <a:p>
            <a:pPr>
              <a:spcAft>
                <a:spcPts val="1000"/>
              </a:spcAft>
            </a:pPr>
            <a:r>
              <a:rPr sz="1600" b="0">
                <a:solidFill>
                  <a:srgbClr val="161B26"/>
                </a:solidFill>
                <a:latin typeface="Arial"/>
              </a:rPr>
              <a:t>•  Behaviour Change — audience action and engagement</a:t>
            </a:r>
          </a:p>
          <a:p>
            <a:pPr>
              <a:spcAft>
                <a:spcPts val="1000"/>
              </a:spcAft>
            </a:pPr>
            <a:r>
              <a:rPr sz="1600" b="0">
                <a:solidFill>
                  <a:srgbClr val="161B26"/>
                </a:solidFill>
                <a:latin typeface="Arial"/>
              </a:rPr>
              <a:t>•  Quality Metrics — message penetration and sentiment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anim calcmode="lin" valueType="num">
                                      <p:cBhvr additive="base">
                                        <p:cTn id="1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50"/>
                                        <p:tgtEl>
                                          <p:spTgt spid="12"/>
                                        </p:tgtEl>
                                      </p:cBhvr>
                                    </p:animEffect>
                                    <p:anim calcmode="lin" valueType="num">
                                      <p:cBhvr additive="base">
                                        <p:cTn id="2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AMEC Evaluation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Objectives</a:t>
            </a:r>
          </a:p>
          <a:p>
            <a:pPr algn="l">
              <a:spcAft>
                <a:spcPts val="300"/>
              </a:spcAft>
            </a:pPr>
            <a:r>
              <a:rPr sz="1200" b="0">
                <a:solidFill>
                  <a:srgbClr val="5B6372"/>
                </a:solidFill>
                <a:latin typeface="Arial"/>
              </a:rPr>
              <a:t>Set what the campaign is meant to change, not just what it will publish.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Inputs</a:t>
            </a:r>
          </a:p>
          <a:p>
            <a:pPr algn="l">
              <a:spcAft>
                <a:spcPts val="300"/>
              </a:spcAft>
            </a:pPr>
            <a:r>
              <a:rPr sz="1200" b="0">
                <a:solidFill>
                  <a:srgbClr val="5B6372"/>
                </a:solidFill>
                <a:latin typeface="Arial"/>
              </a:rPr>
              <a:t>Budget, planning and content committed before anything goes live.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Outputs</a:t>
            </a:r>
          </a:p>
          <a:p>
            <a:pPr algn="l">
              <a:spcAft>
                <a:spcPts val="300"/>
              </a:spcAft>
            </a:pPr>
            <a:r>
              <a:rPr sz="1200" b="0">
                <a:solidFill>
                  <a:srgbClr val="5B6372"/>
                </a:solidFill>
                <a:latin typeface="Arial"/>
              </a:rPr>
              <a:t>What was actually distributed — releases, posts, pitches 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Outcomes</a:t>
            </a:r>
          </a:p>
          <a:p>
            <a:pPr algn="l">
              <a:spcAft>
                <a:spcPts val="300"/>
              </a:spcAft>
            </a:pPr>
            <a:r>
              <a:rPr sz="1200" b="0">
                <a:solidFill>
                  <a:srgbClr val="5B6372"/>
                </a:solidFill>
                <a:latin typeface="Arial"/>
              </a:rPr>
              <a:t>What the audience did as a result — recall, sentiment shift, enquiries.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a:t>
            </a:r>
          </a:p>
          <a:p>
            <a:pPr algn="l">
              <a:spcAft>
                <a:spcPts val="300"/>
              </a:spcAft>
            </a:pPr>
            <a:r>
              <a:rPr sz="1200" b="0">
                <a:solidFill>
                  <a:srgbClr val="5B6372"/>
                </a:solidFill>
                <a:latin typeface="Arial"/>
              </a:rPr>
              <a:t>The business result — sales lift, reputation recovery — that feeds the next round of objectives.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Two Decades of Tracked Impact, Not Just One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Dove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Unilever's Dove "Real Beauty" campaign is one of the most measured PR campaigns in marketing history — tracked for over 20 years against brand-trust and sales metrics, the same Outcomes-to-Impact discipline an AMEC-style audit asks Nimbus to apply.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It's now two months after the 5th-anniversary relaunch. The Board has seen the KPI dashboard designed in the last activity, and the numbers are mixed: impressions are up sharply, but the "doesn't feel personal anymore" sentiment has only partly recovered, and one retail partner is still hesitant to expand shelf space.</a:t>
            </a:r>
          </a:p>
          <a:p>
            <a:pPr algn="l">
              <a:spcAft>
                <a:spcPts val="800"/>
              </a:spcAft>
            </a:pPr>
            <a:r>
              <a:rPr sz="1450" b="0">
                <a:solidFill>
                  <a:srgbClr val="161B26"/>
                </a:solidFill>
                <a:latin typeface="Arial"/>
              </a:rPr>
              <a:t>The founder wants one final audit before she reports to the Board — not a scorecard of what Nimbus did, but a verdict on whether the relaunch campaign actually worked, and three concrete recommendations for what happens next.</a:t>
            </a:r>
          </a:p>
          <a:p>
            <a:pPr algn="l">
              <a:spcAft>
                <a:spcPts val="800"/>
              </a:spcAft>
            </a:pPr>
            <a:r>
              <a:rPr sz="1450" b="0">
                <a:solidFill>
                  <a:srgbClr val="161B26"/>
                </a:solidFill>
                <a:latin typeface="Arial"/>
              </a:rPr>
              <a:t>This is the same audit the Board will expect Nimbus to repeat after every future campaign — so your table isn't just closing out the relaunch, it's building the habit the brand will run on going forward.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AMEC-based campaign audit (Inputs/Outputs/Outcomes/Impact) with three stage-specific recommendations for the next campaign</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50"/>
                                        <p:tgtEl>
                                          <p:spTgt spid="13"/>
                                        </p:tgtEl>
                                      </p:cBhvr>
                                    </p:animEffect>
                                    <p:anim calcmode="lin" valueType="num">
                                      <p:cBhvr additive="base">
                                        <p:cTn id="4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anim calcmode="lin" valueType="num">
                                      <p:cBhvr additive="base">
                                        <p:cTn id="5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additive="base">
                                        <p:cTn id="6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Run the relaunch campaign through AMEC's Inputs → Outputs → Outcomes → Impact chain — at which stage does the evidence get weakest?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Impressions are up but the "feels personal" sentiment has only partly recovered — is that an Outputs success but an Outcomes failure, or something else?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tell the founder is the single biggest gap between what Nimbus measured and what the Board actually needed to know?</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three recommendations would you make for the next campaign, and which AMEC stage does each one fix?</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wipe dir="l"/>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Looking back across all five LU4 activities, which measurement habit would have caught today's gap earliest — the reputation audit, the brand-health scorecard, or the KPI dashboard?</a:t>
            </a:r>
          </a:p>
          <a:p>
            <a:pPr>
              <a:spcAft>
                <a:spcPts val="900"/>
              </a:spcAft>
            </a:pPr>
            <a:r>
              <a:rPr sz="1450" b="0">
                <a:solidFill>
                  <a:srgbClr val="161B26"/>
                </a:solidFill>
                <a:latin typeface="Arial"/>
              </a:rPr>
              <a:t>•  Did your table's recommendations fix the root cause, or just add another metric to track?</a:t>
            </a:r>
          </a:p>
          <a:p>
            <a:pPr>
              <a:spcAft>
                <a:spcPts val="900"/>
              </a:spcAft>
            </a:pPr>
            <a:r>
              <a:rPr sz="1450" b="0">
                <a:solidFill>
                  <a:srgbClr val="161B26"/>
                </a:solidFill>
                <a:latin typeface="Arial"/>
              </a:rPr>
              <a:t>•  If Nimbus only adopts one habit from this whole course to run every future campaign by, what should it be?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map the relaunch campaign to all four AMEC stages (Inputs, Outputs, Outcomes, Impact), name the weakest stage with evidence, and give three recommendations that each fix a different stage — not three versions of the same idea.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Branding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Platform Reputation Audit</a:t>
            </a:r>
          </a:p>
          <a:p>
            <a:pPr algn="l">
              <a:spcAft>
                <a:spcPts val="300"/>
              </a:spcAft>
            </a:pPr>
            <a:r>
              <a:rPr sz="1200" b="0">
                <a:solidFill>
                  <a:srgbClr val="5B6372"/>
                </a:solidFill>
                <a:latin typeface="Arial"/>
              </a:rPr>
              <a:t>You can now: Identify measures or indicators of the organisation's reputation on different platforms.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Health Assessment</a:t>
            </a:r>
          </a:p>
          <a:p>
            <a:pPr algn="l">
              <a:spcAft>
                <a:spcPts val="300"/>
              </a:spcAft>
            </a:pPr>
            <a:r>
              <a:rPr sz="1200" b="0">
                <a:solidFill>
                  <a:srgbClr val="5B6372"/>
                </a:solidFill>
                <a:latin typeface="Arial"/>
              </a:rPr>
              <a:t>You can now: Recognise the indicators of successful branding.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 Crisis Response Plan</a:t>
            </a:r>
          </a:p>
          <a:p>
            <a:pPr algn="l">
              <a:spcAft>
                <a:spcPts val="300"/>
              </a:spcAft>
            </a:pPr>
            <a:r>
              <a:rPr sz="1200" b="0">
                <a:solidFill>
                  <a:srgbClr val="5B6372"/>
                </a:solidFill>
                <a:latin typeface="Arial"/>
              </a:rPr>
              <a:t>You can now: Apply public-relations tactics.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KPI Dashboard Design</a:t>
            </a:r>
          </a:p>
          <a:p>
            <a:pPr algn="l">
              <a:spcAft>
                <a:spcPts val="300"/>
              </a:spcAft>
            </a:pPr>
            <a:r>
              <a:rPr sz="1200" b="0">
                <a:solidFill>
                  <a:srgbClr val="5B6372"/>
                </a:solidFill>
                <a:latin typeface="Arial"/>
              </a:rPr>
              <a:t>You can now: Monitor the success of the brand against Key Performance Indicators (KPI).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 Campaign Audit Exercise</a:t>
            </a:r>
          </a:p>
          <a:p>
            <a:pPr algn="l">
              <a:spcAft>
                <a:spcPts val="300"/>
              </a:spcAft>
            </a:pPr>
            <a:r>
              <a:rPr sz="1200" b="0">
                <a:solidFill>
                  <a:srgbClr val="5B6372"/>
                </a:solidFill>
                <a:latin typeface="Arial"/>
              </a:rPr>
              <a:t>You can now: Provide suggestions to improve public-relations campaign effectiveness.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LU4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gets measured against a SMART target gets improved. Everything else just gets opinions.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LU4: Branding Effectiveness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zoom/>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Customer-Centric Branding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8" name="TextBox 7"/>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Map Before You Message</a:t>
            </a:r>
          </a:p>
        </p:txBody>
      </p:sp>
      <p:sp>
        <p:nvSpPr>
          <p:cNvPr id="9" name="TextBox 8"/>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Know every stakeholder's real power, interest and concern before you speak to them (LU1).</a:t>
            </a:r>
          </a:p>
        </p:txBody>
      </p:sp>
      <p:sp>
        <p:nvSpPr>
          <p:cNvPr id="10" name="TextBox 9"/>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1" name="TextBox 10"/>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Listen Before You Assume</a:t>
            </a:r>
          </a:p>
        </p:txBody>
      </p:sp>
      <p:sp>
        <p:nvSpPr>
          <p:cNvPr id="12" name="TextBox 11"/>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Capture the actual customer perception gap through active listening, not internal belief (LU2).</a:t>
            </a:r>
          </a:p>
        </p:txBody>
      </p:sp>
      <p:sp>
        <p:nvSpPr>
          <p:cNvPr id="13" name="TextBox 12"/>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4" name="TextBox 13"/>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Brand Before You Campaign</a:t>
            </a:r>
          </a:p>
        </p:txBody>
      </p:sp>
      <p:sp>
        <p:nvSpPr>
          <p:cNvPr id="15" name="TextBox 14"/>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Anchor every awareness and PR activity to one consistent brand positioning (LU3).</a:t>
            </a:r>
          </a:p>
        </p:txBody>
      </p:sp>
      <p:sp>
        <p:nvSpPr>
          <p:cNvPr id="16" name="TextBox 15"/>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7" name="TextBox 16"/>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Measure to Improve</a:t>
            </a:r>
          </a:p>
        </p:txBody>
      </p:sp>
      <p:sp>
        <p:nvSpPr>
          <p:cNvPr id="18" name="TextBox 17"/>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Track reputation against SMART KPIs and treat every gap as the next action (LU4).</a:t>
            </a:r>
          </a:p>
        </p:txBody>
      </p:sp>
      <p:sp>
        <p:nvSpPr>
          <p:cNvPr id="19" name="Rectangle 18"/>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Trust cannot be retrofitted after the relaunch. It has to be engineered into every stakeholder, every customer conversation, every campaign and every KPI along the way.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Stakeholders &amp; Organisation</a:t>
            </a:r>
          </a:p>
          <a:p>
            <a:pPr algn="l">
              <a:spcAft>
                <a:spcPts val="300"/>
              </a:spcAft>
            </a:pPr>
            <a:r>
              <a:rPr sz="1300" b="0">
                <a:solidFill>
                  <a:srgbClr val="5B6372"/>
                </a:solidFill>
                <a:latin typeface="Arial"/>
              </a:rPr>
              <a:t>Mapped stakeholders and audiences; drafted brand designs and reputation assessments.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Customer Influence</a:t>
            </a:r>
          </a:p>
          <a:p>
            <a:pPr algn="l">
              <a:spcAft>
                <a:spcPts val="300"/>
              </a:spcAft>
            </a:pPr>
            <a:r>
              <a:rPr sz="1300" b="0">
                <a:solidFill>
                  <a:srgbClr val="5B6372"/>
                </a:solidFill>
                <a:latin typeface="Arial"/>
              </a:rPr>
              <a:t>Captured and documented customer perception through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in Marketing</a:t>
            </a:r>
          </a:p>
          <a:p>
            <a:pPr algn="l">
              <a:spcAft>
                <a:spcPts val="300"/>
              </a:spcAft>
            </a:pPr>
            <a:r>
              <a:rPr sz="1300" b="0">
                <a:solidFill>
                  <a:srgbClr val="5B6372"/>
                </a:solidFill>
                <a:latin typeface="Arial"/>
              </a:rPr>
              <a:t>Executed branding and PR campaigns aligned to strategy, plan and budget.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Effectiveness</a:t>
            </a:r>
          </a:p>
          <a:p>
            <a:pPr algn="l">
              <a:spcAft>
                <a:spcPts val="300"/>
              </a:spcAft>
            </a:pPr>
            <a:r>
              <a:rPr sz="1300" b="0">
                <a:solidFill>
                  <a:srgbClr val="5B6372"/>
                </a:solidFill>
                <a:latin typeface="Arial"/>
              </a:rPr>
              <a:t>Measured reputation and PR performance against KPIs and proposed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SAQ — 1 hour, open book.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1 hour, open 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66390"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48148"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 (SAQ) then the Case Study — open book</a:t>
            </a:r>
          </a:p>
        </p:txBody>
      </p:sp>
      <p:sp>
        <p:nvSpPr>
          <p:cNvPr id="24" name="TextBox 23"/>
          <p:cNvSpPr txBox="1"/>
          <p:nvPr/>
        </p:nvSpPr>
        <p:spPr>
          <a:xfrm>
            <a:off x="7029906"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211664"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equipped to build customer-centric brand communication that earns trust and drives results.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