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784080" y="658368"/>
            <a:ext cx="16916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0" y="822960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WSQ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188720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COURSE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  ·  WSQ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Customer-Centric Branding and Communication Tactics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34340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61772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TGS-2026061321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 v1  ·  20 July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63640"/>
            <a:ext cx="109728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It is mandatory to take the AM, PM and Assessment digital attendance for WSQ-funded courses.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The trainer/administrator displays the digital attendance QR code from the SSG portal.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Scan the QR code with your mobile phone camera and submit your attendance.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A minimum of 75% attendance is required to be eligible for assessment and funding.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General Trainer template —
to be completed by the trainer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[Trainer Name]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
Tertiary Infotech Academy Pte. Ltd.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CERTIFICATION / CREDENTIALS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courses on customer-centric branding &amp; communication.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Your name and organisation / role.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Your experience with branding, marketing or communications (if any).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A brand you personally admire — and why it works on you.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Actively participate — no question is too small.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Respect each other's views: agree to disagree.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75% attendance is required for funding eligibility.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ACCREDITATION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Skills Framework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TSC Title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Brand Management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TSC Code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ICT-SNM-3002-1.1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Proficiency Level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Level 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Structure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4 Learning Units (LU1–LU4), each mapped to a Learning Outcome.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4 LEARNING UNITS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LU1 — Stakeholders and Organisation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Internal &amp; External Stakeholders · Audience Types · Brand Design · Reputation Assessment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LU2 — Customer Influence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Customer Perceptions · Brand Reputation · Campaign Reception · Active Listening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LU3 — Branding in Marketing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Branding Basics · Role in Marketing · Awareness Campaigns · PR Execution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LU4 — Branding Effectiveness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Reputation Metrics · Success Indicators · PR Tactics · KPI Monitoring · Continuous Improvement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— 2 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Day 2 &amp; Assessment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1 — Stakeholders, Customer Influence &amp; Branding in Marketing (starts)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LU1: Stakeholders and Organisation (Activities 1–4)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LU2: Customer Influence (Activities 5–8)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LU3: Branding in Marketing — begins (Activities 9–12)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2 — Branding in Marketing (cont'd), Branding Effectiveness &amp; Assessment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LU3: Branding in Marketing — continued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LU4: Branding Effectiveness (Activities 13–17)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Assessment: WA (1h) + Case Study (1h), 4:00–6:00pm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Daily timing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Day 1: 9:30am–6:30pm, 1-hour lunch. Day 2: 9:30am–6:00pm, 45-min lunch (to fit the assessment).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Stakeholders &amp; Organisation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Identify stakeholders/audiences and draft branding designs &amp; reputation assessments.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Customer Influence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Capture and analyse customer insight through active listening.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Branding in Marketing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Execute branding campaigns, events and PR activities that build awareness.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Branding Effectiveness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Evaluate reputation and PR performance against KPIs and recommend improvements.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Place phones and other materials under the table or on the floor.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No photos or recording of assessment scripts.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No discussion during the assessment.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Use a black/blue pen for hard-copy assessments.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No liquid paper / correction tape.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Scripts are collected when time is 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Written Assessment (WA) — Short-Answer Questions (SAQ), 1 hour, open book.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Case Study (CS) — one continuous branding scenario with open-ended tasks, 1 hour, open book.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Format: Open Book — slides, Learner Guide and approved materials only.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A minimum of 75% attendance (per SSG Digital Attendance record) is required to be eligible for assessment and funding. Learners must be assessed as Competent and complete the TRAQOM survey.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An appeal process is available if required.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(SAQ) then the Case Study —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Courseware &amp; Assessment on the 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Access your course materials, attendance and assessment on the LMS/TMS portal.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Portal: https://lms-tms.tertiaryinfotech.com/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Download the slides and Learner Guide for reference during the open-book assessment.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LU1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Stakeholders and Organisation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Internal &amp; External Stakeholders · Audience Types · Brand Design · Reputation Assessment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LU1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In-Class Activities — Stakeholders and Organisation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663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1663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4709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Activities 1–2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4709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Stakeholder Influence Mapping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Audience Mapping Workshop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5352" y="1783080"/>
            <a:ext cx="51663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5352" y="1783080"/>
            <a:ext cx="51663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2011680"/>
            <a:ext cx="4709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Activities 3–4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2697480"/>
            <a:ext cx="4709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Brand Attribute Mapping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Digital Reputation Audit Exercise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Internal and external stakeholders influencing the brand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LO1 · LU1 · T1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What is Internal and external stakeholders influencing the brand?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Internal Power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Direct brand influence through operations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External Impact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Market-driven perception and revenue influence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Stakeholder Mapping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Strategic categorisation by interest and influence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Message Alignment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Consistent communication across all groups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Brand Stakeholders Guide,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T1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Stakeholder Management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214884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1488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2880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Identify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Map all relevant stakeholder groups across the organisation.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9184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29184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61188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29184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Map Influence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Assess each group's power and decision-making authority.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75488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75488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507492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074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75488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Assess Interests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Understand their motivations and brand expectations.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LSA Global, 2024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T1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Internal vs External Stakeholder Approaches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Internal — Pros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External — Considerations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Direct Involvement — company operations and decisions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Immediate Buy-in — understanding company goals clearly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Goal Understanding — clear brand vision alignment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Indirect Influence — outside business operations impact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Customer-Driven — revenue and reputation focus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Market Perception — public brand image management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Internal vs External Stakeholders Guide, Miro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T1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Stakeholder Distribution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Internal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60152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45%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External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5070856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1336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35%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Hybrid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2897632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38112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Stakeholder Analysis, Miro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T1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Stakeholder Success Factors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Early Involvement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Increase ownership and commitment levels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Message Consistency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Align internal and external communications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Feedback Loops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Two-way communication and advisory systems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Reputation Gap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Prevent internal-external perception misalignment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Internal and External Communication,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LO1 · LU1 · T1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Stakeholder Influence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Your company is launching a new sustainability initiative. Map internal and external stakeholders, assess their influence levels, and design engagement strategies for each group.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stakeholder influence matrix (12 stakeholders) with an engagement strategy for each group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25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Stakeholder Influence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List 6 internal and 6 external stakeholders for the sustainability initiative.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Stakeholder Influence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Rate each stakeholder's influence on a 1–5 scale.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Stakeholder Influence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Identify each stakeholder's primary brand concern.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Stakeholder Influence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Design a specific communication approach for each group.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Stakeholder Influence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a completed stakeholder influence matrix with an engagement strategy for every stakeholder — the trainer checks that internal and external groups are both represented and that each strategy matches the stakeholder's stated concern.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Types of external audience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LO1 · LU1 · T2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Types of external audience?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Customers — prospects and loyal brand advocates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Partners — business collaborators and suppliers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Investors — financial stakeholders and shareholders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Media — press and communication channels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Trust Insights, 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T2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Audience Analysis Framework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196596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659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2880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Identify Segments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Map the primary audience groups.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2608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26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06324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063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292608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Analyse Demographics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Age, gender, education and other hard factors.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2336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2336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16052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1605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02336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Study Psychographics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Values, attitudes and beliefs that drive behaviour.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12064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12064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51560" y="52578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2578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512064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Map Preferences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communication channels each segment actually uses.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Research synthesis,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T2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B2C vs B2B Audience Approaches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B2C — Consumers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B2B — Organisations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Emotion Driven — feeling-based purchase decisions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Broad Reach — mass-market targeting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Quick Decisions — impulse purchase patterns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Logic Driven — data-based purchase decisions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Targeted Approach — niche market focus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Long Process — extended, multi-stakeholder buying cycles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Research synthesis,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T2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Audience Distribution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Customers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60152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40%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Partners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4074795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15275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25%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Investors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3259836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00316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91456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Media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03320" y="5009083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03320" y="5009083"/>
            <a:ext cx="2444877" cy="34198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5357" y="4791456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Trust Insights, 2024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T2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Implementation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Segment First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Split the audience before writing a single message.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Research Deep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Go beyond demographics into values and motivations.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Message Match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Tailor the benefit emphasised to each segment.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Monitor Always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Audience needs shift — revisit the segmentation regularly.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Best practices synthesis,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LO1 · LU1 · T2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Audience Mapping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Your company is launching a new sustainability product line. Map external audiences and develop targeted messaging strategies for each segment.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An audience mapping matrix covering 4 external segments with tailored messaging and channels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25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Audience Mapping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Identify four primary external audience segments for the product.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Audience Mapping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Research the demographic and psychographic profile of each segment.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Audience Mapping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a tailored key message for each segment, emphasising the relevant benefit.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Audience Mapping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Select the appropriate communication channel(s) for each audience.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Audience Mapping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Present the audience mapping matrix with its messaging strategy.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2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Audience Mapping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a comprehensive audience-analysis matrix with segment profiles and a customised communication plan per segment.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Draft branding designs and ideas highlighting the product or service's attributes and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LO1 · LU1 · T3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What is Draft branding designs and ideas highlighting the product or service's attributes and benefits?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Strategy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Define unique selling proposition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Visual Identity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Create a recognisable design system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Value Communication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Translate features into benefits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Consistency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Maintain a unified brand experience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Duck Design, SmashBrand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T3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Systematic Brand Development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214884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1488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2880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Define Strategy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Establish the brand positioning framework.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9184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29184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61188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29184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Research Industry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Analyse competitors and the target audience.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75488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75488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507492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074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75488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Identify Attributes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Define the hard and soft characteristics to lead with.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Clay Global, SmashBrand 2024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T3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Hard vs Soft Brand Attributes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Hard Attributes —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Soft Attributes — Feelings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Performance — quantifiable product capabilities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Features — specific functional elements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Quality — measurable build standards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Prestige — perceived status and luxury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Trust — reliability and confidence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Innovation — forward-thinking brand perception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Clay Global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T3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Visual Brand Impact Statistics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Visual Impact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60152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85%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Soft Attributes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4602121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42601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60%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Hard Attributes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3068080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8560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40%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Duck Design, Clay Global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T3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Visual Identity System Components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Primary Elements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foundation visual components of the identity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Logo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primary brand mark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Colour Palette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brand's colour system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Typography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font family selection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Executive's Guide to Service Brand Strategy,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LO1 · LU1 · T3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Attribute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Design a brand identity for a new fitness app targeting busy professionals, mapping both hard attributes (features) and soft attributes (lifestyle benefits) into a compelling visual concept.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brand attribute map (3 hard + 3 soft attributes), a mood board and a logo concept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30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Attribute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List 3 hard attributes and 3 soft attributes for the fitness app.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Attribute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a visual mood board that represents the brand personality.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Attribute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Design a logo concept that incorporates the key attributes.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Attribute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Present a brand narrative that connects the features to the benefits.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3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Attribute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complete brand attribute map alongside the visual concept, showing a clear line from each hard attribute to the soft benefit it supports.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Assess organisation's reputation on social media and other platforms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LO1 · LU1 · T4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54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What is Assess organisation's reputation on social media and other platforms?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Monitoring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Track mentions across digital platforms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Sentiment Analysis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Analyse customer feedback patterns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Multi-Platform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Coverage of social and review sites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Strategic Response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Data-driven brand improvement actions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Sprout Social,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T4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Reputation Assessment Process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214884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1488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2880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Conduct Audit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Review the organisation's current digital presence.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9184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29184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61188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29184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Set Monitoring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Implement tracking systems across the chosen platforms.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75488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75488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507492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074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75488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Analyse Sentiment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Evaluate the tone of customer feedback.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Multiple industry frameworks, 2024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T4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Reactive vs Proactive Reputation Monitoring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Reactive Approach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Proactive Approach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Damage Control — crisis-response focus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Post-Issue — action only after problems occur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High Risk — potential reputation damage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Prevention Focus — early issue identification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Continuous Tracking — ongoing brand monitoring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Risk Mitigation — preventive reputation protection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Industry best practices,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T4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Platform Distribution Statistics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Google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60152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38%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Facebook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60152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38%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Other Platforms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4117687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8167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24%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Sprout Social,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LU1 · T4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Assessment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Platform Focus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Prioritise Google and Facebook monitoring first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Quarterly Reviews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Run regular strategy-assessment cycles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Three Perspectives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Weigh employee, customer and corporate viewpoints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Response Protocol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Follow a strategic engagement framework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Comprehensive research synthesis,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LO1 · LU1 · T4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Reputation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Your organisation has received mixed customer feedback across social platforms. Conduct a reputation assessment to identify improvement opportunities and develop an action plan.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reputation-assessment report covering 3 platforms with sentiment breakdown and an action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45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Reputation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Select three platforms (e.g. Google, Facebook, one competitor platform).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Reputation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Document 10 recent mentions/reviews per platform.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Reputation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Categorise each piece of feedback as positive, neutral or negative.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Reputation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Identify three recurring themes or issues across the feedback.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LU1 · ACTIVITY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Reputation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Develop a targeted response strategy for each theme.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4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Reputation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reputation-assessment report — platform-by-platform analysis, an overall sentiment breakdown, the three key themes, and a strategic recommendation for 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LU1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Stakeholders and Organisation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Stakeholder Influence Mapping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Identify internal and external stakeholders influencing the brand.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Audience Mapping Workshop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Recognise the types of external audience and their needs.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Attribute Mapping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Draft branding designs and ideas highlighting the product or service's attributes and benefits.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Digital Reputation Audit Exercise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Assess the organisation's reputation on social media and other platforms.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LU2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Customer Influence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Customer Perceptions · Brand Reputation · Campaign Reception · Active Listening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LU2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In-Class Activities — Customer Influence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663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1663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4709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Activities 5–6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4709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Brand Perception Audit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Brand Advocacy Assessment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5352" y="1783080"/>
            <a:ext cx="51663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5352" y="1783080"/>
            <a:ext cx="51663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2011680"/>
            <a:ext cx="4709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Activities 7–8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2697480"/>
            <a:ext cx="4709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Campaign Documentation Audit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Customer Perspective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Perceptions of customers of the brand, products and services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LO2 · LU2 · T1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70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What is Perceptions of customers of the brand, products and services?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Product View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Customer attitudes toward offerings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Identity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Customer understanding of brand values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Service Quality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Perceived value of interactions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Perception Gap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Difference between reality and belief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Qualtrics,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T1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Perception Management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196596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659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2880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Gather Feedback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Collect systematic customer input, not just anecdotes.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2608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26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06324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063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292608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Analyse Gaps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Identify where perception differs from reality.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2336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2336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16052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1605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02336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Align Values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Match delivery to customer expectations.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12064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12064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51560" y="52578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2578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512064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Deliver Quality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Make the brand experience consistent, every time.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Brand enhancement strategies,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T1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Technical Quality vs Value Quality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Technical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Value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Specifications — what the product objectively does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Performance — how reliably it does it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Reliability — consistency over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Brand Image — how the brand is perceived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Perception — the customer's subjective read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Experience — how it feels to interact with the brand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Academic Framework, 2019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T1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Perception Gap Reality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Companies Believe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60152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54.1%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Service Purchase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4880715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21195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40.5%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Customers Agree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650762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1242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5.4%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Qualtrics &amp; Zendesk,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T1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Perception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Close the Gap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Act on the difference between belief and reality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Measure Quality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Track both technical and value quality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Monitor Feedback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Make feedback collection continuous, not one-off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Build Loyalty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Closing the gap is what earns long-term loyalty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Customer perception best practices,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LO2 · LU2 · T1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Perception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Your company recently received mixed customer reviews. Management believes service quality is excellent, but customer-satisfaction scores are declining. Conduct a perception audit to identify the gaps.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perception-gap analysis report comparing internal quality metrics with customer feedback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25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Perception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Survey 20 recent customers about their service experience.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Perception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Compare internal quality metrics with the customer feedback.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Perception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Identify the top 3 perception gaps.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Perception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Develop an action plan to address the gaps.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5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Perception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perception-gap analysis report with improvement recommendations for each of the top 3 gaps.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Importance of the customer in influencing the brand reputation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LO2 · LU2 · T2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82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What is Importance of the customer in influencing the brand reputation?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Trust Factor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Personal recommendations drive purchase decisions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Viral Spread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Positive experiences multiply through networks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Digital Voice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Online reviews equal family recommendations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Reputation Control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Customers actively shape the brand image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WebFX, Digital Silk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T2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Customer Advocacy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214884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1488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2880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Experience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customer interacts with the brand.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9184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29184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61188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29184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Evaluate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customer forms an emotional connection — or doesn't.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75488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75488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507492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074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75488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Share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customer tells others about the experience.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Nestify Marketing Insights, 2024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T2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Positive vs Negative Word-of-Mouth Impact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Positive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Negative Experience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Recommendation — 36% recommend within two weeks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Emotional Bond — 3x more word-of-mouth generated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Trust Building — builds lasting brand loyalty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Share Bad — 45% share negative experiences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Brand Avoidance — 26% completely avoid the brand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Reputation Damage — long-term perception harm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Trustmary, WiserReview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T2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Word-of-Mouth Impact Statistics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Trust WOM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60152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88%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Share Good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5334277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74757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72%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Purchase Factor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5482451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2931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74%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91456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Review Trust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03320" y="5009083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03320" y="5009083"/>
            <a:ext cx="6075148" cy="34198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15628" y="4791456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82%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Buyapowa, WebFX 2024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T2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Advocacy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Trust Priority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Personal recommendation beats any paid 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Amplification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Happy customers multiply the brand's reach for free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Digital Equality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Online reviews now carry the weight of word-of-mouth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Strategic Asset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Advocacy is a channel to invest in, not a happy accident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Compiled Research,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LO2 · LU2 · T2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Advocacy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Your company recently received mixed reviews online. As brand manager, analyse customer feedback and develop an advocacy strategy to improve brand reputation through existing satisfied customers.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customer-advocacy strategy document with target impact metrics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25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Advocacy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Review the provided customer feedback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Advocacy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Identify satisfied customers for the advocacy programme.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Advocacy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Design an advocacy campaign that leverages their positive experiences.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Advocacy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Present the strategy together with its expected impact metrics.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6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Advocacy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a comprehensive advocacy strategy document with named target metrics and how they will be tracked.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Document customer reception to brand and outcome of branding campaigns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LO2 · LU2 · T3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94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What is Document customer reception to brand and outcome of branding campaigns?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Feedback Collection — systematic recording of customer responses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Campaign Metrics — measuring effectiveness through customer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Analysis Systems — documentation frameworks for brand reception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Outcome Tracking — recording measurable campaign results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Multiple branding studies, 2024-2026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T3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Documentation Process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214884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1488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2880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Define Metrics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Establish the measurement criteria up front.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9184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29184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61188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29184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Collect Feedback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Gather the customer-response data systematically.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75488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75488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507492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074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75488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Analyse Data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Process the collected information into findings.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Marketing campaign best practices, 2024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T3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Traditional vs Modern Documentation Approaches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Traditional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Modern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Manual Surveys — paper-based feedback collection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Basic Analytics — simple metrics and reporting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Delayed Insights — weekly or monthly reporting cycles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Real-Time Monitoring — instant sentiment tracking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AI Insights — automated pattern recognition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Predictive Analytics — trend forecasting capability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Marketing technology evolution studies,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T3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Performance Statistics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Trust Impact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Builds confidence in the brand's promises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Loyalty Rate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Drives repeat engagement with the brand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Repeat Spending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Increases customer lifetime value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Revenue Growth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Converts documented reception into business results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Fit Small Business 2024, Wiser Review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T3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Documentation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Systematic Collection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a structured feedback-gathering process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Real-Time Analytics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Monitor responses as they happen, not after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Comprehensive Metrics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Track more than one measurement dimension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Continuous Optimisation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Feed findings back into the next campaign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Comprehensive branding research, 2024-2026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LO2 · LU2 · T3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Campaign Documentation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Your company launched a new product branding campaign three months ago. Management needs a documentation report on customer reception and campaign outcomes to inform future marketing investment.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structured campaign-reception report with metrics, analysis and optimisation recommendations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25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Campaign Documentation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Identify three key metrics from the campaign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Campaign Documentation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Analyse customer feedback patterns and sentiment trends.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Campaign Documentation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a documentation framework for ongoing measurement.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Campaign Documentation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Present the findings with actionable recommendations.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7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Campaign Documentation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structured campaign-reception report, including the documentation framework that will be reused for the next campaign.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Perform active listening from customer to understand customer's perspective of the organisation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LO2 · LU2 · T4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106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What is Perform active listening from customer to understand customer's perspective of the organisation?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Full Attention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Eliminate distractions during customer interactions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3 P's Framework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Presence, Patience, and Paraphrasing approach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Emotion Focus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Understanding the feelings behind customer words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Strategic Insight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Gather valuable customer perception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Active Listening in Customer Service,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T4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Active Listening Implementation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196596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659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2880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Eliminate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Remove all distractions completely before you start.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2608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26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06324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063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292608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Focus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Give the customer your full attention.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2336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2336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16052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1605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02336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Receive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Gather all the information actively — don't half-listen.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12064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12064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51560" y="52578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2578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512064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Interpret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Understand the customer's perspective deeply, not just their words.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Comprehensive Overview of Active Listening Framework,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T4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Traditional Hearing vs Active Listening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Hearing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Active Listening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Word Focus — hearing the words only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Response Ready — focused on preparing a reply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Surface Level — misses the emotional 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Emotion Focus — understanding the feelings behind the words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Perspective — the customer's viewpoint comes first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Deep Insight — complete situational understanding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Build Stronger Customer Relationships,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T4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Key Statistics on Customer Satisfaction and Active Listening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Feel Understood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405291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5771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56%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Want Skills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60152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57%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Loyalty Boost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171570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12050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1.5%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91456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Churn Reduction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03320" y="5009083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03320" y="5009083"/>
            <a:ext cx="1715703" cy="34198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6183" y="4791456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CPD Online, Industry Research, 2024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LU2 · T4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Takeaways for Active Customer Listening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Framework Use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Apply the 3 P's consistently, not just when it's easy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Emotion Focus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Prioritise feelings over the literal words used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No Prejudgment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Understand the customer without assuming the answer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Strategic Value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Turn each insight into a concrete business action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Multiple Research Sources,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LO2 · LU2 · T4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Customer Perspective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 receive a complaint from a long-term customer expressing frustration about recent service changes. They say they feel 'unheard' and 'unimportant' to your organisation.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completed customer-perspective analysis report with actionable insights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25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Customer Perspective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Apply the 3 P's framework — Presence, Patience, Paraphrasing — during the conversation.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Customer Perspective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Identify the emotions behind the customer's specific words.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Customer Perspective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Paraphrase the customer's perspective back to them without judgement.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LU2 · ACTIVITY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Customer Perspective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Document the insights for strategic decision-making.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8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Customer Perspective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completed customer-perspective analysis report — the trainer checks that the emotion behind the words (not just the words) is captured, and that the insight is actionable.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LU2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Customer Influence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Perception Audit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Assess customer perceptions of the brand, products and services.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Advocacy Assessment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Recognise the importance of the customer in influencing brand reputation.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Campaign Documentation Audit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Document customer reception to the brand and the outcome of branding campaigns.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Customer Perspective Analysis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Perform active listening from the customer to understand the customer's perspective of the organisation.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LU3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Branding in Marketing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Branding Basics · Role in Marketing · Awareness Campaigns · PR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LU3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In-Class Activities — Branding in Marketing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663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51663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4709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Activities 9–10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4709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Brand Audit Workshop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Brand-Marketing Audit Exercise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5352" y="1783080"/>
            <a:ext cx="51663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5352" y="1783080"/>
            <a:ext cx="51663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2011680"/>
            <a:ext cx="4709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Activities 11–12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2697480"/>
            <a:ext cx="4709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Brand Activation Planning Workshop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PR Campaign Budget Planning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Basics in branding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LO3 · LU3 · T1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121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Basics in branding?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Visual Identity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Logo, colours, and typography design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Values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Mission, vision, and core principles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Voice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Consistent communication style and tone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Guidelines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Standards manual for consistent application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Shopify, 2025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T1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Development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214884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1488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2880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Define Mission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Establish the brand's purpose and core values.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9184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29184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61188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29184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Create Visual ID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Design the logo and colour palette.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75488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75488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507492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074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75488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Develop Guidelines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Document the standards and specifications.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Business Gateway, 2024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T1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Consistent vs Inconsistent Branding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Consistent Brand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Inconsistent Brand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Revenue Boost — 33% higher financial performance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Recognition — 80% increase with colour consistency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Trust Building — stronger consumer confidence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Lower Trust — reduced consumer confidence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Weak Recognition — confused brand identity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Market Confusion — unclear value proposition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WiserReview,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T1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Impact Statistics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Trust Required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5618015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58495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81%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Value Authenticity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6103522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44002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88%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Recommend Brands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60152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94%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91456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Revenue Increase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03320" y="5009083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03320" y="5009083"/>
            <a:ext cx="2288821" cy="34198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9301" y="4791456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33%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WiserReview 2026, WebFX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T1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Branding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Consistency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unified presentation across every touchpoint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Authenticity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Genuine brand values and messaging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Recognition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memorable visual and verbal identity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Trust Building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reliably delivered brand experience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Multiple branding studies, 2025-2026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LO3 · LU3 · T1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Audit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 are consulting for a local restaurant with inconsistent branding across their website, social media, and physical location. The owner wants to understand how to create unified brand guidelines.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brand-guidelines document — visual standards, voice guidelines and an implementation roadmap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30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Audit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Analyse the current brand touchpoints and identify inconsistencies.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Audit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Define the core brand values and a mission statement.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Audit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visual identity specifications — logo and colours.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Audit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Develop brand-voice guidelines for customer communication.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Audit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Design an implementation plan with specific application examples.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9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Audit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comprehensive brand-guidelines document — visual standards, voice guidelines, and the implementation roadmap.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Role of branding in marketing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LO3 · LU3 · T2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134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Role of branding in marketing?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Identity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Creates unique recognition and values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Trust Building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Establishes consumer confidence and loyalty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Differentiation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Separates from competitors effectively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Emotional Connection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Builds lasting customer relationships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What is Branding? Understanding Its Importance,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T2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Brand-Marketing Integration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196596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659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2880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Define Identity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Establish the brand's purpose and values.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2608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26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06324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063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292608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Align Objectives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Match brand goals with marketing objectives.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2336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2336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16052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1605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02336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Create Messaging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Develop a consistent brand voice.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12064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12064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51560" y="52578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2578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512064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Go Multi-Channel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Implement that voice across every touchpoint.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The Role of Branding in Digital Marketing,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T2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Traditional Marketing vs Brand Marketing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Traditional Marketing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Brand Marketing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Product Focus — sells features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Short-term — campaign by campaign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Transactional — one purchase at a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Identity Focus — sells what the brand stands for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Long-term — builds equity over years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Emotional — builds a relationship with the customer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What is brand marketing? A complete guide,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T2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Consumer Trust and Loyalty Impact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Trust Required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5867704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08184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34.2%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Loyalty Impact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60152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38%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Spend More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3105422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5902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18.1%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91456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Revenue Boost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03320" y="5009083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03320" y="5009083"/>
            <a:ext cx="1664232" cy="34198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04712" y="4791456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9.7%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WiserNotify 2026, Huddle Creative 2024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T2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Equity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Equity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total value the brand adds beyond the product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Awareness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Recognition and recall strength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Loyalty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Customer retention and advocacy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Measurable Impact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Equity shows up directly in revenue and trust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Multiple sources synthesis, 2024-2026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LO3 · LU3 · T2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Brand-Marketing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 are a marketing manager evaluating how well your company's current marketing campaigns align with brand identity. Select a real company and analyse one of their recent marketing campaigns.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brand-audit report with a consistency assessment and recommendations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20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Brand-Marketing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Choose a brand and identify its core identity elements.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141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Brand-Marketing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Analyse one recent marketing campaign for brand consistency.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142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Brand-Marketing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Evaluate the alignment between the brand messaging and the campaign goals.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143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Brand-Marketing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Identify gaps and propose improvements for better integration.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144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10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Brand-Marketing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brand-audit report with a consistency assessment score and concrete recommendations.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145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Execute branding campaigns, events and activities to increase brand awareness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LO3 · LU3 · T3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146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What is Execute branding campaigns, events and activities to increase brand awareness?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Campaign Planning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Multi-channel strategy development process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Event Activation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Experiential marketing through interactive experiences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Channel Coordination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Consistent messaging across all platforms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Performance Measurement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Brand recall and recognition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Brand Research,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147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T3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Campaign Execution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196596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659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2880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Define Audience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Identify the target demographics precisely.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2608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26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06324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063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292608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Core Message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Develop the unique selling proposition.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2336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2336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16052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1605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02336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Channel Selection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Choose the optimal marketing platforms.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12064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12064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51560" y="52578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2578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512064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Visual Consistency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Create unified brand assets across channels.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Marketing Research,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148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T3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Traditional vs Experiential Marketing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Traditional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Experiential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Print Media — newspaper and magazine placement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Radio Spots — audio commercial broadcasts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TV Commercials — television advertisement slots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Pop-up Stores — temporary retail experiences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Brand Events — live, interactive activations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Sponsorships — strategic event partnerships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Event Marketing Institute,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149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T3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Campaign Performance Statistics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Social Media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60152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89%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Experiential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5127831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8311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70%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Influencer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4395284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5764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60%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91456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Revenue Boost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03320" y="5009083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03320" y="5009083"/>
            <a:ext cx="1684859" cy="34198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25339" y="4791456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23%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Sprout Social, Event Marketing Institute, 2024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150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T3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Campaign Success Factors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Message Alignment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Connect to the audience's values, not just demographics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Visual Consistency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unified identity across every channel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Interactive Experiences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Give the audience something memorable to do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Measurement Framework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Track brand recall and recognition, not just reach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Marketing Research, Brand Research,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151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LO3 · LU3 · T3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Activation Planning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Your organisation wants to launch a new product line and needs to increase brand awareness by 40% within 6 months. Design a multi-channel campaign that includes both digital and experiential elements.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campaign-strategy document with timeline, budget allocation and success metrics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30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152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Activation Planning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Define the target audience's demographics and psychographics.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153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Activation Planning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Develop a core brand message aligned with the audience's values.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154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Activation Planning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Select 3–4 marketing channels and design consistent visuals across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155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Activation Planning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Plan one experiential event and its supporting digital content.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156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Activation Planning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a measurement framework using brand-recall metrics.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157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11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Activation Planning Workshop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complete campaign-strategy document with timeline, budget allocation and success metrics — the trainer checks the digital and experiential elements are both present and consistent.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158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Execute public relations campaigns in alignment to brand positioning strategies, operational plans and budget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LO3 · LU3 · T4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159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What is Execute public relations campaigns in alignment to brand positioning strategies, operational plans and budget?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Brand Positioning — the foundation for all PR messaging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Operational Plans — structured campaign implementation approach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Budget Management — resource allocation and cost 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Strategic Alignment — an integrated approach to campaign success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PRLab 2026, Cision 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160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T4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Campaign Planning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196596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659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2880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Define Positioning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Establish the unique brand identity behind the campaign.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2608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26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06324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063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292608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Set Objectives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Write clear, measurable campaign goals.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2336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2336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16052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1605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02336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Identify Audiences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Define each target group precisely.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12064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12064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51560" y="52578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2578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512064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Craft Messages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Tailor the content to each audience.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PR Planning Guide,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161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T4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Traditional vs Modern PR Approaches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Traditional PR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Modern PR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One-Way — broadcast messaging only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Limited Metrics — basic measurement capabilities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Static Content — fixed campaign materials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Two-Way — interactive audience engagement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Real-Time Analytics — continuous performance monitoring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Dynamic Content — adaptable campaign elements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Industry Best Practices,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162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T4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Success Factors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Budget Discipline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Ten to twenty percent marketing allocation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Real-Time Monitoring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Continuous performance tracking and adjustment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Strategic Alignment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Consistent brand positioning integration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Measurable Results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Clear success metrics and evaluation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Cision 2024, PRLab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163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LO3 · LU3 · T4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Core Content Framework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Foundation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core positioning elements everything else builds 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Content Pillars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Three to five key themes the PR content returns 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Key Messages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Audience-specific versions of the core message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Voice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consistent tone and style across every release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PRLab,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164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LO3 · LU3 · T4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Campaign Budget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You're the marketing manager for a growth-stage tech company launching a new product. Create a PR campaign budget aligned with the brand positioning strategy.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PR budget proposal with channel allocation and success metrics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25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165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Campaign Budget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Define three core content pillars for the brand.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166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Campaign Budget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Allocate 15% of the marketing budget to PR activities.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167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Campaign Budget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Distribute the PR budget across earned, owned and paid channels.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168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LU3 · ACTIVITY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Campaign Budget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Identify the key performance indicators for measurement.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169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12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Campaign Budget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complete PR budget proposal — channel allocation and the KPIs used to judge success.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170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LU3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Branding in Marketing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Audit Workshop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Explain the basics of branding.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Brand-Marketing Audit Exercise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Explain the role of branding in marketing.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Activation Planning Workshop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Execute branding campaigns, events and activities to increase brand awareness.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 Campaign Budget Planning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Execute public-relations campaigns in alignment to brand positioning strategies, operational plans and budget.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171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LU4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Branding Effectiveness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Reputation Metrics · Success Indicators · PR Tactics · KPI Monitoring · Continuous 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LU4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172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In-Class Activities — Branding Effectiveness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43656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43656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88645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Activities 13–14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88645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Platform Reputation Audit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Brand Health Assessment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22648" y="1783080"/>
            <a:ext cx="3343656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22648" y="1783080"/>
            <a:ext cx="3343656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1248" y="2011680"/>
            <a:ext cx="288645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Activities 15–16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1248" y="2697480"/>
            <a:ext cx="288645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PR Crisis Response Plan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KPI Dashboard Design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68056" y="1783080"/>
            <a:ext cx="3343656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68056" y="1783080"/>
            <a:ext cx="3343656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6656" y="2011680"/>
            <a:ext cx="2886456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Activities 17–17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6656" y="2697480"/>
            <a:ext cx="2886456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PR Campaign Audit Exercise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173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Measures or indicators of organisation's reputation on different platforms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LO4 · LU4 · T1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174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What is Measures or indicators of organisation's reputation on different platforms?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Social Media — followers, engagement, sentiment tracking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Digital Metrics — website traffic, search rankings, mentions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Business KPIs — NPS scores, satisfaction, financial 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Stakeholder Data — customer, employee, investor perceptions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Meltwater, 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175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T1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Reputation Monitoring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196596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659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2880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Set Objectives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Define clear measurement goals up front.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2608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26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06324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063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292608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Monitor Sources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Track multiple data channels, not just 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2336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2336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16052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1605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02336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Analyse Sentiment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Measure the positive/negative tone of the feedback.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12064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12064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51560" y="52578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2578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512064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Track Engagement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Monitor how the audience actually interacts.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Digimind,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176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T1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Traditional vs Modern Reputation Monitoring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Traditional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Modern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Single Channel — limited platform coverage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Reactive — response only after issues occur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Basic Metrics — simple measurement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Multi-Platform — comprehensive cross-channel tracking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Predictive — forecasts stakeholder behaviour patterns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AI Analytics — real-time sentiment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Caliber,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177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T1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Core Indicator Categories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Social Media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327916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8396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33%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Digital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6327916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68396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33%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Business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60152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34%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Meltwater,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178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T1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Reputation Success Factors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Trust Scores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single number to track sentiment over 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Share of Voice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How much of the conversation the brand actually owns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NPS Tracking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Loyalty measured directly from customers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Forecast &amp; Review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the data to anticipate reputation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Reputation Forecast,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179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LO4 · LU4 · T1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Platform Reputation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Your organisation needs to establish reputation monitoring for a new product launch across social media, review sites, and business platforms.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reputation-monitoring framework with defined metrics and tracking systems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20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180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Platform Reputation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Map the stakeholder groups and select 3 key platforms per group.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181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Platform Reputation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Define specific KPIs for the social, digital and business indicators.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182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Platform Reputation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Set up monitoring tools and establish baseline measurements.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183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Platform Reputation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a weekly reporting dashboard showing sentiment trends.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184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13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Platform Reputation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comprehensive reputation-monitoring framework with its metrics and tracking system.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185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Indicators of successful branding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LO4 · LU4 · T2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186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Indicators of successful branding?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Awareness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Recognition and recall measurement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Customer Loyalty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Retention and repeat purchase rates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Financial Impact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Revenue growth and market share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Trust Metrics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Consumer confidence and perception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Brand Health Tracking Best Practices,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187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T2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Measurement Framework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196596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659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2880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Define Metrics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Decide what you're going to track, and why.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2608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26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06324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063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292608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Track Awareness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Measure recognition and recall over time.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2336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2336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16052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1605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02336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Measure Loyalty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Track retention and repeat-purchase rates.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12064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12064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51560" y="52578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2578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512064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Assess Perception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Check whether the brand is seen the way it intends.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Brand Metrics Evaluation Strategy,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188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T2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Traditional vs Digital Brand Measurement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Traditional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Digital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Surveys — customer feedback collection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Focus Groups — qualitative brand perception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Quarterly — periodic assessment cycles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Analytics — real-time performance tracking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Social Media — engagement and sentiment monitoring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Continuous — always-on measurement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How to Measure Branding Success,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189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T2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Brand Performance Statistics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Trust Required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012586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53066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83%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Pay Premium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60152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90%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Try New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6229908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70388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86%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91456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Revenue Boost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03320" y="5009083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03320" y="5009083"/>
            <a:ext cx="2390546" cy="34198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31026" y="4791456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33%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Zippia 2023, G2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190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T2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Health Dimensions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Awareness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Website traffic and social reach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Loyalty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NPS score and retention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Performance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Revenue growth and market share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Continuous Monitoring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Track all three, every month, not just once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Brand Health Tracking,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191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LO4 · LU4 · T2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Health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 are a marketing manager evaluating your company's brand performance using both traditional and digital metrics.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brand-health scorecard with metric definitions, current performance and an improvement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25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192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Health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Select 3 key metrics from the awareness, loyalty and performance categories.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193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Health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Design a measurement approach that combines survey and digital analytics.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194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Health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a monthly tracking dashboard with benchmarks.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195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Health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Present the findings with actionable recommendations.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196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14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Brand Health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brand-health scorecard — metric definitions, current performance and the improvement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197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Public relations tactics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LO4 · LU4 · T3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198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Public relations tactics?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Media Relations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Build journalist partnerships for visibility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Community Outreach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Engage local audiences and stakeholders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Crisis Management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Protect reputation during challenges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Digital Engagement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Social media and online interactions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PR Strategy Essentials,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199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T3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Implementation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196596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659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2880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Target Audience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Identify the stakeholder groups affected.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2608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26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06324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063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292608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Core Messaging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Develop one consistent line of communication.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2336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2336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16052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1605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02336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Media Relationships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Build the journalist connections you'll need.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12064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12064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51560" y="52578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2578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512064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Campaign Execution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Deploy the tactical activities on schedule.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PR Strategy Guide,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200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T3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Traditional vs Modern PR Tactics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Traditional PR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Modern PR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Press Releases — one-directional announcements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Print Media — newspapers and magazines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One-Way Flow — broadcast, no dialogue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Social Media — real-time public conversation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Influencer Partners — trusted third-party voices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Two-Way Dialogue — respond as well as broadcast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PR Best Practices,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201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T3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Journalist Preferences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Press Releases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60152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46.3%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Research Reports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5365000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5480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38.1%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High Pitch Volume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2196692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7172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15.6%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Meltwater Research,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202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T3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Seven PR Categories (Key Four)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External Relations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Public-facing communications overall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Media Relations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Journalist partnerships and pitching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Community Relations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Local stakeholder engagement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Customer Relations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Direct client and customer communication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PR Strategy Essentials,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203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LO4 · LU4 · T3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Crisis Response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Your company faces negative social-media coverage about product-quality issues. Design a comprehensive PR response strategy using the tactics learned.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crisis-communication plan with timelines and responsible parties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25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204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Crisis Response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Identify the affected stakeholder groups and media outlets.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205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Crisis Response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Develop core messaging that addresses the concerns transparently.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206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Crisis Response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a media-outreach plan with personalised pitches.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207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Crisis Response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Design the social-media response and community-engagement plan.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208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Crisis Response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Establish measurement metrics for reputation recovery.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209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15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Crisis Response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complete crisis-communication plan with a timeline and the party responsible for each action.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210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Monitor the success of the brand against Key Performance Indicators (KPI)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LO4 · LU4 · T4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211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What is Monitor the success of the brand against Key Performance Indicators (KPI)?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SMART KPIs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Specific, measurable, attainable, realistic, time-bound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Data Collection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Analytics tools and brand guidelines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Performance Analysis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Interpret trends and changes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Strategic Optimisation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Insights drive brand improvements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Frontify,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212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T4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KPI Monitoring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196596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659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2880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Collect Data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Gather the analytics and brand guidelines.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2608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26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06324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063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292608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Interpret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Analyse the trends and what's changing.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2336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2336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416052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1605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02336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Optimise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Apply the insights to real improvements.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12064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12064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51560" y="525780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2578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5120640"/>
            <a:ext cx="917143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Repeat Monthly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Keep the cycle continuous, not a one-off review.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Frontify,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213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T4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161B26"/>
                </a:solidFill>
                <a:latin typeface="Arial"/>
              </a:rPr>
              <a:t>Brand KPI Categories — Internal vs External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Internal Focus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External Focus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Team Adoption — brand-guideline compliance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Consistency — cross-channel brand alignment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Engagement — internal brand activation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Market Perception — customer brand sentiment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Competitive Position — market-share comparison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Awareness — brand recognition metrics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Frontify,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214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T4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KPI Distribution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Internal KPIs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5433060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73540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50%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External KPIs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5433060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73540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50%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Leading Indicators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4346448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6928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40%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91456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Lagging Indicators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03320" y="5009083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03320" y="5009083"/>
            <a:ext cx="6519672" cy="34198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60152" y="4791456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60%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Frontify &amp; Improvado, 2024-2026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215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T4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KPI Monitoring 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Balanced Mix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Track internal and external metrics together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Monthly Tracking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Review on a regular, not ad hoc, cadence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Strategic Alignment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Every KPI should ladder up to a real objective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Continuous Cycle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Collect, interpret, optimise, repeat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Multiple sources, 2024-2026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216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LO4 · LU4 · T4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KPI Dashboard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Create a brand KPI monitoring framework for a retail company launching new product lines.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complete KPI framework with a tracking schedule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20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217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KPI Dashboard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Select 3 internal and 3 external KPIs.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218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KPI Dashboard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Define the measure, target, data source and frequency for each KPI.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219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KPI Dashboard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Design a monthly tracking dashboard.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220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16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KPI Dashboard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complete KPI framework with its tracking schedule — 3 internal + 3 external KPIs, each with a measure, target, source and frequency.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221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Provide suggestions to improve public relations campaign effectiveness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LO4 · LU4 · T5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8C2D6"/>
                </a:solidFill>
                <a:latin typeface="Arial"/>
              </a:rPr>
              <a:t>Customer-Centric Branding and Communication Tactics  ·  TGS-2026061321  ·  page 222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What is Provide suggestions to improve public relations campaign effectiveness?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Performance Gaps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Identify weaknesses through data analysis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Strategic Planning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Develop measurable objectives and tactics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Media Relations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Build strong journalist partnerships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Content Quality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Create compelling research-backed stories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AMEC Framework,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223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T5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Campaign Optimisation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214884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1488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2880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Set Goals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Define clear, measurable objectives.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9184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29184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361188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29184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Define Audience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Target specific stakeholder segments.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754880"/>
            <a:ext cx="10634472" cy="12801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754880"/>
            <a:ext cx="9144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1560" y="5074920"/>
            <a:ext cx="640080" cy="6400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074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754880"/>
            <a:ext cx="9171432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Create Content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Develop compelling, research-backed stories.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PR Strategy Essentials, 2024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224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T5 · COMPARE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Output Metrics vs Outcome Metrics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Output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Outcome Metrics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Reach — total audience exposure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Impressions — content visibility metrics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Volume — quantity of coverage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Business Impact — revenue and growth correlation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Behaviour Change — audience action and engagement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Quality Metrics — message penetration and sentiment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AMEC Barcelona Principles,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225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T5 · SUPPORTING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Performance Indicators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Message Success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3320" y="2183587"/>
            <a:ext cx="6519672" cy="341985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60152" y="1965960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70%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2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Sentiment Improvement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3125419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03320" y="3125419"/>
            <a:ext cx="5588290" cy="34198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28770" y="2907792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60%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9624"/>
            <a:ext cx="2651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Tier 1 Coverage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4067251"/>
            <a:ext cx="6519672" cy="341985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4067251"/>
            <a:ext cx="2794145" cy="34198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4625" y="3849624"/>
            <a:ext cx="1097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30%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Agility PR &amp; Determ,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226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LO4 · LU4 · T5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Implementation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984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008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Data Analytics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metrics to guide the next decision, not just report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984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008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008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AMEC Framework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Apply an industry-standard measurement approach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05072"/>
            <a:ext cx="91440" cy="19842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7228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Media Quality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Prioritise tier-one relationships over raw volume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05072"/>
            <a:ext cx="5180076" cy="1984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05072"/>
            <a:ext cx="91440" cy="19842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7228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7228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33088"/>
            <a:ext cx="3973068" cy="1801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Regression Analysis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Look for the activity-outcome correlations that matter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263640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Source: Multiple industry sources, 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227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LO4 · LU4 · T5 ·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Campaign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73736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ACTIVITY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Your organisation's recent product-launch campaign achieved 500K impressions but only 15% top-tier coverage and 45% message penetration. Stakeholders are questioning the campaign's business impact.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produce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An improvement proposal with metrics, built using the AMEC measurement framework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2578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Duration:  </a:t>
            </a:r>
            <a:r>
              <a:rPr sz="1300" b="0">
                <a:solidFill>
                  <a:srgbClr val="5B6372"/>
                </a:solidFill>
                <a:latin typeface="Arial"/>
              </a:rPr>
              <a:t>25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228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Campaign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Apply the AMEC framework to identify the performance gaps.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229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Campaign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Develop three strategic recommendations using best practice.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230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LU4 · ACTIVITY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Campaign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86000"/>
            <a:ext cx="1280160" cy="12801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280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923544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0">
                <a:solidFill>
                  <a:srgbClr val="161B26"/>
                </a:solidFill>
                <a:latin typeface="Arial"/>
              </a:rPr>
              <a:t>Create a measurement plan with specific KPIs.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231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17 ·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 Campaign Audit Exercise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Debrief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Present the comprehensive improvement proposal — the three recommendations must each map to a specific gap surfaced by the AMEC analysis.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232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LU4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Branding Effectiveness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Platform Reputation Audit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Identify measures or indicators of the organisation's reputation on different platforms.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Brand Health Assessment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Recognise the indicators of successful branding.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 Crisis Response Plan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Apply public-relations tactics.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KPI Dashboard Design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Monitor the success of the brand against Key Performance Indicators (KPI).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 Campaign Audit Exercise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can now: Provide suggestions to improve public-relations campaign effectiveness.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233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Course Summary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234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Stakeholders &amp; Organisation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Mapped stakeholders and audiences; drafted brand designs and reputation assessments.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Customer Influence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Captured and documented customer perception through active listening.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Branding in Marketing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Executed branding and PR campaigns aligned to strategy, plan and budget.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Branding Effectiveness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Measured reputation and PR performance against KPIs and proposed improvements.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235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Written Assessment (WA, SAQ) — 1 hour.  Case Study (CS) — 1 hour.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Open book: slides, Learner Guide and approved materials only.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Remember to complete the TRAQOM survey and take the Assessment digital attendance (two separate steps).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Submit your completed answers on the LMS at https://lms-tms.tertiaryinfotech.com/.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236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(SAQ) then the Case Study —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237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It is mandatory to take the AM, PM and Assessment digital attendance for WSQ-funded courses.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The trainer/administrator displays the digital attendance QR code from the SSG portal.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Scan the QR code with your mobile phone camera and submit your attendance.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A minimum of 75% attendance is required to be eligible for assessment and funding.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238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SEE YOU AT THE NEXT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You are now equipped to build customer-centric brand communication that earns trust and drives results.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Customer-Centric Branding and Communication Tactics  ·  TGS-2026061321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