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784080" y="658368"/>
            <a:ext cx="16916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82296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18872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Customer-Centric Branding and Communication Tactics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TGS-2026061321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  ·  20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[Trainer 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 / CREDENTIALS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customer-centric branding &amp; communication.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branding, marketing or communications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brand you personally admire — and why it works on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Actively participate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Respect each other's views: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 for funding eligibility.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ACCREDITATION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Brand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ICT-SNM-3002-1.1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Proficiency Level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Level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4 Learning Units (LU1–LU4), each mapped to a Learning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4 LEARNING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LU1 — Stakeholders and Organisation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Internal &amp; External Stakeholders · Audience Types · Brand Design · Reputation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LU2 — Customer Influence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Perceptions · Brand Reputation · Campaign Reception · Active Listening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LU3 — Branding in Marketing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Branding Basics · Role in Marketing · Awareness Campaigns · PR Execution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LU4 — Branding Effectiveness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Reputation Metrics · Success Indicators · PR Tactics · KPI Monitoring ·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&amp;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Stakeholders, Customer Influence &amp; Branding in Marketing (starts)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LU1: Stakeholders and Organisation (Activities 1–4)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LU2: Customer Influence (Activities 5–8)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Branding in Marketing — begins (Activities 9–12)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Branding in Marketing (cont'd), Branding Effectiveness &amp;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Branding in Marketing — continued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LU4: Branding Effectiveness (Activities 13–17)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Assessment: WA (1h) + Case Study (1h), 4:00–6:00pm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Day 1: 9:30am–6:30pm, 1-hour lunch. Day 2: 9:30am–6:00pm, 45-min lunch (to fit the assessment).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Stakeholders &amp; 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stakeholders/audiences and draft branding designs &amp; reputation assessments.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Customer Influence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Capture and analyse customer insight through active listening.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in Marketing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Execute branding campaigns, events and PR activities that build awareness.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reputation and PR performance against KPIs and recommend improvements.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Case Study (CS) — one continuous branding scenario with open-ended tasks,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(per SSG Digital Attendance record) is required to be eligible for assessment and funding. Learners must be assessed as Competent and complete the TRAQOM survey.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the Case Study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Access your course materials, attendance and assessment on the LMS/TMS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Portal: https://lms-tms.tertiaryinfotech.com/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Stakeholders and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Internal &amp; External Stakeholders · Audience Types · Brand Design · Reputation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In-Class Activities — Stakeholders and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Stakeholder Influence Mapping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Audience Mapping Workshop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Attribute Mapping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Reputation Audit Exercise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Internal and external stakeholders influencing the 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Internal and external stakeholders influencing the brand?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Internal Power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brand influence through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Market-driven perception and revenue influence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Stakeholder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Strategic categorisation by interest and influence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communication across all groups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Stakeholders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Distribution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070856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1336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89763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811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Stakeholder Analysis, Miro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is launching a new sustainability initiative. Map internal and external stakeholders, assess their influence levels, and design engagement strategies for each group.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stakeholder influence matrix (12 stakeholders) with an engagement strategy for each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6 internal and 6 external stakeholders for the sustainability initiative.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Rate each stakeholder's influence on a 1–5 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each stakeholder's primary brand concern.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specific communication approach for each group.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completed stakeholder influence matrix with an engagement strategy for every stakeholder — the trainer checks that internal and external groups are both represented and that each strategy matches the stakeholder's stated concern.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Types of external audience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Types of external audience?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Customers — prospects and loyal brand advocates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Partners — business collaborators and suppliers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Investors — financial stakeholders and shareholders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Media — press and communication channels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Distribution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Partners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074795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5275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Investors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259836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316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444877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5357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is launching a new sustainability product line. Map external audiences and develop targeted messaging strategies for each 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audience mapping matrix covering 4 external segments with tailored messaging and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four primary external audience segments for the product.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Research the demographic and psychographic profile of each segment.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tailored key message for each segment, emphasising the relevant benefit.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the appropriate communication channel(s) for each audience.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audience mapping matrix with its messaging strategy.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comprehensive audience-analysis matrix with segment profiles and a customised communication plan per segment.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Draft branding designs and ideas highlighting the product or service's attributes and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Draft branding designs and ideas highlighting the product or service's attributes and benefits?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Strategy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unique selling proposition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recognisable design 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 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Translate features into benefits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 unified brand 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SmashBrand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Brand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Visual Impact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Soft Attributes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602121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2601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Hard Attributes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068080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8560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Clay Global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Design a brand identity for a new fitness app targeting busy professionals, mapping both hard attributes (features) and soft attributes (lifestyle benefits) into a compelling visual concept.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 attribute map (3 hard + 3 soft attributes), a mood board and a logo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3 hard attributes and 3 soft attributes for the fitness 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visual mood board that represents the brand personality.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logo concept that incorporates the key attributes.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a brand narrative that connects the features to the benefits.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brand attribute map alongside the visual concept, showing a clear line from each hard attribute to the soft benefit it supports.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Assess organisation's reputation on social media and other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Assess organisation's reputation on social media and other platforms?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mentions across digital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Sentiment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customer feedback patterns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Multi-Platform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Coverage of social and review sites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Response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Data-driven brand improvement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Distribution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Facebook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Other Platforms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117687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8167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has received mixed customer feedback across social platforms. Conduct a reputation assessment to identify improvement opportunities and develop an action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reputation-assessment report covering 3 platforms with sentiment breakdown and an action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three platforms (e.g. Google, Facebook, one competitor platform).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Document 10 recent mentions/reviews per platform.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Categorise each piece of feedback as positive, neutral or negative.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three recurring themes or issues across the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 targeted response strategy for each theme.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reputation-assessment report — platform-by-platform analysis, an overall sentiment breakdown, the three key themes, and a strategic recommendation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Stakeholders and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Identify internal and external stakeholders influencing the brand.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 Mapping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types of external audience and their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Attribute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Draft branding designs and ideas highlighting the product or service's attributes and benefits.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Assess the organisation's reputation on social media and other platforms.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Customer Influence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Customer Perceptions · Brand Reputation · Campaign Reception · Active Listening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Customer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5–6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Perception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Advocacy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7–8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Campaign Documentation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Customer Perspective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Perceptions of customers of the brand, products and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Perceptions of customers of the brand, products and services?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attitudes toward offerings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understanding of brand values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Perceived value of interactions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Perception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Difference between reality and belief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Perception Gap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Companies Believe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54.1%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Service Purchase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880715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21195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40.5%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Customers Agree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076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124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5.4%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 &amp; Zendesk,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recently received mixed customer reviews. Management believes service quality is excellent, but customer-satisfaction scores are declining. Conduct a perception audit to identify the gaps.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perception-gap analysis report comparing internal quality metrics with customer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Survey 20 recent customers about their service 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Compare internal quality metrics with the customer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top 3 perception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an action plan to address the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perception-gap analysis report with improvement recommendations for each of the top 3 gaps.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Importance of the customer in influencing the brand reputation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Importance of the customer in influencing the brand reputation?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Factor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Personal recommendations drive purchase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Viral Spread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Positive experiences multiply through networks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Online reviews equal family recommendations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Reputation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Customers actively shape the brand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WebFX, Digital Silk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Word-of-Mouth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WOM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Share Good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334277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4757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Purchase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5482451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2931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74%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 Trust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6075148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15628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Buyapowa, WebFX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recently received mixed reviews online. As brand manager, analyse customer feedback and develop an advocacy strategy to improve brand reputation through existing satisfied customers.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customer-advocacy strategy document with target impact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Review the provided customer feedback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satisfied customers for the advocacy programme.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an advocacy campaign that leverages their positive experiences.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strategy together with its expected impact metrics.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comprehensive advocacy strategy document with named target metrics and how they will be tracked.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Document customer reception to brand and outcome of branding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Document customer reception to brand and outcome of branding campaigns?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Feedback Collection — systematic recording of customer responses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Campaign Metrics — measuring effectiveness through customer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Analysis Systems — documentation frameworks for brand reception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 Tracking — recording measurable campaign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branding studies, 2024-2026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Builds confidence in the brand's promises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Loyalty 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Drives repeat engagement with the 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 Spending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Increases customer lifetime value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 Growth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Converts documented reception into business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Fit Small Business 2024, Wiser Review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launched a new product branding campaign three months ago. Management needs a documentation report on customer reception and campaign outcomes to inform future marketing investment.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structured campaign-reception report with metrics, analysis and optimisation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three key metrics from the campaign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customer feedback patterns and sentiment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documentation framework for ongoing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findings with actionable recommendations.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structured campaign-reception report, including the documentation framework that will be reused for the next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Perform active listening from customer to understand customer's perspective of the 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Perform active listening from customer to understand customer's perspective of the organisation?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Full Attention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Eliminate distractions during customer interactions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P's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Presence, Patience, and Paraphrasing approach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Understanding the feelings behind customer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Insight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Gather valuable customer perception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Active Listening in Customer Service,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Key Statistics on Customer Satisfaction and Active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Feel Understood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405291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5771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Want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57%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Loyalty 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171570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2050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Churn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715703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6183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CPD Online, Industry Research,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receive a complaint from a long-term customer expressing frustration about recent service changes. They say they feel 'unheard' and 'unimportant' to your organisation.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customer-perspective analysis report with actionable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the 3 P's framework — Presence, Patience, Paraphrasing — during the conversation.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emotions behind the customer's specific 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Paraphrase the customer's perspective back to them without judgement.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Document the insights for strategic decision-making.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completed customer-perspective analysis report — the trainer checks that the emotion behind the words (not just the words) is captured, and that the insight is actionable.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Customer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Perception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Assess customer perceptions of the brand, products and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Advocacy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importance of the customer in influencing brand reputation.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Document customer reception to the brand and the outcome of branding campaigns.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Perform active listening from the customer to understand the customer's perspective of the organisation.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Branding in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Branding Basics · Role in Marketing · Awareness Campaigns · PR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Branding in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9–10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Audit Workshop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Brand-Marketing Audit Exercise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11–12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Activation Planning Workshop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Campaign Budget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Basics in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Basics in branding?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Logo, colours, and typography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Values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Mission, vision, and core principles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communication style and tone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Guidelines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Standards manual for consistent 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Shopify,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618015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58495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Authenticity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10352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4400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Recommend Brands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Increase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288821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9301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WiserReview 2026, WebFX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consulting for a local restaurant with inconsistent branding across their website, social media, and physical location. The owner wants to understand how to create unified brand guidelines.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brand-guidelines document — visual standards, voice guidelines and an implementation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the current brand touchpoints and identify inconsistencies.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core brand values and a mission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visual identity specifications — logo and colours.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brand-voice guidelines for customer communication.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an implementation plan with specific application examples.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brand-guidelines document — visual standards, voice guidelines, and the implementation roadmap.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Role of branding in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Role of branding in marketing?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Creates unique recognition and values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Building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Establishes consumer confidence and loyalty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Differentiation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Separates from competitors effectively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Emotional Connection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Builds lasting customer relationships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What is Branding? Understanding Its Importance,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Consumer Trust and Loyalty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867704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08184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Loyalty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Spend More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10542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590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664232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4712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9.7%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WiserNotify 2026, Huddle Creative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a marketing manager evaluating how well your company's current marketing campaigns align with brand identity. Select a real company and analyse one of their recent marketing campaigns.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brand-audit report with a consistency assessment and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Choose a brand and identify its core identity elements.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one recent marketing campaign for brand consistency.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Evaluate the alignment between the brand messaging and the campaign goals.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gaps and propose improvements for better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brand-audit report with a consistency assessment score and concrete recommendations.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Execute branding campaigns, events and activities to increase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Execute branding campaigns, events and activities to increase brand awareness?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Multi-channel strategy development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Event Activation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Experiential marketing through interactive experiences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 Coordination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messaging across all platforms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Measurement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Brand recall and recognition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Social Media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127831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8311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Influencer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395284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764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684859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5339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23%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Event Marketing Institute,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wants to launch a new product line and needs to increase brand awareness by 40% within 6 months. Design a multi-channel campaign that includes both digital and experiential elements.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campaign-strategy document with timeline, budget allocation and success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target audience's demographics and psychographics.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 core brand message aligned with the audience's values.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3–4 marketing channels and design consistent visuals across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Plan one experiential event and its supporting digital content.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measurement framework using brand-recall metrics.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11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campaign-strategy document with timeline, budget allocation and success metrics — the trainer checks the digital and experiential elements are both present and consistent.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Execute public relations campaigns in alignment to brand positioning strategies, operational plans and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Execute public relations campaigns in alignment to brand positioning strategies, operational plans and budget?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Brand Positioning — the foundation for all PR messaging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Operational Plans — structured campaign implementation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 Management — resource allocation and cost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Strategic Alignment — an integrated approach to campaign success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PRLab 2026, Cision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Budget Discipline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Ten to twenty percent marketing allocation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Real-Time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 performance tracking and adjustment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brand positioning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Measurable Results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Clear success metrics and 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Cision 2024, PRLab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You're the marketing manager for a growth-stage tech company launching a new product. Create a PR campaign budget aligned with the brand positioning strategy.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 budget proposal with channel allocation and success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three core content pillars for the brand.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Allocate 15% of the marketing budget to PR activities.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Distribute the PR budget across earned, owned and paid channels.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key performance indicators for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12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PR budget proposal — channel allocation and the KPIs used to judge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Branding in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Audit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Explain the basics of branding.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Explain the role of branding in marketing.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Execute branding campaigns, events and activities to increase brand awareness.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Execute public-relations campaigns in alignment to brand positioning strategies, operational plans and budget.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Branding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Reputation Metrics · Success Indicators · PR Tactics · KPI Monitoring · Continuous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Branding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4365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13–14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Platform Reputation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Health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2648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2648" y="1783080"/>
            <a:ext cx="3343656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8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15–16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8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Crisis Response Plan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KPI Dashboard Design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8056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8056" y="1783080"/>
            <a:ext cx="33436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6656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Activities 17–17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6656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Campaign Audit Exercise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Measures or indicators of organisation's reputation on different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Measures or indicators of organisation's reputation on different platforms?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Social Media — followers, engagement, sentiment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Digital Metrics — website traffic, search rankings, mentions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KPIs — NPS scores, satisfaction, financial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Stakeholder Data — customer, employee, investor perceptions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Indicator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Social Media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327916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8396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Digital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327916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8396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needs to establish reputation monitoring for a new product launch across social media, review sites, and business platforms.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reputation-monitoring framework with defined metrics and tracking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Map the stakeholder groups and select 3 key platforms per group.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specific KPIs for the social, digital and business indicators.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up monitoring tools and establish baseline measurements.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weekly reporting dashboard showing sentiment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13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reputation-monitoring framework with its metrics and tracking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Indicators of successful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Indicators of successful branding?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 and recall measurement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 and repeat purchase rates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 growth and market share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Metrics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Consumer confidence and perception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Health Tracking Best Practices,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Brand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012586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53066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Pay Premium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Try New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229908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388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390546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1026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Zippia 2023, G2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a marketing manager evaluating your company's brand performance using both traditional and digital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brand-health scorecard with metric definitions, current performance and an improvement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 key metrics from the awareness, loyalty and performance categories.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measurement approach that combines survey and digital analytics.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monthly tracking dashboard with benchmarks.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findings with actionable recommendations.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14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brand-health scorecard — metric definitions, current performance and the improvement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Public relations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Public relations tactics?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journalist partnerships for visibility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Community Outreach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Engage local audiences and stakeholders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Crisis Management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reputation during challenges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Engagement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Social media and online interactions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Journalist Preferences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Press Releases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Research Reports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36500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548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High Pitch 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19669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717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 Research,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faces negative social-media coverage about product-quality issues. Design a comprehensive PR response strategy using the tactics learned.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crisis-communication plan with timelines and responsible parties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affected stakeholder groups and media outlets.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core messaging that addresses the concerns transparently.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media-outreach plan with personalised pitches.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the social-media response and community-engagement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Establish measurement metrics for reputation recovery.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15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crisis-communication plan with a timeline and the party responsible for each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Monitor the success of the brand against Key Performance Indicators (KPI)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Monitor the success of the brand against Key Performance Indicators (KPI)?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SMART KPIs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Specific, measurable, attainable, realistic, time-bound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Collection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Analytics tools and brand guidelines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Interpret trends and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Optimisation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Insights drive brand improvements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 KPIs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433060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3540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 KPIs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43306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7354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Leading Indicators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346448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6928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Lagging Indicators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60152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60%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 &amp; Improvado, 2024-2026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brand KPI monitoring framework for a retail company launching new product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 KPI framework with a tracking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 internal and 3 external KPIs.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measure, target, data source and frequency for each KPI.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monthly tracking dashboard.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16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KPI framework with its tracking schedule — 3 internal + 3 external KPIs, each with a measure, target, source and frequency.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Provide suggestions to improve public relations campaign effectiveness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Provide suggestions to improve public relations campaign effectiveness?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Gaps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weaknesses through data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Develop measurable objectives and tactics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strong journalist partnerships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compelling research-backed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AMEC Framework,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Performance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Message Success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Sentiment Improvement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58829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2877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Tier 1 Coverage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794145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4625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Agility PR &amp; Determ,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T5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organisation's recent product-launch campaign achieved 500K impressions but only 15% top-tier coverage and 45% message penetration. Stakeholders are questioning the campaign's business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improvement proposal with metrics, built using the AMEC measurement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the AMEC framework to identify the performance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three strategic recommendations using best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measurement plan with specific KPIs.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17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improvement proposal — the three recommendations must each map to a specific gap surfaced by the AMEC analysis.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Branding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Reputation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Identify measures or indicators of the organisation's reputation on different platforms.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Health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indicators of successful branding.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Crisis Response Plan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Apply public-relations tactics.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KPI Dashboard Design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Monitor the success of the brand against Key Performance Indicators (KPI).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Campaign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Provide suggestions to improve public-relations campaign effectiveness.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Stakeholders &amp; 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Mapped stakeholders and audiences; drafted brand designs and reputation assessments.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Customer Influence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Captured and documented customer perception through active listening.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in Marketing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Executed branding and PR campaigns aligned to strategy, plan and budget.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Measured reputation and PR performance against KPIs and proposed improvements.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(WA, SAQ) — 1 hour.  Case Study (CS) — 1 hour.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Remember to complete the TRAQOM survey and take the Assessment digital attendance (two separate steps).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the Case Study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SEE YOU AT THE NEXT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equipped to build customer-centric brand communication that earns trust and drives results.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