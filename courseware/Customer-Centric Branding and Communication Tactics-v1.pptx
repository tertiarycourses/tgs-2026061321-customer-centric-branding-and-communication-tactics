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Customer-Centric Branding and Communication Tactics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TGS-2026061321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  ·  20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[Trainer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customer-centric branding &amp; communication.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branding, marketing or communications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brand you personally admire — and why it works on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ACCREDITATION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Brand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ICT-SNM-3002-1.1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Proficiency Level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Level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4 Learning Units (LU1–LU4), each mapped to a Learning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Stakeholders and Organisation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Internal &amp; External Stakeholders · Audience Types · Brand Design · Reputation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Customer Influence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 Perceptions · Brand Reputation · Campaign Reception · Active Listening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Branding in Marketing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Branding Basics · Role in Marketing · Awareness Campaigns · PR Execution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LU4 — Branding Effectiveness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Reputation Metrics · Success Indicators · PR Tactics · KPI Monitoring · Continuous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Stakeholders, Customer Influence &amp; Branding in Marketing (starts)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Stakeholders and Organisation (Activities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LU2: Customer Influence (Activities 5–8)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Branding in Marketing — begins (Activities 9–12)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Branding in Marketing (cont'd), Branding Effectiveness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Branding in Marketing — continued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LU4: Branding Effectiveness (Activities 13–17)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Assessment: WA (1h) + Case Study (1h), 4:00–6:00pm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Day 1: 9:30am–6:30pm, 1-hour lunch. Day 2: 9:30am–6:00pm, 45-min lunch (to fit the assessment).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Stakeholders &amp; Organisation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Identify stakeholders/audiences and draft branding designs &amp; reputation assessments.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Customer Influence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Capture and analyse customer insight through active listening.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Branding in Marketing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Execute branding campaigns, events and PR activities that build awareness.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Branding Effectiveness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reputation and PR performance against KPIs and recommend improvements.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Case Study (CS) — one continuous branding scenario with open-ended tasks,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(per SSG Digital Attendance record) is required to be eligible for assessment and funding. Learners must be assessed as Competent and complete the TRAQOM survey.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Access your course materials, attendance and assessment on the LMS/TMS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https://lms-tms.tertiaryinfotech.com/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Stakeholders and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Internal &amp; External Stakeholders · Audience Types · Brand Design · Reputation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Stakeholders and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Internal stakeholders (management, employees) and external stakeholders (customers, partners, investors, media) each hold a different level of influence over — and interest in — the brand.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audiences segment into customers, partners, investors and media; each needs its own communication approach and message.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Branding designs and ideas should foreground the product or service's attributes and the concrete benefits they deliver to the audience.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Assessing an organisation's reputation on social media and other platforms — reviews, mentions, sentiment — is the starting point for every branding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Stakeholders and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Stakeholder Influence Mapping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Audience Mapping Workshop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Attribute Mapping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Digital Reputation Audit Exercise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company is launching a new sustainability initiative. Map internal and external stakeholders, assess their influence levels, and design engagement strategies for each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stakeholder influence matrix (12 stakeholders) with an engagement strategy for each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6 internal and 6 external stakeholders for the sustainability initiative.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Rate each stakeholder's influence on a 1–5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each stakeholder's primary brand concern.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Design a specific communication approach for each 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a completed stakeholder influence matrix with an engagement strategy for every stakeholder — the trainer checks that internal and external groups are both represented and that each strategy matches the stakeholder's stated concern.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Mapping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company is launching a new sustainability product line. Map external audiences and develop targeted messaging strategies for each segment.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audience mapping matrix covering 4 external segments with tailored messaging and channels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Mapping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four primary external audience segments for the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Mapping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Research the demographic and psychographic profile of each segment.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Mapping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tailored key message for each segment, emphasising the relevant benefit.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Mapping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Select the appropriate communication channel(s) for each audience.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Mapping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Present the audience mapping matrix with its messaging strategy.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Mapping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a comprehensive audience-analysis matrix with segment profiles and a customised communication plan per segment.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Attribute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Design a brand identity for a new fitness app targeting busy professionals, mapping both hard attributes (features) and soft attributes (lifestyle benefits) into a compelling visual concept.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brand attribute map (3 hard + 3 soft attributes), a mood board and a logo concept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30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Attribute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List 3 hard attributes and 3 soft attributes for the fitness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Attribute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visual mood board that represents the brand personality.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Attribute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Design a logo concept that incorporates the key attributes.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Attribute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Present a brand narrative that connects the features to the benefits.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Attribute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complete brand attribute map alongside the visual concept, showing a clear line from each hard attribute to the soft benefit it supports.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organisation has received mixed customer feedback across social platforms. Conduct a reputation assessment to identify improvement opportunities and develop an action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reputation-assessment report covering 3 platforms with sentiment breakdown and an action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45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Select three platforms (e.g. Google, Facebook, one competitor platform).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Document 10 recent mentions/reviews per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Categorise each piece of feedback as positive, neutral or negative.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three recurring themes or issues across the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Develop a targeted response strategy for each theme.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reputation-assessment report — platform-by-platform analysis, an overall sentiment breakdown, the three key themes, and a strategic recommendation for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Stakeholders and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internal and external stakeholders influencing the brand.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Audience Mapping Workshop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types of external audience and their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Attribute Mapping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Draft branding designs and ideas highlighting the product or service's attributes and benefits.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Assess the organisation's reputation on social media and other platforms.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Customer 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Customer Perceptions · Brand Reputation · Campaign Reception · Active Listening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Customer Influence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Customers form perceptions of a brand, its products and its services from quality, experience and communication — a gap often exists between what a company believes and what customers actually feel.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Customers actively shape brand reputation through word-of-mouth, reviews and advocacy — their voice can amplify or damage a brand faster than any paid campaign.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Documenting customer reception and the outcome of branding campaigns turns anecdotal feedback into evidence for future campaign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Active listening — full attention, a structured framework, and paraphrasing without judgement — reveals the customer's true perspective of the organisation.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Customer Influence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Perception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Advocacy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Campaign Documentation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Customer Perspective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Perception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company recently received mixed customer reviews. Management believes service quality is excellent, but customer-satisfaction scores are declining. Conduct a perception audit to identify the gaps.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perception-gap analysis report comparing internal quality metrics with customer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Perception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Survey 20 recent customers about their service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Perception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Compare internal quality metrics with the customer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Perception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top 3 perception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Perception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Develop an action plan to address the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Perception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perception-gap analysis report with improvement recommendations for each of the top 3 gaps.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Advocacy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company recently received mixed reviews online. As brand manager, analyse customer feedback and develop an advocacy strategy to improve brand reputation through existing satisfied customers.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customer-advocacy strategy document with target impact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Advocacy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Review the provided customer feedback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Advocacy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satisfied customers for the advocacy programme.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Advocacy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Design an advocacy campaign that leverages their positive experiences.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Advocacy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Present the strategy together with its expected impact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Advocacy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a comprehensive advocacy strategy document with named target metrics and how they will be tracked.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company launched a new product branding campaign three months ago. Management needs a documentation report on customer reception and campaign outcomes to inform future marketing investment.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structured campaign-reception report with metrics, analysis and optimisation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three key metrics from the campaign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Analyse customer feedback patterns and sentiment trends.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documentation framework for ongoing measurement.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Present the findings with actionable recommendations.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structured campaign-reception report, including the documentation framework that will be reused for the next campaign.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 receive a complaint from a long-term customer expressing frustration about recent service changes. They say they feel 'unheard' and 'unimportant' to your organisation.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customer-perspective analysis report with actionable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the 3 P's framework — Presence, Patience, Paraphrasing — during the conversation.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emotions behind the customer's specific words.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Paraphrase the customer's perspective back to them without judgement.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Document the insights for strategic decision-making.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completed customer-perspective analysis report — the trainer checks that the emotion behind the words (not just the words) is captured, and that the insight is actionable.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Customer Influence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Perception 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Assess customer perceptions of the brand, products and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Advocacy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importance of the customer in influencing brand reputation.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Document customer reception to the brand and the outcome of branding campaigns.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Perform active listening from the customer to understand the customer's perspective of the organisation.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Branding in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Branding Basics · Role in Marketing · Awareness Campaigns · PR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Branding in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Branding basics — visual identity, brand values, brand voice and brand guidelines — give a business a consistent, recognisable presence.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Branding plays a central role in marketing: it builds trust, differentiates from competitors and creates the emotional connection that drives loyalty.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Executing branding campaigns, events and activities — from social pushes to experiential pop-ups — raises brand awareness across the target audience.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Public-relations campaigns must align to the brand positioning strategy, the operational plan and the marketing budget to stay credible and sustainable.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Branding in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Audit Workshop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Brand-Marketing Audit Exercise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11–12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Activation Planning Workshop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 Campaign Budget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Audit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 are consulting for a local restaurant with inconsistent branding across their website, social media, and physical location. The owner wants to understand how to create unified brand guidelines.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brand-guidelines document — visual standards, voice guidelines and an implementation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30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Audit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Analyse the current brand touchpoints and identify inconsistencies.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Audit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the core brand values and a mission statement.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Audit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visual identity specifications — logo and colours.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Audit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Develop brand-voice guidelines for customer communication.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Audit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Design an implementation plan with specific application examples.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9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Audit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comprehensive brand-guidelines document — visual standards, voice guidelines, and the implementation roadmap.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 are a marketing manager evaluating how well your company's current marketing campaigns align with brand identity. Select a real company and analyse one of their recent marketing campaigns.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brand-audit report with a consistency assessment and recommendations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Choose a brand and identify its core identity elements.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Analyse one recent marketing campaign for brand consistency.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Evaluate the alignment between the brand messaging and the campaign goals.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gaps and propose improvements for better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brand-audit report with a consistency assessment score and concrete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organisation wants to launch a new product line and needs to increase brand awareness by 40% within 6 months. Design a multi-channel campaign that includes both digital and experiential elements.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campaign-strategy document with timeline, budget allocation and success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30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the target audience's demographics and psychographics.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Develop a core brand message aligned with the audience's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Select 3–4 marketing channels and design consistent visuals across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Plan one experiential event and its supporting digital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measurement framework using brand-recall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11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complete campaign-strategy document with timeline, budget allocation and success metrics — the trainer checks the digital and experiential elements are both present and consistent.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You're the marketing manager for a growth-stage tech company launching a new product. Create a PR campaign budget aligned with the brand positioning strategy.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 budget proposal with channel allocation and success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three core content pillars for the brand.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Allocate 15% of the marketing budget to PR activities.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Distribute the PR budget across earned, owned and paid channels.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key performance indicators for measurement.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12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complete PR budget proposal — channel allocation and the KPIs used to judge success.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Branding in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Audit Workshop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the basics of branding.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the role of branding in marketing.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Execute branding campaigns, events and activities to increase brand awareness.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Execute public-relations campaigns in alignment to brand positioning strategies, operational plans and budget.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Branding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Reputation Metrics · Success Indicators · PR Tactics · KPI Monitoring · Continuous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Branding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Reputation is measured through social metrics, digital metrics (traffic, mentions) and business KPIs (NPS, satisfaction) across every platform the organisation touches.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Successful branding shows up in awareness, customer loyalty, financial impact and trust metrics — tracked consistently over time, not measured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Public-relations tactics — media relations, community outreach, crisis management and digital engagement — extend the brand's message beyond paid channels.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Monitoring the brand against SMART KPIs and acting on the gaps turns brand management into a continuous-improvement cycle rather than a one-off campaign.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Branding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Platform Reputation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Health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15–16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 Crisis Response Plan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KPI Dashboard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17–17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 Campaign Audit Exercise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Reputation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organisation needs to establish reputation monitoring for a new product launch across social media, review sites, and business platforms.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reputation-monitoring framework with defined metrics and tracking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Reputation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Map the stakeholder groups and select 3 key platforms per 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Reputation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specific KPIs for the social, digital and business indicators.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Reputation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Set up monitoring tools and establish baseline measurements.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Reputation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weekly reporting dashboard showing sentiment trends.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13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Reputation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comprehensive reputation-monitoring framework with its metrics and tracking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Health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 are a marketing manager evaluating your company's brand performance using both traditional and digital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brand-health scorecard with metric definitions, current performance and an improvement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Health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Select 3 key metrics from the awareness, loyalty and performance categories.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Health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Design a measurement approach that combines survey and digital analytics.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Health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monthly tracking dashboard with benchmarks.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Health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Present the findings with actionable recommendations.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14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Health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brand-health scorecard — metric definitions, current performance and the improvement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Crisis Response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company faces negative social-media coverage about product-quality issues. Design a comprehensive PR response strategy using the tactics learned.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crisis-communication plan with timelines and responsible parties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Crisis Response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Identify the affected stakeholder groups and media outlets.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Crisis Response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Develop core messaging that addresses the concerns transparently.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Crisis Response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media-outreach plan with personalised pitches.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Crisis Response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Design the social-media response and community-engagement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Crisis Response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Establish measurement metrics for reputation recovery.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15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Crisis Response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complete crisis-communication plan with a timeline and the party responsible for each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 Dashboard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a brand KPI monitoring framework for a retail company launching new product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 KPI framework with a tracking 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 Dashboard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Select 3 internal and 3 external KPIs.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 Dashboard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Define the measure, target, data source and frequency for each KPI.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 Dashboard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Design a monthly tracking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16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 Dashboard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complete KPI framework with its tracking schedule — 3 internal + 3 external KPIs, each with a measure, target, source and frequency.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ACTIVITY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Your organisation's recent product-launch campaign achieved 500K impressions but only 15% top-tier coverage and 45% message penetration. Stakeholders are questioning the campaign's business impact.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improvement proposal with metrics, built using the AMEC measurement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Duration:  </a:t>
            </a:r>
            <a:r>
              <a:rPr sz="1300" b="0">
                <a:solidFill>
                  <a:srgbClr val="5B6372"/>
                </a:solidFill>
                <a:latin typeface="Arial"/>
              </a:rPr>
              <a:t>25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Apply the AMEC framework to identify the performance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Develop three strategic recommendations using best practice.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Create a measurement plan with specific KPIs.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17 ·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Debrief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Present the comprehensive improvement proposal — the three recommendations must each map to a specific gap surfaced by the AMEC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Branding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Platform Reputation 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measures or indicators of the organisation's reputation on different platforms.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Health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indicators of successful branding.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 Crisis Response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public-relations tactics.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KPI Dashboard 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Monitor the success of the brand against Key Performance Indicators (KPI).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 Campaign Audit Exercise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Provide suggestions to improve public-relations campaign effectiveness.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Stakeholders &amp; Organisation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Mapped stakeholders and audiences; drafted brand designs and reputation assessments.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Customer Influence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Captured and documented customer perception through active listening.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Branding in Marketing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Executed branding and PR campaigns aligned to strategy, plan and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Branding Effectiveness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Measured reputation and PR performance against KPIs and proposed improvements.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(WA, SAQ) — 1 hour.  Case Study (CS)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complete the TRAQOM survey and take the Assessment digital attendance (two separate steps).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equipped to build customer-centric brand communication that earns trust and drives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